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378" r:id="rId6"/>
    <p:sldId id="377" r:id="rId7"/>
    <p:sldId id="424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F2930-ACA5-7873-E391-C6FE084F7650}" v="212" dt="2025-05-12T20:13:24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Shikha Shethia" userId="S::shikha.shethia@futureskills.co.nz::18e3e2a2-0349-4937-a54d-b40040399c9e" providerId="AD" clId="Web-{E8FF2930-ACA5-7873-E391-C6FE084F7650}"/>
    <pc:docChg chg="addSld modSld">
      <pc:chgData name="Shikha Shethia" userId="S::shikha.shethia@futureskills.co.nz::18e3e2a2-0349-4937-a54d-b40040399c9e" providerId="AD" clId="Web-{E8FF2930-ACA5-7873-E391-C6FE084F7650}" dt="2025-05-12T20:13:23.309" v="111" actId="20577"/>
      <pc:docMkLst>
        <pc:docMk/>
      </pc:docMkLst>
      <pc:sldChg chg="modSp">
        <pc:chgData name="Shikha Shethia" userId="S::shikha.shethia@futureskills.co.nz::18e3e2a2-0349-4937-a54d-b40040399c9e" providerId="AD" clId="Web-{E8FF2930-ACA5-7873-E391-C6FE084F7650}" dt="2025-05-12T20:00:18.948" v="66" actId="20577"/>
        <pc:sldMkLst>
          <pc:docMk/>
          <pc:sldMk cId="1163813000" sldId="377"/>
        </pc:sldMkLst>
        <pc:spChg chg="mod">
          <ac:chgData name="Shikha Shethia" userId="S::shikha.shethia@futureskills.co.nz::18e3e2a2-0349-4937-a54d-b40040399c9e" providerId="AD" clId="Web-{E8FF2930-ACA5-7873-E391-C6FE084F7650}" dt="2025-05-12T20:00:18.948" v="66" actId="20577"/>
          <ac:spMkLst>
            <pc:docMk/>
            <pc:sldMk cId="1163813000" sldId="377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E8FF2930-ACA5-7873-E391-C6FE084F7650}" dt="2025-05-12T20:09:53.383" v="104" actId="20577"/>
        <pc:sldMkLst>
          <pc:docMk/>
          <pc:sldMk cId="1163813000" sldId="416"/>
        </pc:sldMkLst>
        <pc:spChg chg="mod">
          <ac:chgData name="Shikha Shethia" userId="S::shikha.shethia@futureskills.co.nz::18e3e2a2-0349-4937-a54d-b40040399c9e" providerId="AD" clId="Web-{E8FF2930-ACA5-7873-E391-C6FE084F7650}" dt="2025-05-12T20:09:53.383" v="104" actId="20577"/>
          <ac:spMkLst>
            <pc:docMk/>
            <pc:sldMk cId="1163813000" sldId="416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E8FF2930-ACA5-7873-E391-C6FE084F7650}" dt="2025-05-12T20:10:13.399" v="106" actId="20577"/>
        <pc:sldMkLst>
          <pc:docMk/>
          <pc:sldMk cId="1163813000" sldId="417"/>
        </pc:sldMkLst>
        <pc:spChg chg="mod">
          <ac:chgData name="Shikha Shethia" userId="S::shikha.shethia@futureskills.co.nz::18e3e2a2-0349-4937-a54d-b40040399c9e" providerId="AD" clId="Web-{E8FF2930-ACA5-7873-E391-C6FE084F7650}" dt="2025-05-12T20:10:13.399" v="106" actId="20577"/>
          <ac:spMkLst>
            <pc:docMk/>
            <pc:sldMk cId="1163813000" sldId="417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E8FF2930-ACA5-7873-E391-C6FE084F7650}" dt="2025-05-12T20:12:18.636" v="109" actId="20577"/>
        <pc:sldMkLst>
          <pc:docMk/>
          <pc:sldMk cId="1163813000" sldId="418"/>
        </pc:sldMkLst>
        <pc:spChg chg="mod">
          <ac:chgData name="Shikha Shethia" userId="S::shikha.shethia@futureskills.co.nz::18e3e2a2-0349-4937-a54d-b40040399c9e" providerId="AD" clId="Web-{E8FF2930-ACA5-7873-E391-C6FE084F7650}" dt="2025-05-12T20:12:18.636" v="109" actId="20577"/>
          <ac:spMkLst>
            <pc:docMk/>
            <pc:sldMk cId="1163813000" sldId="418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E8FF2930-ACA5-7873-E391-C6FE084F7650}" dt="2025-05-12T20:13:23.309" v="111" actId="20577"/>
        <pc:sldMkLst>
          <pc:docMk/>
          <pc:sldMk cId="1163813000" sldId="419"/>
        </pc:sldMkLst>
        <pc:spChg chg="mod">
          <ac:chgData name="Shikha Shethia" userId="S::shikha.shethia@futureskills.co.nz::18e3e2a2-0349-4937-a54d-b40040399c9e" providerId="AD" clId="Web-{E8FF2930-ACA5-7873-E391-C6FE084F7650}" dt="2025-05-12T20:13:23.309" v="111" actId="20577"/>
          <ac:spMkLst>
            <pc:docMk/>
            <pc:sldMk cId="1163813000" sldId="419"/>
            <ac:spMk id="6" creationId="{5B69BE9B-D2F4-A99A-BA1D-6589B4F26E88}"/>
          </ac:spMkLst>
        </pc:spChg>
      </pc:sldChg>
      <pc:sldChg chg="modSp add replId">
        <pc:chgData name="Shikha Shethia" userId="S::shikha.shethia@futureskills.co.nz::18e3e2a2-0349-4937-a54d-b40040399c9e" providerId="AD" clId="Web-{E8FF2930-ACA5-7873-E391-C6FE084F7650}" dt="2025-05-12T20:04:03.234" v="70" actId="20577"/>
        <pc:sldMkLst>
          <pc:docMk/>
          <pc:sldMk cId="3337042389" sldId="424"/>
        </pc:sldMkLst>
        <pc:spChg chg="mod">
          <ac:chgData name="Shikha Shethia" userId="S::shikha.shethia@futureskills.co.nz::18e3e2a2-0349-4937-a54d-b40040399c9e" providerId="AD" clId="Web-{E8FF2930-ACA5-7873-E391-C6FE084F7650}" dt="2025-05-12T20:04:03.234" v="70" actId="20577"/>
          <ac:spMkLst>
            <pc:docMk/>
            <pc:sldMk cId="3337042389" sldId="424"/>
            <ac:spMk id="6" creationId="{78D04BD5-99E9-D8BF-30C3-3A4CF4030C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6B9D-DF1E-B4F1-803A-52B586E1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D035060-1D5F-1FE7-1474-49742F6FE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1971B51-2A66-BD1C-D612-7BB9EDB0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BCD3A2A-4528-F7F1-F5C7-87EF3561CA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7537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12/05/2025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1): Business analysis knowledge areas (part 1)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NZ" sz="2800" baseline="30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NZ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three business analysis knowledge areas</a:t>
            </a:r>
          </a:p>
          <a:p>
            <a:pPr lvl="1"/>
            <a:r>
              <a:rPr lang="en-NZ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Assessment feedback </a:t>
            </a:r>
          </a:p>
          <a:p>
            <a:pPr lvl="1">
              <a:buNone/>
            </a:pPr>
            <a:endParaRPr lang="en-NZ" dirty="0"/>
          </a:p>
          <a:p>
            <a:pPr lvl="1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213388" y="1481287"/>
            <a:ext cx="9956339" cy="34515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ea typeface="ヒラギノ角ゴ Pro W3"/>
                <a:cs typeface="Arial"/>
              </a:rPr>
              <a:t>Foundation for every business analysis task.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ea typeface="ヒラギノ角ゴ Pro W3"/>
                <a:cs typeface="Arial"/>
              </a:rPr>
              <a:t>There are 6 knowledge areas. Every area has a different purpose and different set of skills. </a:t>
            </a:r>
          </a:p>
          <a:p>
            <a:endParaRPr lang="en-US" b="1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Roboto"/>
                <a:ea typeface="Roboto"/>
                <a:cs typeface="Roboto"/>
              </a:rPr>
              <a:t>Business Analysis Planning and Monitoring</a:t>
            </a:r>
            <a:endParaRPr 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Roboto"/>
                <a:ea typeface="Roboto"/>
                <a:cs typeface="Roboto"/>
              </a:rPr>
              <a:t>Elicitation and Collaboration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latin typeface="Roboto"/>
                <a:ea typeface="Roboto"/>
                <a:cs typeface="Roboto"/>
              </a:rPr>
              <a:t>Requirements Life Cycle Management</a:t>
            </a:r>
            <a:endParaRPr lang="en-US" sz="1600" dirty="0"/>
          </a:p>
          <a:p>
            <a:pPr marL="342900" indent="-342900">
              <a:buFont typeface="Arial"/>
              <a:buChar char="•"/>
            </a:pPr>
            <a:endParaRPr lang="en-US" b="1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3F6B-13A5-3D9D-9E9E-71005CC6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783F6954-3E1A-FDCE-48DD-A5807945B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04BD5-99E9-D8BF-30C3-3A4CF4030C64}"/>
              </a:ext>
            </a:extLst>
          </p:cNvPr>
          <p:cNvSpPr txBox="1"/>
          <p:nvPr/>
        </p:nvSpPr>
        <p:spPr>
          <a:xfrm>
            <a:off x="1130761" y="1178323"/>
            <a:ext cx="9956339" cy="57015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 dirty="0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Planning and Monitoring</a:t>
            </a:r>
          </a:p>
          <a:p>
            <a:pPr marL="342900" indent="-342900"/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define how business analysis will be performed , which includes identifying stakeholders, selecting techniques, and planning deliverables.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/>
                <a:cs typeface="Arial"/>
              </a:rPr>
              <a:t>Plan Business Analysis Approach: </a:t>
            </a:r>
            <a:r>
              <a:rPr lang="en-US" dirty="0">
                <a:latin typeface="Arial"/>
                <a:cs typeface="Arial"/>
              </a:rPr>
              <a:t>Decide on the methodology (Agile, Waterfall), and tools to be used.</a:t>
            </a:r>
          </a:p>
          <a:p>
            <a:r>
              <a:rPr lang="en-US" b="1" dirty="0">
                <a:latin typeface="Arial"/>
                <a:cs typeface="Arial"/>
              </a:rPr>
              <a:t>Example</a:t>
            </a:r>
            <a:r>
              <a:rPr lang="en-US" dirty="0">
                <a:latin typeface="Arial"/>
                <a:cs typeface="Arial"/>
              </a:rPr>
              <a:t>: A BA selects Agile for faster iteration and user feedback loops for a mobile app launch.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Plan Stakeholder Engagement: </a:t>
            </a:r>
            <a:r>
              <a:rPr lang="en-US" dirty="0">
                <a:latin typeface="Arial" pitchFamily="34" charset="0"/>
                <a:cs typeface="Arial" pitchFamily="34" charset="0"/>
              </a:rPr>
              <a:t>Identify all stakeholders, their level of influence, interest, and preferred communication style.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In a healthcare project, the BA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categorises</a:t>
            </a:r>
            <a:r>
              <a:rPr lang="en-US" dirty="0">
                <a:latin typeface="Arial" pitchFamily="34" charset="0"/>
                <a:cs typeface="Arial" pitchFamily="34" charset="0"/>
              </a:rPr>
              <a:t> doctors as high influence stakeholders needing regular face-to-face updates.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0423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2215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 dirty="0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Planning and Monitoring</a:t>
            </a:r>
          </a:p>
          <a:p>
            <a:pPr marL="342900" indent="-342900"/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define how business analysis will be performed , which includes identifying stakeholders, selecting techniques, and planning deliverables.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Plan Business Analysis Governance: </a:t>
            </a:r>
            <a:r>
              <a:rPr lang="en-US" dirty="0">
                <a:latin typeface="Arial" pitchFamily="34" charset="0"/>
                <a:cs typeface="Arial" pitchFamily="34" charset="0"/>
              </a:rPr>
              <a:t>Define how decisions will be made, who approves requirements, and how changes are handled.</a:t>
            </a:r>
          </a:p>
          <a:p>
            <a:r>
              <a:rPr lang="en-US" b="1" dirty="0">
                <a:latin typeface="Arial"/>
                <a:cs typeface="Arial"/>
              </a:rPr>
              <a:t>Example</a:t>
            </a:r>
            <a:r>
              <a:rPr lang="en-US" dirty="0">
                <a:latin typeface="Arial"/>
                <a:cs typeface="Arial"/>
              </a:rPr>
              <a:t>: For a strategic project, a BA outlines a plan where change requests must go through the CEO.</a:t>
            </a: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/>
                <a:cs typeface="Arial"/>
              </a:rPr>
              <a:t>Plan Business Analysis Information Management: </a:t>
            </a:r>
            <a:r>
              <a:rPr lang="en-US" dirty="0">
                <a:latin typeface="Arial"/>
                <a:cs typeface="Arial"/>
              </a:rPr>
              <a:t>Choose where requirements will be stored, how they'll be versioned, and who can access them.</a:t>
            </a:r>
          </a:p>
          <a:p>
            <a:r>
              <a:rPr lang="en-US" b="1" dirty="0">
                <a:latin typeface="Arial"/>
                <a:cs typeface="Arial"/>
              </a:rPr>
              <a:t>Example</a:t>
            </a:r>
            <a:r>
              <a:rPr lang="en-US" dirty="0">
                <a:latin typeface="Arial"/>
                <a:cs typeface="Arial"/>
              </a:rPr>
              <a:t>: A BA uses Confluence and Jira to manage documentation for a banking application, with read-only access for external users.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8095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 dirty="0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Planning and Monitoring</a:t>
            </a:r>
          </a:p>
          <a:p>
            <a:pPr marL="342900" indent="-342900"/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define how business analysis will be performed , which includes identifying stakeholders, selecting techniques, and planning deliverables.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/>
                <a:cs typeface="Arial"/>
              </a:rPr>
              <a:t>Identify Business Analysis Performance Improvements: </a:t>
            </a:r>
            <a:r>
              <a:rPr lang="en-US" dirty="0">
                <a:latin typeface="Arial"/>
                <a:cs typeface="Arial"/>
              </a:rPr>
              <a:t>Track the effectiveness of BA tasks and refine techniques or tools as needed.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After low stakeholder engagement in a prior project, a BA switches from emails to interactive workshops.</a:t>
            </a: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Common Techniques: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RACI Matrix (clarify roles and responsibilities)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Stakeholder Analysis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Business Case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Estimation techniques (e.g., effort/time planning)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Risk Analysis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255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2. Elicitation and Collaboration</a:t>
            </a: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collect information from stakeholders and ensure shared understanding of business needs and potential solutions.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Prepare for Elicitation: </a:t>
            </a:r>
            <a:r>
              <a:rPr lang="en-US" dirty="0">
                <a:latin typeface="Arial" pitchFamily="34" charset="0"/>
                <a:cs typeface="Arial" pitchFamily="34" charset="0"/>
              </a:rPr>
              <a:t>Schedule sessions, define questions, prepare stakeholders.</a:t>
            </a:r>
          </a:p>
          <a:p>
            <a:r>
              <a:rPr lang="en-US" b="1" dirty="0">
                <a:latin typeface="Arial"/>
                <a:cs typeface="Arial"/>
              </a:rPr>
              <a:t>Example</a:t>
            </a:r>
            <a:r>
              <a:rPr lang="en-US" dirty="0">
                <a:latin typeface="Arial"/>
                <a:cs typeface="Arial"/>
              </a:rPr>
              <a:t>: A BA prepares interview scripts and mockup visuals to facilitate better stakeholder feedback.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Conduct Elicitation: </a:t>
            </a:r>
            <a:r>
              <a:rPr lang="en-US" dirty="0">
                <a:latin typeface="Arial" pitchFamily="34" charset="0"/>
                <a:cs typeface="Arial" pitchFamily="34" charset="0"/>
              </a:rPr>
              <a:t>Use techniques like interviews, workshops, and observation to gather information.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In a logistics company, a BA shadows warehouse staff to understand pain points in barcode scanning.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255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2. Elicitation and Collaboration</a:t>
            </a: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collect information from stakeholders and ensure shared understanding of business needs and potential solutions.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Confirm Elicitation Results: </a:t>
            </a:r>
            <a:r>
              <a:rPr lang="en-US" dirty="0">
                <a:latin typeface="Arial" pitchFamily="34" charset="0"/>
                <a:cs typeface="Arial" pitchFamily="34" charset="0"/>
              </a:rPr>
              <a:t>Validate information captured by reviewing it with stakeholders.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emails meeting summaries to participants and confirms that key pain points were accurately captured.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Communicate Business Analysis Information: </a:t>
            </a:r>
            <a:r>
              <a:rPr lang="en-US" dirty="0">
                <a:latin typeface="Arial" pitchFamily="34" charset="0"/>
                <a:cs typeface="Arial" pitchFamily="34" charset="0"/>
              </a:rPr>
              <a:t>Share findings through appropriate formats (dashboards, reports, presentations).</a:t>
            </a:r>
          </a:p>
          <a:p>
            <a:r>
              <a:rPr lang="en-US" b="1" dirty="0">
                <a:latin typeface="Arial"/>
                <a:cs typeface="Arial"/>
              </a:rPr>
              <a:t>Example</a:t>
            </a:r>
            <a:r>
              <a:rPr lang="en-US" dirty="0">
                <a:latin typeface="Arial"/>
                <a:cs typeface="Arial"/>
              </a:rPr>
              <a:t>: A BA in a hospital creates a simple visual dashboard to show workflow gaps in patient admissions process.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80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2. Elicitation and Collaboration</a:t>
            </a: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collect information from stakeholders and ensure shared understanding of business needs and potential solutions.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Manage Stakeholder Collaboration: </a:t>
            </a:r>
            <a:r>
              <a:rPr lang="en-US" dirty="0">
                <a:latin typeface="Arial" pitchFamily="34" charset="0"/>
                <a:cs typeface="Arial" pitchFamily="34" charset="0"/>
              </a:rPr>
              <a:t>Keep stakeholders engaged, resolve conflicts, and facilitate agreement.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resolves a clash between finance and marketing by facilitating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prioritisation</a:t>
            </a:r>
            <a:r>
              <a:rPr lang="en-US" dirty="0">
                <a:latin typeface="Arial" pitchFamily="34" charset="0"/>
                <a:cs typeface="Arial" pitchFamily="34" charset="0"/>
              </a:rPr>
              <a:t> workshop.</a:t>
            </a: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Common Techniques: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Interviews, Workshops, Focus Groups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Observation (job shadowing)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Brainstorming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Mind Mapping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Concept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Modelling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25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3.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Requirements Life Cycle Management</a:t>
            </a:r>
            <a:endParaRPr lang="en-US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manage requirements from identification through to implementation and maintenance.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Trace Requirements: </a:t>
            </a:r>
            <a:r>
              <a:rPr lang="en-US" dirty="0">
                <a:latin typeface="Arial" pitchFamily="34" charset="0"/>
                <a:cs typeface="Arial" pitchFamily="34" charset="0"/>
              </a:rPr>
              <a:t>Link requirements to business objectives and downstream deliverables.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uses a traceability matrix to link compliance requirements to specific system features in a banking app.</a:t>
            </a:r>
          </a:p>
          <a:p>
            <a:endParaRPr lang="en-NZ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Maintain Requirements: </a:t>
            </a:r>
            <a:r>
              <a:rPr lang="en-US" dirty="0">
                <a:latin typeface="Arial" pitchFamily="34" charset="0"/>
                <a:cs typeface="Arial" pitchFamily="34" charset="0"/>
              </a:rPr>
              <a:t>Keep requirements updated and accessible throughout the project lifecycle.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maintains requirements in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Jira</a:t>
            </a:r>
            <a:r>
              <a:rPr lang="en-US" dirty="0">
                <a:latin typeface="Arial" pitchFamily="34" charset="0"/>
                <a:cs typeface="Arial" pitchFamily="34" charset="0"/>
              </a:rPr>
              <a:t> and ensures updates are reflected in documentation after sprint retrospectives.</a:t>
            </a:r>
          </a:p>
          <a:p>
            <a:endParaRPr lang="en-US" dirty="0"/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570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3.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Requirements Life Cycle Management</a:t>
            </a:r>
            <a:endParaRPr lang="en-US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manage requirements from identification through to implementation and maintenance.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 err="1">
                <a:latin typeface="Arial" pitchFamily="34" charset="0"/>
                <a:cs typeface="Arial" pitchFamily="34" charset="0"/>
              </a:rPr>
              <a:t>Prioritise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Requirements: </a:t>
            </a:r>
            <a:r>
              <a:rPr lang="en-US" dirty="0">
                <a:latin typeface="Arial" pitchFamily="34" charset="0"/>
                <a:cs typeface="Arial" pitchFamily="34" charset="0"/>
              </a:rPr>
              <a:t>Rank requirements by business value, urgency, or feasibility.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Using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MoSCoW</a:t>
            </a:r>
            <a:r>
              <a:rPr lang="en-US" dirty="0">
                <a:latin typeface="Arial" pitchFamily="34" charset="0"/>
                <a:cs typeface="Arial" pitchFamily="34" charset="0"/>
              </a:rPr>
              <a:t>, a BA helps product owners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prioritise</a:t>
            </a:r>
            <a:r>
              <a:rPr lang="en-US" dirty="0">
                <a:latin typeface="Arial" pitchFamily="34" charset="0"/>
                <a:cs typeface="Arial" pitchFamily="34" charset="0"/>
              </a:rPr>
              <a:t> “must have” features for a product launch.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Assess Requirements Changes: </a:t>
            </a:r>
            <a:r>
              <a:rPr lang="en-US" dirty="0">
                <a:latin typeface="Arial" pitchFamily="34" charset="0"/>
                <a:cs typeface="Arial" pitchFamily="34" charset="0"/>
              </a:rPr>
              <a:t>Evaluate the impact of changes on time, cost, and scope.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reviews the cost and delay impact of adding a new feature mid-project.</a:t>
            </a:r>
          </a:p>
          <a:p>
            <a:endParaRPr lang="en-US" dirty="0"/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53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altLang="zh-CN" b="1" dirty="0">
                <a:latin typeface="Arial" pitchFamily="34" charset="0"/>
                <a:ea typeface="ヒラギノ角ゴ Pro W3" panose="020B0300000000000000" pitchFamily="34" charset="-128"/>
                <a:cs typeface="Arial" pitchFamily="34" charset="0"/>
              </a:rPr>
              <a:t>3.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Requirements Life Cycle Management</a:t>
            </a:r>
            <a:endParaRPr lang="en-US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 b="1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 dirty="0">
                <a:latin typeface="Arial" pitchFamily="34" charset="0"/>
                <a:cs typeface="Arial" pitchFamily="34" charset="0"/>
              </a:rPr>
              <a:t>Purpose</a:t>
            </a:r>
            <a:r>
              <a:rPr lang="en-US" dirty="0">
                <a:latin typeface="Arial" pitchFamily="34" charset="0"/>
                <a:cs typeface="Arial" pitchFamily="34" charset="0"/>
              </a:rPr>
              <a:t>: To manage requirements from identification through to implementation and maintenance.</a:t>
            </a:r>
          </a:p>
          <a:p>
            <a:pPr marL="342900" indent="-342900"/>
            <a:endParaRPr lang="en-NZ" altLang="zh-CN" dirty="0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 dirty="0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Approve Requirements: </a:t>
            </a:r>
            <a:r>
              <a:rPr lang="en-US" dirty="0">
                <a:latin typeface="Arial" pitchFamily="34" charset="0"/>
                <a:cs typeface="Arial" pitchFamily="34" charset="0"/>
              </a:rPr>
              <a:t>Obtain formal agreement from stakeholders.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dirty="0">
                <a:latin typeface="Arial" pitchFamily="34" charset="0"/>
                <a:cs typeface="Arial" pitchFamily="34" charset="0"/>
              </a:rPr>
              <a:t>: A BA ensures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finalised</a:t>
            </a:r>
            <a:r>
              <a:rPr lang="en-US" dirty="0">
                <a:latin typeface="Arial" pitchFamily="34" charset="0"/>
                <a:cs typeface="Arial" pitchFamily="34" charset="0"/>
              </a:rPr>
              <a:t> specs are signed off by the client before development begins.</a:t>
            </a:r>
          </a:p>
          <a:p>
            <a:endParaRPr lang="en-NZ" dirty="0"/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Common Techniques: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Traceability Matrix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Requirements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Modelling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MoSCoW</a:t>
            </a:r>
            <a:r>
              <a:rPr lang="en-US" dirty="0">
                <a:latin typeface="Arial" pitchFamily="34" charset="0"/>
                <a:cs typeface="Arial" pitchFamily="34" charset="0"/>
              </a:rPr>
              <a:t> (Must, Should, Could, Won’t)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Impact Analysis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Change Control Process</a:t>
            </a:r>
          </a:p>
          <a:p>
            <a:endParaRPr lang="en-US" dirty="0"/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.</a:t>
            </a:r>
          </a:p>
          <a:p>
            <a:pPr marL="342900" indent="-342900"/>
            <a:endParaRPr lang="en-US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 dirty="0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3BB1B4-259C-4A9E-A92B-7E2D0816476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1442069-6B4B-4A5E-8E6C-A960C6836D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9885F6-6E67-4994-A853-3F5454937F1D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3630</TotalTime>
  <Words>935</Words>
  <Application>Microsoft Office PowerPoint</Application>
  <PresentationFormat>Widescreen</PresentationFormat>
  <Paragraphs>192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Organic</vt:lpstr>
      <vt:lpstr>MAMC01901 Business Analysis</vt:lpstr>
      <vt:lpstr>Agenda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lastModifiedBy>Hewlett-Packard Company</cp:lastModifiedBy>
  <cp:revision>129</cp:revision>
  <dcterms:created xsi:type="dcterms:W3CDTF">2025-04-24T00:48:25Z</dcterms:created>
  <dcterms:modified xsi:type="dcterms:W3CDTF">2025-05-12T20:13:31Z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