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378" r:id="rId3"/>
    <p:sldId id="377" r:id="rId4"/>
    <p:sldId id="398" r:id="rId5"/>
    <p:sldId id="399" r:id="rId6"/>
    <p:sldId id="400" r:id="rId7"/>
    <p:sldId id="401" r:id="rId8"/>
    <p:sldId id="402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2" r:id="rId17"/>
    <p:sldId id="413" r:id="rId18"/>
    <p:sldId id="414" r:id="rId19"/>
    <p:sldId id="411" r:id="rId20"/>
    <p:sldId id="370" r:id="rId21"/>
    <p:sldId id="41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1F5B0-91AD-4C9D-AB4F-65086B192639}" v="520" dt="2025-04-24T05:03:59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450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5/05/2025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=""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="" xmlns:a16="http://schemas.microsoft.com/office/drawing/2014/main" id="{8B226A40-22CC-40E5-9EC4-5163536C62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="" xmlns:a16="http://schemas.microsoft.com/office/drawing/2014/main" id="{6BB9B7D3-101C-4F55-A956-62DA4AAD40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="" xmlns:a16="http://schemas.microsoft.com/office/drawing/2014/main" id="{53BD5441-821C-4091-8DDD-A4A56A6FC8B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="" xmlns:a16="http://schemas.microsoft.com/office/drawing/2014/main" id="{AFC6E877-1BD2-4856-8FFD-250D27C1580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="" xmlns:a16="http://schemas.microsoft.com/office/drawing/2014/main" id="{F64C008A-2A32-4626-A83A-16A984F886F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="" xmlns:a16="http://schemas.microsoft.com/office/drawing/2014/main" id="{875D67EF-62E2-43F5-8005-7A7A319D05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Skills, competencies and soft skills of business  a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nalysts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="" xmlns:a16="http://schemas.microsoft.com/office/drawing/2014/main" id="{9D2CA3DB-2141-4DE2-9F8A-9E5561DDFD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=""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="" xmlns:a16="http://schemas.microsoft.com/office/drawing/2014/main" id="{1214B64F-D291-4308-B071-A2678ED782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="" xmlns:a16="http://schemas.microsoft.com/office/drawing/2014/main" id="{B7328C2D-38F0-4C80-9EA5-A1AD0D6B20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="" xmlns:a16="http://schemas.microsoft.com/office/drawing/2014/main" id="{BD17E249-48D0-476B-A642-A5D58DD39A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="" xmlns:a16="http://schemas.microsoft.com/office/drawing/2014/main" id="{7E4B7EC7-DE5B-4F27-839A-7CDF49C618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="" xmlns:a16="http://schemas.microsoft.com/office/drawing/2014/main" id="{DDA01082-3C8F-4602-8DA7-C82DF709569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="" xmlns:a16="http://schemas.microsoft.com/office/drawing/2014/main" id="{1A21B48A-5892-4DD2-B2E1-91BD42A44C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="" xmlns:a16="http://schemas.microsoft.com/office/drawing/2014/main" id="{BE083B53-5B4C-4C29-BDFD-A28B754A59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="" xmlns:a16="http://schemas.microsoft.com/office/drawing/2014/main" id="{0B65B193-F600-4C1B-9DBF-09D94CDB08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Skills and competencies of a business analyst</a:t>
            </a:r>
            <a:endParaRPr lang="en-NZ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en-NZ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Business analysts in different business functions</a:t>
            </a:r>
            <a:endParaRPr lang="en-NZ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en-NZ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Assessment </a:t>
            </a:r>
            <a:r>
              <a:rPr lang="en-NZ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 requirements</a:t>
            </a:r>
          </a:p>
          <a:p>
            <a:pPr lvl="1">
              <a:buNone/>
            </a:pPr>
            <a:endParaRPr lang="en-NZ" dirty="0"/>
          </a:p>
          <a:p>
            <a:pPr lvl="1"/>
            <a:endParaRPr lang="en-NZ" dirty="0"/>
          </a:p>
        </p:txBody>
      </p:sp>
    </p:spTree>
    <p:extLst>
      <p:ext uri="{BB962C8B-B14F-4D97-AF65-F5344CB8AC3E}">
        <p14:creationId xmlns=""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Skills, Competencies &amp; Soft Skills of a Business Analyst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59336" y="1478361"/>
            <a:ext cx="9956339" cy="5024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Technical &amp; Business Skills</a:t>
            </a: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Analytical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Thinking &amp; Problem Solving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Ability to break down complex problems and find effective solutions.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sz="2000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 A BA identifies that delays in delivery stem from poor route planning and recommends a software tool to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optimise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logistics.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Business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Knowledge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Understanding how the business or industry works, including processes, policies, and customer expectations.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sz="2000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 At a supermarket chain, the BA uses knowledge of supply chains to help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digitise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restocking processes.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Technology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&amp; Tools Proficiency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Comfort with tools like Power BI,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Jira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Visio, SQL, or process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modelling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software.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sz="2000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 A BA uses Power BI dashboards to track customer buying trends and support marketing decisions.</a:t>
            </a:r>
          </a:p>
          <a:p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Skills, Competencies &amp; Soft Skills of a Business Analyst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464072"/>
            <a:ext cx="9956339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Technical &amp; Business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Skills (Contd.)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Conceptual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Thinking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Ability to connect high-level strategy with detailed implementation.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When redesigning a loyalty program, the BA ensures that both business goals and customer experience are aligned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Decision-Making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Assessing trade-offs and choosing solutions that provide the most value.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helps decide whether to build a feature in-house or buy a third-party tool based on cost-benefit analysis.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Time Management &amp;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Prioritisation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Handling multiple tasks, deadlines, and meetings efficiently.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organises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stakeholder meetings in advance and breaks the project into manageable weekly sprints.</a:t>
            </a: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Skills, Competencies &amp; Soft Skills of a Business Analyst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464072"/>
            <a:ext cx="9956339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Soft Skills &amp; Interpersonal Competencies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Communication Skills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Clearly conveying ideas and actively listening to stakeholders.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explains complex tech terms in simple language so that non-technical staff understand system changes.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Stakeholder Engagement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Identifying all relevant stakeholders and building strong relationships.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includes warehouse workers in requirements workshops for a new inventory system to ensure real needs are met.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Facilitation Skills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Leading workshops and meetings to gather input, align views, and make decisions.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runs a user story mapping session to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prioritise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features for an app redesign.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Negotiation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&amp; Conflict Resolution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Balancing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different needs and reaching fair outcomes.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sales team wants a quick launch; IT needs more time. The BA negotiates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	a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phased rollout to satisfy both.</a:t>
            </a:r>
          </a:p>
          <a:p>
            <a:pPr lvl="1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Skills, Competencies &amp; Soft Skills of a Business Analyst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464072"/>
            <a:ext cx="9956339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Soft Skills &amp; Interpersonal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Competencies (Contd.)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Teaching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&amp; Mentoring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Helping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others understand new processes, tools, or systems.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runs a training session for staff learning to use a new CRM tool.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Adaptability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Responding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effectively to change, especially in Agile projects.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Midway through a project, the client’s priorities change, and the BA quickly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	reshapes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the backlog to reflect this.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Ethical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Behaviour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&amp; Trustworthiness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Acting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with integrity and maintaining confidentiality.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	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ensures sensitive customer data is protected while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analysing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trends for a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	marketing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campaign.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Skills, Competencies &amp; Soft Skills of a Business Analyst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464072"/>
            <a:ext cx="9956339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Extra Focus: Risk Management</a:t>
            </a:r>
          </a:p>
          <a:p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Risk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Awareness &amp; Mitigation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Identifying potential risks early and suggesting ways to manage them.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warns that launching a feature without staff training could cause service issues and proposes a pilot phase.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0" y="1557661"/>
            <a:ext cx="9956339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u="sng" dirty="0" smtClean="0">
                <a:latin typeface="Arial" pitchFamily="34" charset="0"/>
                <a:cs typeface="Arial" pitchFamily="34" charset="0"/>
              </a:rPr>
              <a:t>Project: Implementing a click-and-collect grocery service across </a:t>
            </a:r>
            <a:r>
              <a:rPr lang="en-US" b="1" u="sng" dirty="0" smtClean="0">
                <a:latin typeface="Arial" pitchFamily="34" charset="0"/>
                <a:cs typeface="Arial" pitchFamily="34" charset="0"/>
              </a:rPr>
              <a:t>stores</a:t>
            </a:r>
          </a:p>
          <a:p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Analytical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Thinking &amp; Problem Solving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(Core Competency)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Critical Thinking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Evaluating ideas and identifying best-fit solutions.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notices that customer wait times are high and recommends redesigning the pickup process for efficiency.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Decision-Making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Making informed, balanced decisions using available data.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compares the cost and speed of in-house development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vs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third-party software to select the most cost-effective system.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Conceptual Thinking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Connecting high-level business goals with operational details.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ensures the click-and-collect service aligns with Countdown’s larger goal of improving convenience and customer loyalty.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35512"/>
            <a:ext cx="9956339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Business Knowledge &amp; Industry Expertise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(Business Competency)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Domain Knowledge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Understanding how a specific business or industry operates.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knows how grocery store operations work (inventory, staffing, customer flow), which helps design a service that integrates smoothly with existing systems.</a:t>
            </a:r>
          </a:p>
          <a:p>
            <a:r>
              <a:rPr lang="en-US" b="1" dirty="0" err="1" smtClean="0">
                <a:latin typeface="Arial" pitchFamily="34" charset="0"/>
                <a:cs typeface="Arial" pitchFamily="34" charset="0"/>
              </a:rPr>
              <a:t>Organisational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Knowledge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Being familiar with internal policies, culture, and priorities.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understands that Countdown stores vary in size and staff capacity, so proposes a phased rollout for smaller stores.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35512"/>
            <a:ext cx="9956339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Technical Proficiency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(Technical Competency)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Tool Usage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Proficiency in software like Power BI,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Jira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or process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modelling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tools.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uses Power BI to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analyse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order data and identify which stores experience high demand, helping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prioritise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where to expand the service next.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Data Analysis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Interpreting data trends to inform decisions.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studies past online sales to estimate expected order volumes for click-and-collect at each location.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21224"/>
            <a:ext cx="9956339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Communication &amp; Interpersonal Skills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b="1" i="1" dirty="0" err="1" smtClean="0">
                <a:latin typeface="Arial" pitchFamily="34" charset="0"/>
                <a:cs typeface="Arial" pitchFamily="34" charset="0"/>
              </a:rPr>
              <a:t>Behavioural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 Competency)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Verbal &amp; Written Communication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Conveying ideas clearly and adjusting language to suit the audience.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writes a business case for senior management and presents it in a clear, concise way.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Facilitation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Leading productive meetings, workshops, and discussions.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facilitates a user story mapping session with IT and operations teams to define customer journey steps.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Stakeholder Engagement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Identifying and collaborating with people affected by the project.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involves store managers and front-line staff early to understand their concerns and gather input.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06936"/>
            <a:ext cx="9956339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Negotiation &amp; Conflict Resolution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Balancing competing priorities and reaching agreements.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When IT wants a secure but complex solution and store staff need ease-of-use, the BA negotiates a compromise design.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Teaching &amp; Mentoring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Explaining concepts to others or guiding team members.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trains store staff on how to process and manage click-and-collect orders through the new system</a:t>
            </a:r>
            <a:r>
              <a:rPr lang="en-US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21224"/>
            <a:ext cx="9956339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Agility &amp; Personal Effectiveness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b="1" i="1" dirty="0" err="1" smtClean="0">
                <a:latin typeface="Arial" pitchFamily="34" charset="0"/>
                <a:cs typeface="Arial" pitchFamily="34" charset="0"/>
              </a:rPr>
              <a:t>Behavioural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 &amp; Personal Attributes)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Adaptability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Adjusting quickly to changes in scope, goals, or team structure.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When management decides to include frozen items in the service, the BA quickly updates requirements and workflows.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Time Management &amp;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Organisation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Managing tasks efficiently and meeting deadlines.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organises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the delivery of system updates across multiple stores without disrupting daily operations.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Ethical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Behaviour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&amp; Trustworthiness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Handling sensitive information responsibly and acting with integrity.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ensures customer data collected during online orders is stored securely and in compliance with privacy laws.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Example: Countdown Supermarkets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1535512"/>
            <a:ext cx="9956339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Risk Management &amp; Strategic Thinking </a:t>
            </a:r>
            <a:r>
              <a:rPr lang="en-US" b="1" i="1" dirty="0" smtClean="0">
                <a:latin typeface="Arial" pitchFamily="34" charset="0"/>
                <a:cs typeface="Arial" pitchFamily="34" charset="0"/>
              </a:rPr>
              <a:t>(Strategic &amp; Risk Competency)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Risk Identification and Mitigation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Spotting potential issues and planning how to avoid them.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flags that smaller stores may not have space for large order storage, and proposes a scheduling system to spread out pickups.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Strategic Alignment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Ensuring the project supports the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organisation’s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long-term goals.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The BA ensures the new service supports Countdown’s digital transformation and customer satisfaction targets</a:t>
            </a:r>
            <a:r>
              <a:rPr lang="en-US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NZ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Analysts in Different Business Functions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16473" y="1192612"/>
            <a:ext cx="1021351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Business Analysts (BAs) can play a crucial role in improving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multiple business functions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within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same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organisation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by identifying inefficiencies, aligning processes with strategy, and supporting data-driven decision-making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NZ" altLang="zh-CN" sz="1800" dirty="0" smtClean="0">
              <a:solidFill>
                <a:schemeClr val="tx1"/>
              </a:solidFill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Operations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Role of BA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Streamline processes, reduce costs, and increase efficiency.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Map current workflows and identify bottlenecks.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Recommend process automation tools (e.g., inventory or logistics systems).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at a retail chain identifies redundant manual inventory tracking and proposes an automated stock system, reducing errors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labour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hours.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Finance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Role of BA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Improve budgeting, forecasting, and financial decision-making.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Analyse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expenditure trends and financial reports.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Build dashboards for real-time financial KPIs.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At a healthcare provider, a BA helps the finance team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optimise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budget allocation by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analysing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underperforming service lines and proposing cost-saving measures.</a:t>
            </a:r>
          </a:p>
          <a:p>
            <a:pPr>
              <a:buFont typeface="Arial" pitchFamily="34" charset="0"/>
              <a:buChar char="•"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NZ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Analysts in Different Business Functions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16473" y="1264052"/>
            <a:ext cx="102135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Sales &amp; Marketing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Role of BA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Enhance customer targeting and campaign effectiveness.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Use data analytics to segment customers and identify trends.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Evaluate marketing ROI and suggest improvements.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in an e-commerce company uses customer purchase data to suggest targeted email campaigns, improving conversion rates.</a:t>
            </a:r>
          </a:p>
          <a:p>
            <a:pPr>
              <a:buFont typeface="Arial" pitchFamily="34" charset="0"/>
              <a:buChar char="•"/>
            </a:pPr>
            <a:endParaRPr lang="en-NZ" altLang="zh-CN" dirty="0" smtClean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Human Resources (HR)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Role of BA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Support strategic workforce planning and employee engagement.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Analyse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hiring, retention, and training data.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Design HR dashboards to monitor team performance and satisfaction.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helps HR at a tech firm reduce employee turnover by identifying pain points in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onboarding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suggesting a structured training program</a:t>
            </a:r>
            <a:r>
              <a:rPr lang="en-US" dirty="0" smtClean="0"/>
              <a:t>.</a:t>
            </a:r>
          </a:p>
          <a:p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NZ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Analysts in Different Business Functions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16473" y="1278340"/>
            <a:ext cx="102135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&amp; Digital Transformation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Role of BA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Bridge the gap between business needs and technical solutions.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Gather requirements for system upgrades or new platforms.</a:t>
            </a:r>
          </a:p>
          <a:p>
            <a:pPr lvl="1"/>
            <a:r>
              <a:rPr lang="en-US" dirty="0" err="1" smtClean="0">
                <a:latin typeface="Arial" pitchFamily="34" charset="0"/>
                <a:cs typeface="Arial" pitchFamily="34" charset="0"/>
              </a:rPr>
              <a:t>Prioritise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IT projects based on business impact.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✅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 BA helps select and implement a new CRM system that aligns with both sales needs and IT capabilities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NZ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 skilled Business Analyst doesn't just work within one silo — they: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Connect cross-functional teams.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Ensure strategic alignment across departments.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Use data to improve performance holistically.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NZ" dirty="0" smtClean="0">
              <a:latin typeface="Arial" pitchFamily="34" charset="0"/>
              <a:cs typeface="Arial" pitchFamily="34" charset="0"/>
            </a:endParaRP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=""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NZ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Group Activity: </a:t>
            </a:r>
            <a:r>
              <a:rPr lang="en-NZ" altLang="en-US" sz="2800" b="1" dirty="0" err="1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BrightMart</a:t>
            </a:r>
            <a:r>
              <a:rPr lang="en-NZ" altLang="en-US" sz="2800" b="1" dirty="0" smtClean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Case Study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16473" y="1278340"/>
            <a:ext cx="10213515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dirty="0" smtClean="0">
                <a:latin typeface="Arial" pitchFamily="34" charset="0"/>
                <a:cs typeface="Arial" pitchFamily="34" charset="0"/>
              </a:rPr>
              <a:t>Instructions: </a:t>
            </a:r>
          </a:p>
          <a:p>
            <a:endParaRPr lang="en-NZ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NZ" b="1" dirty="0" smtClean="0">
                <a:latin typeface="Arial" pitchFamily="34" charset="0"/>
                <a:cs typeface="Arial" pitchFamily="34" charset="0"/>
              </a:rPr>
              <a:t>Carefully read the case study on teams and answer the following questions: </a:t>
            </a:r>
          </a:p>
          <a:p>
            <a:endParaRPr lang="en-NZ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What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organisational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context and internal factors led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BrightMart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to hire a business analyst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NZ" dirty="0" smtClean="0">
                <a:latin typeface="Arial" pitchFamily="34" charset="0"/>
                <a:cs typeface="Arial" pitchFamily="34" charset="0"/>
              </a:rPr>
              <a:t>Which business functions did the analyst work to improve?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did the analyst work to improve the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business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functions at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BrightMart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NZ" dirty="0" smtClean="0">
                <a:latin typeface="Arial" pitchFamily="34" charset="0"/>
                <a:cs typeface="Arial" pitchFamily="34" charset="0"/>
              </a:rPr>
              <a:t>Identify the specific information the analyst had to gather in order to improve each function.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Identify the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key activities the analyst likely undertook in each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function.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What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challenges can you identify that the analyst faced in each business function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NZ" dirty="0" smtClean="0">
                <a:latin typeface="Arial" pitchFamily="34" charset="0"/>
                <a:cs typeface="Arial" pitchFamily="34" charset="0"/>
              </a:rPr>
              <a:t>What were the outcomes of the improvements in each function?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NZ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NZ" dirty="0" smtClean="0">
              <a:latin typeface="Arial" pitchFamily="34" charset="0"/>
              <a:cs typeface="Arial" pitchFamily="34" charset="0"/>
            </a:endParaRP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 altLang="zh-CN" dirty="0" smtClean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1300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333F0879-3DA0-4CB8-B35E-A0AD425581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324D2183-F388-476E-92A9-D6639D6985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243462E7-1698-4B21-BE89-AEFAC7C2FE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E46C21B-5E2D-608B-162E-2EA7D8FC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br>
              <a:rPr lang="en-US" altLang="zh-CN" sz="2400" b="1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(30%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grade)</a:t>
            </a:r>
            <a:endParaRPr lang="en-AU" sz="24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xmlns="" id="{5AA11C9F-4B32-8551-3D89-5F932A25E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zh-CN" altLang="en-US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zh-CN" altLang="en-US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guidance:</a:t>
            </a:r>
            <a:r>
              <a:rPr lang="zh-CN" altLang="en-US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1500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lang="zh-CN" altLang="en-US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zh-CN" altLang="en-US" sz="18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Friday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(16</a:t>
            </a:r>
            <a:r>
              <a:rPr lang="en-US" altLang="zh-CN" sz="1800" baseline="300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May 2025),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9:00</a:t>
            </a:r>
            <a:r>
              <a:rPr lang="zh-CN" altLang="en-US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>
                <a:solidFill>
                  <a:srgbClr val="262626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AM</a:t>
            </a:r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xmlns="" id="{6C22FCAC-D7EC-4A52-B153-FF761E2235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r="4429"/>
          <a:stretch>
            <a:fillRect/>
          </a:stretch>
        </p:blipFill>
        <p:spPr bwMode="auto">
          <a:xfrm>
            <a:off x="3829051" y="765103"/>
            <a:ext cx="8186738" cy="463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23676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77333"/>
            <a:ext cx="9601196" cy="1037168"/>
          </a:xfrm>
        </p:spPr>
        <p:txBody>
          <a:bodyPr>
            <a:normAutofit fontScale="90000"/>
          </a:bodyPr>
          <a:lstStyle/>
          <a:p>
            <a:r>
              <a:rPr lang="en-NZ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Assessment </a:t>
            </a:r>
            <a:r>
              <a:rPr lang="en-NZ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NZ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Breakdown/Homework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211" y="2634911"/>
            <a:ext cx="10315575" cy="3318936"/>
          </a:xfrm>
        </p:spPr>
        <p:txBody>
          <a:bodyPr>
            <a:normAutofit fontScale="62500" lnSpcReduction="20000"/>
          </a:bodyPr>
          <a:lstStyle/>
          <a:p>
            <a:pPr>
              <a:buAutoNum type="arabicPeriod"/>
            </a:pPr>
            <a:r>
              <a:rPr lang="en-US" altLang="zh-CN" sz="2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how the role of Business Analysts have evolved over time and how they </a:t>
            </a:r>
            <a:r>
              <a:rPr lang="en-US" altLang="zh-CN" sz="29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contributed </a:t>
            </a:r>
            <a:r>
              <a:rPr lang="en-US" altLang="zh-CN" sz="2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improve organisational performance in general.</a:t>
            </a:r>
          </a:p>
          <a:p>
            <a:pPr>
              <a:buAutoNum type="arabicPeriod"/>
            </a:pPr>
            <a:r>
              <a:rPr lang="en-US" altLang="zh-CN" sz="2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an organisation where a business analyst could be employed.</a:t>
            </a:r>
          </a:p>
          <a:p>
            <a:pPr>
              <a:buAutoNum type="arabicPeriod"/>
            </a:pP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3 business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(operations, IT, marketing etc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in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organisation where a business analyst can be utilised.</a:t>
            </a:r>
          </a:p>
          <a:p>
            <a:pPr>
              <a:buAutoNum type="arabicPeriod"/>
            </a:pP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</a:t>
            </a:r>
            <a:r>
              <a:rPr lang="en-NZ" altLang="zh-CN" sz="2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NZ" altLang="zh-CN" sz="2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analyst could be utilised in your chosen organisation to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each of the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NZ" altLang="zh-CN" sz="2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functions.</a:t>
            </a:r>
            <a:endParaRPr lang="en-NZ" altLang="zh-CN" sz="2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AutoNum type="arabicPeriod"/>
            </a:pPr>
            <a:r>
              <a:rPr lang="en-NZ" altLang="zh-CN" sz="2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function, outline specific business analysis activities, discuss the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positive outcomes of those activitie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address any potential </a:t>
            </a:r>
            <a:r>
              <a:rPr lang="en-NZ" altLang="zh-CN" sz="2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the analyst may face.</a:t>
            </a:r>
            <a:endParaRPr lang="en-US" altLang="zh-CN" sz="2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NZ" altLang="zh-CN" sz="2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*Use and cite contemporary literature (</a:t>
            </a:r>
            <a:r>
              <a:rPr lang="en-NZ" altLang="zh-CN" sz="2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 articles or conference papers) </a:t>
            </a:r>
            <a:r>
              <a:rPr lang="en-NZ" altLang="zh-CN" sz="2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wherever applicable*</a:t>
            </a:r>
            <a:endParaRPr lang="en-US" altLang="zh-CN" sz="2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9494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77333"/>
            <a:ext cx="9601196" cy="1037168"/>
          </a:xfrm>
        </p:spPr>
        <p:txBody>
          <a:bodyPr>
            <a:normAutofit fontScale="90000"/>
          </a:bodyPr>
          <a:lstStyle/>
          <a:p>
            <a:r>
              <a:rPr lang="en-NZ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Assessment </a:t>
            </a:r>
            <a:r>
              <a:rPr lang="en-NZ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NZ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Breakdown/Homework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211" y="2634911"/>
            <a:ext cx="10315575" cy="3318936"/>
          </a:xfrm>
        </p:spPr>
        <p:txBody>
          <a:bodyPr>
            <a:normAutofit/>
          </a:bodyPr>
          <a:lstStyle/>
          <a:p>
            <a:r>
              <a:rPr lang="en-NZ" altLang="zh-CN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1 draft due on Thursday, 8</a:t>
            </a:r>
            <a:r>
              <a:rPr lang="en-NZ" altLang="zh-CN" sz="320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NZ" altLang="zh-CN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May, 11.59 PM. Send via teams.  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9494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9DB580-2476-440B-A846-8023D4A4EC2C}"/>
</file>

<file path=customXml/itemProps2.xml><?xml version="1.0" encoding="utf-8"?>
<ds:datastoreItem xmlns:ds="http://schemas.openxmlformats.org/officeDocument/2006/customXml" ds:itemID="{76E43B76-47B5-48D0-B27A-6B1AAB006268}"/>
</file>

<file path=customXml/itemProps3.xml><?xml version="1.0" encoding="utf-8"?>
<ds:datastoreItem xmlns:ds="http://schemas.openxmlformats.org/officeDocument/2006/customXml" ds:itemID="{247A1CB6-A9CA-496F-BD71-4A836015C7BC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3615</TotalTime>
  <Words>1859</Words>
  <Application>Microsoft Office PowerPoint</Application>
  <PresentationFormat>Custom</PresentationFormat>
  <Paragraphs>257</Paragraphs>
  <Slides>21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Organic</vt:lpstr>
      <vt:lpstr>MAMC01901 Business Analysis</vt:lpstr>
      <vt:lpstr>Agenda</vt:lpstr>
      <vt:lpstr>Skills, Competencies &amp; Soft Skills of a Business Analyst</vt:lpstr>
      <vt:lpstr>Skills, Competencies &amp; Soft Skills of a Business Analyst</vt:lpstr>
      <vt:lpstr>Skills, Competencies &amp; Soft Skills of a Business Analyst</vt:lpstr>
      <vt:lpstr>Skills, Competencies &amp; Soft Skills of a Business Analyst</vt:lpstr>
      <vt:lpstr>Skills, Competencies &amp; Soft Skills of a Business Analyst</vt:lpstr>
      <vt:lpstr>Example: Countdown Supermarkets</vt:lpstr>
      <vt:lpstr>Example: Countdown Supermarkets</vt:lpstr>
      <vt:lpstr>Example: Countdown Supermarkets</vt:lpstr>
      <vt:lpstr>Example: Countdown Supermarkets</vt:lpstr>
      <vt:lpstr>Example: Countdown Supermarkets</vt:lpstr>
      <vt:lpstr>Example: Countdown Supermarkets</vt:lpstr>
      <vt:lpstr>Example: Countdown Supermarkets</vt:lpstr>
      <vt:lpstr>Business Analysts in Different Business Functions</vt:lpstr>
      <vt:lpstr>Business Analysts in Different Business Functions</vt:lpstr>
      <vt:lpstr>Business Analysts in Different Business Functions</vt:lpstr>
      <vt:lpstr>Group Activity: BrightMart Case Study</vt:lpstr>
      <vt:lpstr>Assessment 1: Report (30% to final grade)</vt:lpstr>
      <vt:lpstr>Assessment 1 Breakdown/Homework</vt:lpstr>
      <vt:lpstr>Assessment 1 Breakdown/Homework</vt:lpstr>
    </vt:vector>
  </TitlesOfParts>
  <Company>Otago Polytechnic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lastModifiedBy>Hewlett-Packard Company</cp:lastModifiedBy>
  <cp:revision>81</cp:revision>
  <dcterms:created xsi:type="dcterms:W3CDTF">2025-04-24T00:48:25Z</dcterms:created>
  <dcterms:modified xsi:type="dcterms:W3CDTF">2025-05-05T11:10:17Z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