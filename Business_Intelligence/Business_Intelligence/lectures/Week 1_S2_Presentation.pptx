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1" r:id="rId1"/>
  </p:sldMasterIdLst>
  <p:sldIdLst>
    <p:sldId id="256" r:id="rId2"/>
    <p:sldId id="257" r:id="rId3"/>
    <p:sldId id="266" r:id="rId4"/>
    <p:sldId id="267" r:id="rId5"/>
    <p:sldId id="268" r:id="rId6"/>
    <p:sldId id="269" r:id="rId7"/>
    <p:sldId id="270" r:id="rId8"/>
    <p:sldId id="265"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17" Type="http://schemas.openxmlformats.org/officeDocument/2006/relationships/customXml" Target="../customXml/item3.xml"/><Relationship Id="rId2" Type="http://schemas.openxmlformats.org/officeDocument/2006/relationships/slide" Target="slides/slide1.xml"/><Relationship Id="rId16"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customXml" Target="../customXml/item1.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shika Jayasinghe" userId="584091a1-66b3-44ed-a003-cefbf06ffda6" providerId="ADAL" clId="{5220634F-A24C-411C-B415-C4F6E65E09C8}"/>
    <pc:docChg chg="undo custSel addSld delSld modSld">
      <pc:chgData name="Nishika Jayasinghe" userId="584091a1-66b3-44ed-a003-cefbf06ffda6" providerId="ADAL" clId="{5220634F-A24C-411C-B415-C4F6E65E09C8}" dt="2025-05-01T10:27:20.450" v="2303" actId="20577"/>
      <pc:docMkLst>
        <pc:docMk/>
      </pc:docMkLst>
      <pc:sldChg chg="modSp mod">
        <pc:chgData name="Nishika Jayasinghe" userId="584091a1-66b3-44ed-a003-cefbf06ffda6" providerId="ADAL" clId="{5220634F-A24C-411C-B415-C4F6E65E09C8}" dt="2025-04-30T21:01:58.421" v="1414" actId="6549"/>
        <pc:sldMkLst>
          <pc:docMk/>
          <pc:sldMk cId="2766708164" sldId="257"/>
        </pc:sldMkLst>
        <pc:spChg chg="mod">
          <ac:chgData name="Nishika Jayasinghe" userId="584091a1-66b3-44ed-a003-cefbf06ffda6" providerId="ADAL" clId="{5220634F-A24C-411C-B415-C4F6E65E09C8}" dt="2025-04-27T21:21:07.416" v="532" actId="20577"/>
          <ac:spMkLst>
            <pc:docMk/>
            <pc:sldMk cId="2766708164" sldId="257"/>
            <ac:spMk id="2" creationId="{5DC5046B-02E2-EC3D-58CA-7834BF05C73C}"/>
          </ac:spMkLst>
        </pc:spChg>
        <pc:spChg chg="mod">
          <ac:chgData name="Nishika Jayasinghe" userId="584091a1-66b3-44ed-a003-cefbf06ffda6" providerId="ADAL" clId="{5220634F-A24C-411C-B415-C4F6E65E09C8}" dt="2025-04-30T21:01:58.421" v="1414" actId="6549"/>
          <ac:spMkLst>
            <pc:docMk/>
            <pc:sldMk cId="2766708164" sldId="257"/>
            <ac:spMk id="3" creationId="{439C29E2-2EF3-1CBC-5A22-7AA0F6515D61}"/>
          </ac:spMkLst>
        </pc:spChg>
      </pc:sldChg>
      <pc:sldChg chg="del">
        <pc:chgData name="Nishika Jayasinghe" userId="584091a1-66b3-44ed-a003-cefbf06ffda6" providerId="ADAL" clId="{5220634F-A24C-411C-B415-C4F6E65E09C8}" dt="2025-04-27T21:12:08.269" v="39" actId="47"/>
        <pc:sldMkLst>
          <pc:docMk/>
          <pc:sldMk cId="1004435116" sldId="258"/>
        </pc:sldMkLst>
      </pc:sldChg>
      <pc:sldChg chg="del">
        <pc:chgData name="Nishika Jayasinghe" userId="584091a1-66b3-44ed-a003-cefbf06ffda6" providerId="ADAL" clId="{5220634F-A24C-411C-B415-C4F6E65E09C8}" dt="2025-04-27T12:24:53.684" v="0" actId="47"/>
        <pc:sldMkLst>
          <pc:docMk/>
          <pc:sldMk cId="4286227450" sldId="259"/>
        </pc:sldMkLst>
      </pc:sldChg>
      <pc:sldChg chg="del">
        <pc:chgData name="Nishika Jayasinghe" userId="584091a1-66b3-44ed-a003-cefbf06ffda6" providerId="ADAL" clId="{5220634F-A24C-411C-B415-C4F6E65E09C8}" dt="2025-04-27T21:12:07.114" v="38" actId="47"/>
        <pc:sldMkLst>
          <pc:docMk/>
          <pc:sldMk cId="2453768226" sldId="261"/>
        </pc:sldMkLst>
      </pc:sldChg>
      <pc:sldChg chg="del">
        <pc:chgData name="Nishika Jayasinghe" userId="584091a1-66b3-44ed-a003-cefbf06ffda6" providerId="ADAL" clId="{5220634F-A24C-411C-B415-C4F6E65E09C8}" dt="2025-04-27T21:12:06.281" v="37" actId="47"/>
        <pc:sldMkLst>
          <pc:docMk/>
          <pc:sldMk cId="1410980007" sldId="262"/>
        </pc:sldMkLst>
      </pc:sldChg>
      <pc:sldChg chg="del">
        <pc:chgData name="Nishika Jayasinghe" userId="584091a1-66b3-44ed-a003-cefbf06ffda6" providerId="ADAL" clId="{5220634F-A24C-411C-B415-C4F6E65E09C8}" dt="2025-04-27T21:12:05.220" v="36" actId="47"/>
        <pc:sldMkLst>
          <pc:docMk/>
          <pc:sldMk cId="1037551864" sldId="263"/>
        </pc:sldMkLst>
      </pc:sldChg>
      <pc:sldChg chg="del">
        <pc:chgData name="Nishika Jayasinghe" userId="584091a1-66b3-44ed-a003-cefbf06ffda6" providerId="ADAL" clId="{5220634F-A24C-411C-B415-C4F6E65E09C8}" dt="2025-04-27T21:12:01.969" v="35" actId="47"/>
        <pc:sldMkLst>
          <pc:docMk/>
          <pc:sldMk cId="921131880" sldId="264"/>
        </pc:sldMkLst>
      </pc:sldChg>
      <pc:sldChg chg="modSp mod">
        <pc:chgData name="Nishika Jayasinghe" userId="584091a1-66b3-44ed-a003-cefbf06ffda6" providerId="ADAL" clId="{5220634F-A24C-411C-B415-C4F6E65E09C8}" dt="2025-05-01T10:27:20.450" v="2303" actId="20577"/>
        <pc:sldMkLst>
          <pc:docMk/>
          <pc:sldMk cId="1527159665" sldId="265"/>
        </pc:sldMkLst>
        <pc:spChg chg="mod">
          <ac:chgData name="Nishika Jayasinghe" userId="584091a1-66b3-44ed-a003-cefbf06ffda6" providerId="ADAL" clId="{5220634F-A24C-411C-B415-C4F6E65E09C8}" dt="2025-05-01T10:27:20.450" v="2303" actId="20577"/>
          <ac:spMkLst>
            <pc:docMk/>
            <pc:sldMk cId="1527159665" sldId="265"/>
            <ac:spMk id="3" creationId="{2FEA0F3E-9C6C-6070-E218-F34C8A6E9EFC}"/>
          </ac:spMkLst>
        </pc:spChg>
      </pc:sldChg>
      <pc:sldChg chg="modSp new mod">
        <pc:chgData name="Nishika Jayasinghe" userId="584091a1-66b3-44ed-a003-cefbf06ffda6" providerId="ADAL" clId="{5220634F-A24C-411C-B415-C4F6E65E09C8}" dt="2025-05-01T10:24:13.775" v="2271" actId="6549"/>
        <pc:sldMkLst>
          <pc:docMk/>
          <pc:sldMk cId="3493960422" sldId="266"/>
        </pc:sldMkLst>
        <pc:spChg chg="mod">
          <ac:chgData name="Nishika Jayasinghe" userId="584091a1-66b3-44ed-a003-cefbf06ffda6" providerId="ADAL" clId="{5220634F-A24C-411C-B415-C4F6E65E09C8}" dt="2025-04-27T21:14:54.437" v="220" actId="20577"/>
          <ac:spMkLst>
            <pc:docMk/>
            <pc:sldMk cId="3493960422" sldId="266"/>
            <ac:spMk id="2" creationId="{1635AE4D-8205-03BF-28BB-79D07A587595}"/>
          </ac:spMkLst>
        </pc:spChg>
        <pc:spChg chg="mod">
          <ac:chgData name="Nishika Jayasinghe" userId="584091a1-66b3-44ed-a003-cefbf06ffda6" providerId="ADAL" clId="{5220634F-A24C-411C-B415-C4F6E65E09C8}" dt="2025-05-01T10:24:13.775" v="2271" actId="6549"/>
          <ac:spMkLst>
            <pc:docMk/>
            <pc:sldMk cId="3493960422" sldId="266"/>
            <ac:spMk id="3" creationId="{FC8B9D52-3DDA-2AAD-D66A-52F2F4BA3CFB}"/>
          </ac:spMkLst>
        </pc:spChg>
      </pc:sldChg>
      <pc:sldChg chg="modSp new mod">
        <pc:chgData name="Nishika Jayasinghe" userId="584091a1-66b3-44ed-a003-cefbf06ffda6" providerId="ADAL" clId="{5220634F-A24C-411C-B415-C4F6E65E09C8}" dt="2025-05-01T10:25:15.260" v="2274" actId="33524"/>
        <pc:sldMkLst>
          <pc:docMk/>
          <pc:sldMk cId="308970993" sldId="267"/>
        </pc:sldMkLst>
        <pc:spChg chg="mod">
          <ac:chgData name="Nishika Jayasinghe" userId="584091a1-66b3-44ed-a003-cefbf06ffda6" providerId="ADAL" clId="{5220634F-A24C-411C-B415-C4F6E65E09C8}" dt="2025-04-27T21:15:49.455" v="254" actId="20577"/>
          <ac:spMkLst>
            <pc:docMk/>
            <pc:sldMk cId="308970993" sldId="267"/>
            <ac:spMk id="2" creationId="{19A00505-134E-FE15-1C23-4EAD0E67612A}"/>
          </ac:spMkLst>
        </pc:spChg>
        <pc:spChg chg="mod">
          <ac:chgData name="Nishika Jayasinghe" userId="584091a1-66b3-44ed-a003-cefbf06ffda6" providerId="ADAL" clId="{5220634F-A24C-411C-B415-C4F6E65E09C8}" dt="2025-05-01T10:25:15.260" v="2274" actId="33524"/>
          <ac:spMkLst>
            <pc:docMk/>
            <pc:sldMk cId="308970993" sldId="267"/>
            <ac:spMk id="3" creationId="{B683F609-1FD1-4BB4-AC79-87B5A42756CE}"/>
          </ac:spMkLst>
        </pc:spChg>
      </pc:sldChg>
      <pc:sldChg chg="modSp new mod">
        <pc:chgData name="Nishika Jayasinghe" userId="584091a1-66b3-44ed-a003-cefbf06ffda6" providerId="ADAL" clId="{5220634F-A24C-411C-B415-C4F6E65E09C8}" dt="2025-04-30T21:15:12.319" v="2117" actId="20577"/>
        <pc:sldMkLst>
          <pc:docMk/>
          <pc:sldMk cId="1329394911" sldId="268"/>
        </pc:sldMkLst>
        <pc:spChg chg="mod">
          <ac:chgData name="Nishika Jayasinghe" userId="584091a1-66b3-44ed-a003-cefbf06ffda6" providerId="ADAL" clId="{5220634F-A24C-411C-B415-C4F6E65E09C8}" dt="2025-04-30T03:56:35.127" v="665" actId="20577"/>
          <ac:spMkLst>
            <pc:docMk/>
            <pc:sldMk cId="1329394911" sldId="268"/>
            <ac:spMk id="2" creationId="{D2464358-414B-4BA0-37E3-D31A52BA20F6}"/>
          </ac:spMkLst>
        </pc:spChg>
        <pc:spChg chg="mod">
          <ac:chgData name="Nishika Jayasinghe" userId="584091a1-66b3-44ed-a003-cefbf06ffda6" providerId="ADAL" clId="{5220634F-A24C-411C-B415-C4F6E65E09C8}" dt="2025-04-30T21:15:12.319" v="2117" actId="20577"/>
          <ac:spMkLst>
            <pc:docMk/>
            <pc:sldMk cId="1329394911" sldId="268"/>
            <ac:spMk id="3" creationId="{BBD33B5A-BDB3-C75E-21DC-1513A1C7057A}"/>
          </ac:spMkLst>
        </pc:spChg>
      </pc:sldChg>
      <pc:sldChg chg="modSp new mod">
        <pc:chgData name="Nishika Jayasinghe" userId="584091a1-66b3-44ed-a003-cefbf06ffda6" providerId="ADAL" clId="{5220634F-A24C-411C-B415-C4F6E65E09C8}" dt="2025-05-01T10:26:12.942" v="2276" actId="27636"/>
        <pc:sldMkLst>
          <pc:docMk/>
          <pc:sldMk cId="3928836509" sldId="269"/>
        </pc:sldMkLst>
        <pc:spChg chg="mod">
          <ac:chgData name="Nishika Jayasinghe" userId="584091a1-66b3-44ed-a003-cefbf06ffda6" providerId="ADAL" clId="{5220634F-A24C-411C-B415-C4F6E65E09C8}" dt="2025-04-30T21:06:03.281" v="1587"/>
          <ac:spMkLst>
            <pc:docMk/>
            <pc:sldMk cId="3928836509" sldId="269"/>
            <ac:spMk id="2" creationId="{EC20A441-9898-DB1D-290F-C812F95FED3B}"/>
          </ac:spMkLst>
        </pc:spChg>
        <pc:spChg chg="mod">
          <ac:chgData name="Nishika Jayasinghe" userId="584091a1-66b3-44ed-a003-cefbf06ffda6" providerId="ADAL" clId="{5220634F-A24C-411C-B415-C4F6E65E09C8}" dt="2025-05-01T10:26:12.942" v="2276" actId="27636"/>
          <ac:spMkLst>
            <pc:docMk/>
            <pc:sldMk cId="3928836509" sldId="269"/>
            <ac:spMk id="3" creationId="{32B44F1C-CA9C-B09F-936D-D8DF7A0B0A97}"/>
          </ac:spMkLst>
        </pc:spChg>
      </pc:sldChg>
      <pc:sldChg chg="modSp new mod">
        <pc:chgData name="Nishika Jayasinghe" userId="584091a1-66b3-44ed-a003-cefbf06ffda6" providerId="ADAL" clId="{5220634F-A24C-411C-B415-C4F6E65E09C8}" dt="2025-05-01T10:26:37.303" v="2289" actId="5793"/>
        <pc:sldMkLst>
          <pc:docMk/>
          <pc:sldMk cId="3955652432" sldId="270"/>
        </pc:sldMkLst>
        <pc:spChg chg="mod">
          <ac:chgData name="Nishika Jayasinghe" userId="584091a1-66b3-44ed-a003-cefbf06ffda6" providerId="ADAL" clId="{5220634F-A24C-411C-B415-C4F6E65E09C8}" dt="2025-05-01T10:26:37.303" v="2289" actId="5793"/>
          <ac:spMkLst>
            <pc:docMk/>
            <pc:sldMk cId="3955652432" sldId="270"/>
            <ac:spMk id="2" creationId="{08D5AE0A-EA7E-5964-8E33-4D569744A91E}"/>
          </ac:spMkLst>
        </pc:spChg>
        <pc:spChg chg="mod">
          <ac:chgData name="Nishika Jayasinghe" userId="584091a1-66b3-44ed-a003-cefbf06ffda6" providerId="ADAL" clId="{5220634F-A24C-411C-B415-C4F6E65E09C8}" dt="2025-05-01T10:26:22.812" v="2279" actId="5793"/>
          <ac:spMkLst>
            <pc:docMk/>
            <pc:sldMk cId="3955652432" sldId="270"/>
            <ac:spMk id="3" creationId="{431D90C2-5655-48B1-239A-4FE651B428E1}"/>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1D1EADE-8E88-4C7C-8AC5-FB148DE4940E}" type="datetime1">
              <a:rPr lang="en-US" smtClean="0"/>
              <a:t>5/1/2025</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dirty="0"/>
          </a:p>
        </p:txBody>
      </p:sp>
      <p:sp>
        <p:nvSpPr>
          <p:cNvPr id="6" name="Slide Number Placeholder 5"/>
          <p:cNvSpPr>
            <a:spLocks noGrp="1"/>
          </p:cNvSpPr>
          <p:nvPr>
            <p:ph type="sldNum" sz="quarter" idx="12"/>
          </p:nvPr>
        </p:nvSpPr>
        <p:spPr>
          <a:xfrm>
            <a:off x="1437664" y="798973"/>
            <a:ext cx="811019" cy="503578"/>
          </a:xfrm>
        </p:spPr>
        <p:txBody>
          <a:bodyPr/>
          <a:lstStyle/>
          <a:p>
            <a:fld id="{87E7843D-FF13-4365-9478-9625B70A2705}" type="slidenum">
              <a:rPr lang="en-US" smtClean="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865333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7B6794-849E-4626-908B-D15793550EFB}" type="datetime1">
              <a:rPr lang="en-US" smtClean="0"/>
              <a:t>5/1/2025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841984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DB64E7-5594-42A3-ADBF-E95A7ACEAD64}" type="datetime1">
              <a:rPr lang="en-US" smtClean="0"/>
              <a:t>5/1/2025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562106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8462B0B-D248-4FFB-8695-AD7FA4B1284A}" type="datetime1">
              <a:rPr lang="en-US" smtClean="0"/>
              <a:t>5/1/2025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917711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0378EFB-9159-4510-B73F-4F0409ADE937}" type="datetime1">
              <a:rPr lang="en-US" smtClean="0"/>
              <a:t>5/1/2025</a:t>
            </a:fld>
            <a:endParaRPr lang="en-US"/>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7E7843D-FF13-4365-9478-9625B70A2705}"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246869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9BC9412-2452-4BED-A324-9D8C115361AD}" type="datetime1">
              <a:rPr lang="en-US" smtClean="0"/>
              <a:t>5/1/2025</a:t>
            </a:fld>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7E7843D-FF13-4365-9478-9625B70A2705}"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664034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318F62-D251-40E8-A23C-F4CFE9FEAB41}" type="datetime1">
              <a:rPr lang="en-US" smtClean="0"/>
              <a:t>5/1/2025</a:t>
            </a:fld>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0190304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4F76144-149E-4874-93A5-554A0357CF82}" type="datetime1">
              <a:rPr lang="en-US" smtClean="0"/>
              <a:t>5/1/2025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167383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50BA65D8-0540-4835-AE5C-25D29DBA01BE}" type="datetime1">
              <a:rPr lang="en-US" smtClean="0"/>
              <a:t>5/1/2025</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139573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3C8B9C-477D-492A-96AD-1FC2CC997A73}" type="datetime1">
              <a:rPr lang="en-US" smtClean="0"/>
              <a:t>5/1/2025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9368435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2D3AED5-E26D-4E29-B1B3-7847B6779594}" type="datetime1">
              <a:rPr lang="en-US" smtClean="0"/>
              <a:t>5/1/2025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140604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E31BA835-12AC-4E8F-955A-EA3F4DE2791F}" type="datetime1">
              <a:rPr lang="en-US" smtClean="0"/>
              <a:t>5/1/2025</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87E7843D-FF13-4365-9478-9625B70A2705}" type="slidenum">
              <a:rPr lang="en-US" smtClean="0"/>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4599805"/>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Lst>
  <p:hf sldNum="0"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60D1173B-FBCA-4F2A-AB78-7DB51EC957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0B08DCF8-02FA-4015-A96A-7F8A89EBC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13137F85-7E39-8E34-7826-90B0013ECA44}"/>
              </a:ext>
            </a:extLst>
          </p:cNvPr>
          <p:cNvSpPr>
            <a:spLocks noGrp="1"/>
          </p:cNvSpPr>
          <p:nvPr>
            <p:ph type="ctrTitle"/>
          </p:nvPr>
        </p:nvSpPr>
        <p:spPr>
          <a:xfrm>
            <a:off x="5770072" y="964769"/>
            <a:ext cx="4966432" cy="2376915"/>
          </a:xfrm>
        </p:spPr>
        <p:txBody>
          <a:bodyPr>
            <a:normAutofit/>
          </a:bodyPr>
          <a:lstStyle/>
          <a:p>
            <a:r>
              <a:rPr lang="en-US" sz="5400"/>
              <a:t>Business Intelligence</a:t>
            </a:r>
          </a:p>
        </p:txBody>
      </p:sp>
      <p:sp>
        <p:nvSpPr>
          <p:cNvPr id="3" name="Subtitle 2">
            <a:extLst>
              <a:ext uri="{FF2B5EF4-FFF2-40B4-BE49-F238E27FC236}">
                <a16:creationId xmlns:a16="http://schemas.microsoft.com/office/drawing/2014/main" id="{7454DC0B-7773-CBEC-F4C6-9969B4A38464}"/>
              </a:ext>
            </a:extLst>
          </p:cNvPr>
          <p:cNvSpPr>
            <a:spLocks noGrp="1"/>
          </p:cNvSpPr>
          <p:nvPr>
            <p:ph type="subTitle" idx="1"/>
          </p:nvPr>
        </p:nvSpPr>
        <p:spPr>
          <a:xfrm>
            <a:off x="5770074" y="3529159"/>
            <a:ext cx="4972063" cy="1612688"/>
          </a:xfrm>
        </p:spPr>
        <p:txBody>
          <a:bodyPr>
            <a:normAutofit/>
          </a:bodyPr>
          <a:lstStyle/>
          <a:p>
            <a:r>
              <a:rPr lang="en-US"/>
              <a:t>Nishika Jayasinghe</a:t>
            </a:r>
          </a:p>
        </p:txBody>
      </p:sp>
      <p:grpSp>
        <p:nvGrpSpPr>
          <p:cNvPr id="27" name="Group 26">
            <a:extLst>
              <a:ext uri="{FF2B5EF4-FFF2-40B4-BE49-F238E27FC236}">
                <a16:creationId xmlns:a16="http://schemas.microsoft.com/office/drawing/2014/main" id="{72EFD7EB-F887-4187-BD35-2F6584E9E0D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32238" y="482171"/>
            <a:ext cx="4641751" cy="5149101"/>
            <a:chOff x="7463259" y="583365"/>
            <a:chExt cx="4641750" cy="5181928"/>
          </a:xfrm>
        </p:grpSpPr>
        <p:sp>
          <p:nvSpPr>
            <p:cNvPr id="28" name="Rectangle 27">
              <a:extLst>
                <a:ext uri="{FF2B5EF4-FFF2-40B4-BE49-F238E27FC236}">
                  <a16:creationId xmlns:a16="http://schemas.microsoft.com/office/drawing/2014/main" id="{D802ABCE-86EF-458C-B776-FBEE5B3ED7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3259" y="583365"/>
              <a:ext cx="4641750" cy="5181928"/>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CF257E23-BAFF-4E5A-9DCD-5EB001A230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76318" y="915807"/>
              <a:ext cx="4001651" cy="4494927"/>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8" name="Picture 17">
            <a:extLst>
              <a:ext uri="{FF2B5EF4-FFF2-40B4-BE49-F238E27FC236}">
                <a16:creationId xmlns:a16="http://schemas.microsoft.com/office/drawing/2014/main" id="{30007242-98AA-75DF-5EEB-A1AA2789D57D}"/>
              </a:ext>
            </a:extLst>
          </p:cNvPr>
          <p:cNvPicPr>
            <a:picLocks noChangeAspect="1"/>
          </p:cNvPicPr>
          <p:nvPr/>
        </p:nvPicPr>
        <p:blipFill>
          <a:blip r:embed="rId2"/>
          <a:srcRect l="15215" r="15216" b="2"/>
          <a:stretch/>
        </p:blipFill>
        <p:spPr>
          <a:xfrm>
            <a:off x="1271223" y="1116345"/>
            <a:ext cx="3362141" cy="3866172"/>
          </a:xfrm>
          <a:prstGeom prst="rect">
            <a:avLst/>
          </a:prstGeom>
        </p:spPr>
      </p:pic>
      <p:cxnSp>
        <p:nvCxnSpPr>
          <p:cNvPr id="31" name="Straight Connector 30">
            <a:extLst>
              <a:ext uri="{FF2B5EF4-FFF2-40B4-BE49-F238E27FC236}">
                <a16:creationId xmlns:a16="http://schemas.microsoft.com/office/drawing/2014/main" id="{480890EC-EC50-46D3-879E-63EDF4D06CE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770073" y="3526496"/>
            <a:ext cx="4959505" cy="0"/>
          </a:xfrm>
          <a:prstGeom prst="line">
            <a:avLst/>
          </a:prstGeom>
          <a:ln w="31750"/>
        </p:spPr>
        <p:style>
          <a:lnRef idx="3">
            <a:schemeClr val="accent1"/>
          </a:lnRef>
          <a:fillRef idx="0">
            <a:schemeClr val="accent1"/>
          </a:fillRef>
          <a:effectRef idx="2">
            <a:schemeClr val="accent1"/>
          </a:effectRef>
          <a:fontRef idx="minor">
            <a:schemeClr val="tx1"/>
          </a:fontRef>
        </p:style>
      </p:cxnSp>
      <p:pic>
        <p:nvPicPr>
          <p:cNvPr id="33" name="Picture 32">
            <a:extLst>
              <a:ext uri="{FF2B5EF4-FFF2-40B4-BE49-F238E27FC236}">
                <a16:creationId xmlns:a16="http://schemas.microsoft.com/office/drawing/2014/main" id="{971F6991-E635-48F8-9309-D5A5C1ECBF2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35" name="Straight Connector 34">
            <a:extLst>
              <a:ext uri="{FF2B5EF4-FFF2-40B4-BE49-F238E27FC236}">
                <a16:creationId xmlns:a16="http://schemas.microsoft.com/office/drawing/2014/main" id="{3ACF2F98-1DF0-4594-9502-F2B79E79578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0607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5046B-02E2-EC3D-58CA-7834BF05C73C}"/>
              </a:ext>
            </a:extLst>
          </p:cNvPr>
          <p:cNvSpPr>
            <a:spLocks noGrp="1"/>
          </p:cNvSpPr>
          <p:nvPr>
            <p:ph type="title"/>
          </p:nvPr>
        </p:nvSpPr>
        <p:spPr/>
        <p:txBody>
          <a:bodyPr/>
          <a:lstStyle/>
          <a:p>
            <a:r>
              <a:rPr lang="en-US" dirty="0"/>
              <a:t>Week 1_Day_2_What is Business Intelligence?</a:t>
            </a:r>
          </a:p>
        </p:txBody>
      </p:sp>
      <p:sp>
        <p:nvSpPr>
          <p:cNvPr id="3" name="Content Placeholder 2">
            <a:extLst>
              <a:ext uri="{FF2B5EF4-FFF2-40B4-BE49-F238E27FC236}">
                <a16:creationId xmlns:a16="http://schemas.microsoft.com/office/drawing/2014/main" id="{439C29E2-2EF3-1CBC-5A22-7AA0F6515D61}"/>
              </a:ext>
            </a:extLst>
          </p:cNvPr>
          <p:cNvSpPr>
            <a:spLocks noGrp="1"/>
          </p:cNvSpPr>
          <p:nvPr>
            <p:ph idx="1"/>
          </p:nvPr>
        </p:nvSpPr>
        <p:spPr/>
        <p:txBody>
          <a:bodyPr/>
          <a:lstStyle/>
          <a:p>
            <a:r>
              <a:rPr lang="en-US" dirty="0"/>
              <a:t>Welcome</a:t>
            </a:r>
          </a:p>
          <a:p>
            <a:r>
              <a:rPr lang="en-US" dirty="0"/>
              <a:t>Topic 1 </a:t>
            </a:r>
            <a:r>
              <a:rPr lang="en-US" dirty="0" err="1"/>
              <a:t>discussion_What</a:t>
            </a:r>
            <a:r>
              <a:rPr lang="en-US" dirty="0"/>
              <a:t> is Business Intelligence?</a:t>
            </a:r>
          </a:p>
          <a:p>
            <a:r>
              <a:rPr lang="en-US" dirty="0" err="1"/>
              <a:t>Activity_based</a:t>
            </a:r>
            <a:r>
              <a:rPr lang="en-US" dirty="0"/>
              <a:t> on the teaching </a:t>
            </a:r>
          </a:p>
          <a:p>
            <a:r>
              <a:rPr lang="en-US" dirty="0"/>
              <a:t>Assessment 1 discussion </a:t>
            </a:r>
          </a:p>
          <a:p>
            <a:r>
              <a:rPr lang="en-US" dirty="0"/>
              <a:t>Activity to find three business requirements</a:t>
            </a:r>
          </a:p>
        </p:txBody>
      </p:sp>
    </p:spTree>
    <p:extLst>
      <p:ext uri="{BB962C8B-B14F-4D97-AF65-F5344CB8AC3E}">
        <p14:creationId xmlns:p14="http://schemas.microsoft.com/office/powerpoint/2010/main" val="27667081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35AE4D-8205-03BF-28BB-79D07A587595}"/>
              </a:ext>
            </a:extLst>
          </p:cNvPr>
          <p:cNvSpPr>
            <a:spLocks noGrp="1"/>
          </p:cNvSpPr>
          <p:nvPr>
            <p:ph type="title"/>
          </p:nvPr>
        </p:nvSpPr>
        <p:spPr/>
        <p:txBody>
          <a:bodyPr/>
          <a:lstStyle/>
          <a:p>
            <a:r>
              <a:rPr lang="en-US" dirty="0"/>
              <a:t>Activity based on the teaching</a:t>
            </a:r>
          </a:p>
        </p:txBody>
      </p:sp>
      <p:sp>
        <p:nvSpPr>
          <p:cNvPr id="3" name="Content Placeholder 2">
            <a:extLst>
              <a:ext uri="{FF2B5EF4-FFF2-40B4-BE49-F238E27FC236}">
                <a16:creationId xmlns:a16="http://schemas.microsoft.com/office/drawing/2014/main" id="{FC8B9D52-3DDA-2AAD-D66A-52F2F4BA3CFB}"/>
              </a:ext>
            </a:extLst>
          </p:cNvPr>
          <p:cNvSpPr>
            <a:spLocks noGrp="1"/>
          </p:cNvSpPr>
          <p:nvPr>
            <p:ph idx="1"/>
          </p:nvPr>
        </p:nvSpPr>
        <p:spPr/>
        <p:txBody>
          <a:bodyPr>
            <a:normAutofit/>
          </a:bodyPr>
          <a:lstStyle/>
          <a:p>
            <a:r>
              <a:rPr lang="en-US" dirty="0"/>
              <a:t>Find the two research papers uploaded to Teams folder</a:t>
            </a:r>
          </a:p>
          <a:p>
            <a:r>
              <a:rPr lang="en-US" dirty="0"/>
              <a:t>Read articles and discuss how did you find BI to help business operation.</a:t>
            </a:r>
          </a:p>
          <a:p>
            <a:r>
              <a:rPr lang="en-US" dirty="0"/>
              <a:t>Each student needs to spend some time to read the articles and identify business requirements and the tools and techniques for writing their assessment</a:t>
            </a:r>
          </a:p>
          <a:p>
            <a:r>
              <a:rPr lang="en-US" dirty="0"/>
              <a:t>Make a list on the whiteboard to discuss different business requirements and tools </a:t>
            </a:r>
          </a:p>
          <a:p>
            <a:r>
              <a:rPr lang="en-US" dirty="0"/>
              <a:t>You can search more articles related to the industry in which you are going to write your assessment 1 and 2</a:t>
            </a:r>
          </a:p>
        </p:txBody>
      </p:sp>
    </p:spTree>
    <p:extLst>
      <p:ext uri="{BB962C8B-B14F-4D97-AF65-F5344CB8AC3E}">
        <p14:creationId xmlns:p14="http://schemas.microsoft.com/office/powerpoint/2010/main" val="34939604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A00505-134E-FE15-1C23-4EAD0E67612A}"/>
              </a:ext>
            </a:extLst>
          </p:cNvPr>
          <p:cNvSpPr>
            <a:spLocks noGrp="1"/>
          </p:cNvSpPr>
          <p:nvPr>
            <p:ph type="title"/>
          </p:nvPr>
        </p:nvSpPr>
        <p:spPr/>
        <p:txBody>
          <a:bodyPr/>
          <a:lstStyle/>
          <a:p>
            <a:r>
              <a:rPr lang="en-US" dirty="0"/>
              <a:t>Assessment 1_discussion</a:t>
            </a:r>
          </a:p>
        </p:txBody>
      </p:sp>
      <p:sp>
        <p:nvSpPr>
          <p:cNvPr id="3" name="Content Placeholder 2">
            <a:extLst>
              <a:ext uri="{FF2B5EF4-FFF2-40B4-BE49-F238E27FC236}">
                <a16:creationId xmlns:a16="http://schemas.microsoft.com/office/drawing/2014/main" id="{B683F609-1FD1-4BB4-AC79-87B5A42756CE}"/>
              </a:ext>
            </a:extLst>
          </p:cNvPr>
          <p:cNvSpPr>
            <a:spLocks noGrp="1"/>
          </p:cNvSpPr>
          <p:nvPr>
            <p:ph idx="1"/>
          </p:nvPr>
        </p:nvSpPr>
        <p:spPr/>
        <p:txBody>
          <a:bodyPr/>
          <a:lstStyle/>
          <a:p>
            <a:r>
              <a:rPr lang="en-US" dirty="0"/>
              <a:t>Discuss the assessment structure</a:t>
            </a:r>
          </a:p>
          <a:p>
            <a:r>
              <a:rPr lang="en-US" dirty="0"/>
              <a:t>Identify three business requirements</a:t>
            </a:r>
          </a:p>
          <a:p>
            <a:r>
              <a:rPr lang="en-US" dirty="0"/>
              <a:t>To identify three business requirements, students need to do small research around the chosen business, and they could find case studies of the business if not they can find similar business cases in the other businesses in the industry as well</a:t>
            </a:r>
          </a:p>
          <a:p>
            <a:r>
              <a:rPr lang="en-US" dirty="0"/>
              <a:t>You can incorporate what you have learned from the previous activity to decide the business requirements for the assessment 1</a:t>
            </a:r>
          </a:p>
        </p:txBody>
      </p:sp>
    </p:spTree>
    <p:extLst>
      <p:ext uri="{BB962C8B-B14F-4D97-AF65-F5344CB8AC3E}">
        <p14:creationId xmlns:p14="http://schemas.microsoft.com/office/powerpoint/2010/main" val="3089709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464358-414B-4BA0-37E3-D31A52BA20F6}"/>
              </a:ext>
            </a:extLst>
          </p:cNvPr>
          <p:cNvSpPr>
            <a:spLocks noGrp="1"/>
          </p:cNvSpPr>
          <p:nvPr>
            <p:ph type="title"/>
          </p:nvPr>
        </p:nvSpPr>
        <p:spPr/>
        <p:txBody>
          <a:bodyPr/>
          <a:lstStyle/>
          <a:p>
            <a:r>
              <a:rPr lang="en-US" dirty="0"/>
              <a:t>Business requirement</a:t>
            </a:r>
          </a:p>
        </p:txBody>
      </p:sp>
      <p:sp>
        <p:nvSpPr>
          <p:cNvPr id="3" name="Content Placeholder 2">
            <a:extLst>
              <a:ext uri="{FF2B5EF4-FFF2-40B4-BE49-F238E27FC236}">
                <a16:creationId xmlns:a16="http://schemas.microsoft.com/office/drawing/2014/main" id="{BBD33B5A-BDB3-C75E-21DC-1513A1C7057A}"/>
              </a:ext>
            </a:extLst>
          </p:cNvPr>
          <p:cNvSpPr>
            <a:spLocks noGrp="1"/>
          </p:cNvSpPr>
          <p:nvPr>
            <p:ph idx="1"/>
          </p:nvPr>
        </p:nvSpPr>
        <p:spPr/>
        <p:txBody>
          <a:bodyPr>
            <a:normAutofit fontScale="92500" lnSpcReduction="20000"/>
          </a:bodyPr>
          <a:lstStyle/>
          <a:p>
            <a:r>
              <a:rPr lang="en-US" dirty="0"/>
              <a:t>What is a business requirement?</a:t>
            </a:r>
          </a:p>
          <a:p>
            <a:pPr marL="0" indent="0">
              <a:buNone/>
            </a:pPr>
            <a:r>
              <a:rPr lang="en-US" dirty="0"/>
              <a:t>What a business need in order to achieve its goal, solve a problem or meet 	business objective. ( What a business want to accomplish) and how to do it. The 	business requirements could be a way of solving problem or finding opportunity to 	enhance the business</a:t>
            </a:r>
          </a:p>
          <a:p>
            <a:pPr marL="0" indent="0">
              <a:buNone/>
            </a:pPr>
            <a:r>
              <a:rPr lang="en-US" dirty="0"/>
              <a:t>Example business requirements</a:t>
            </a:r>
          </a:p>
          <a:p>
            <a:pPr lvl="1"/>
            <a:r>
              <a:rPr lang="en-US" dirty="0"/>
              <a:t>Customer insight dashboard</a:t>
            </a:r>
          </a:p>
          <a:p>
            <a:pPr lvl="1"/>
            <a:r>
              <a:rPr lang="en-US" dirty="0"/>
              <a:t>Real-time analytics dashboard	</a:t>
            </a:r>
          </a:p>
          <a:p>
            <a:pPr lvl="1"/>
            <a:r>
              <a:rPr lang="en-US" dirty="0"/>
              <a:t>Risk analysis system</a:t>
            </a:r>
          </a:p>
          <a:p>
            <a:pPr lvl="1"/>
            <a:r>
              <a:rPr lang="en-US" dirty="0"/>
              <a:t>Predictive analysis model</a:t>
            </a:r>
          </a:p>
          <a:p>
            <a:pPr lvl="1"/>
            <a:r>
              <a:rPr lang="en-US" dirty="0"/>
              <a:t>Customer churn prediction</a:t>
            </a:r>
          </a:p>
          <a:p>
            <a:pPr lvl="1"/>
            <a:endParaRPr lang="en-US" dirty="0"/>
          </a:p>
        </p:txBody>
      </p:sp>
    </p:spTree>
    <p:extLst>
      <p:ext uri="{BB962C8B-B14F-4D97-AF65-F5344CB8AC3E}">
        <p14:creationId xmlns:p14="http://schemas.microsoft.com/office/powerpoint/2010/main" val="13293949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0A441-9898-DB1D-290F-C812F95FED3B}"/>
              </a:ext>
            </a:extLst>
          </p:cNvPr>
          <p:cNvSpPr>
            <a:spLocks noGrp="1"/>
          </p:cNvSpPr>
          <p:nvPr>
            <p:ph type="title"/>
          </p:nvPr>
        </p:nvSpPr>
        <p:spPr/>
        <p:txBody>
          <a:bodyPr/>
          <a:lstStyle/>
          <a:p>
            <a:r>
              <a:rPr lang="en-US" dirty="0"/>
              <a:t>Real-time analytics dashboard</a:t>
            </a:r>
          </a:p>
        </p:txBody>
      </p:sp>
      <p:sp>
        <p:nvSpPr>
          <p:cNvPr id="3" name="Content Placeholder 2">
            <a:extLst>
              <a:ext uri="{FF2B5EF4-FFF2-40B4-BE49-F238E27FC236}">
                <a16:creationId xmlns:a16="http://schemas.microsoft.com/office/drawing/2014/main" id="{32B44F1C-CA9C-B09F-936D-D8DF7A0B0A97}"/>
              </a:ext>
            </a:extLst>
          </p:cNvPr>
          <p:cNvSpPr>
            <a:spLocks noGrp="1"/>
          </p:cNvSpPr>
          <p:nvPr>
            <p:ph idx="1"/>
          </p:nvPr>
        </p:nvSpPr>
        <p:spPr/>
        <p:txBody>
          <a:bodyPr>
            <a:normAutofit/>
          </a:bodyPr>
          <a:lstStyle/>
          <a:p>
            <a:r>
              <a:rPr lang="en-US" dirty="0"/>
              <a:t>What is it?</a:t>
            </a:r>
          </a:p>
          <a:p>
            <a:pPr lvl="1"/>
            <a:r>
              <a:rPr lang="en-US" sz="1900" dirty="0"/>
              <a:t>visual way of presenting metrics and measures, which is clear and concise, and helps understand what needs attention regardless of an organization’s size or type</a:t>
            </a:r>
          </a:p>
          <a:p>
            <a:r>
              <a:rPr lang="en-US" dirty="0"/>
              <a:t>What does it show?</a:t>
            </a:r>
          </a:p>
          <a:p>
            <a:pPr lvl="1"/>
            <a:r>
              <a:rPr lang="en-US" dirty="0"/>
              <a:t>Real time sales and inventory statistics that related to future trends</a:t>
            </a:r>
          </a:p>
          <a:p>
            <a:pPr lvl="1"/>
            <a:r>
              <a:rPr lang="en-US" dirty="0"/>
              <a:t>Customers’ reactions in real-time based on the store</a:t>
            </a:r>
          </a:p>
          <a:p>
            <a:pPr lvl="1"/>
            <a:r>
              <a:rPr lang="en-US" dirty="0"/>
              <a:t>Make easier for management to track performance</a:t>
            </a:r>
          </a:p>
          <a:p>
            <a:pPr lvl="1"/>
            <a:endParaRPr lang="en-US" dirty="0"/>
          </a:p>
          <a:p>
            <a:endParaRPr lang="en-US" dirty="0"/>
          </a:p>
        </p:txBody>
      </p:sp>
    </p:spTree>
    <p:extLst>
      <p:ext uri="{BB962C8B-B14F-4D97-AF65-F5344CB8AC3E}">
        <p14:creationId xmlns:p14="http://schemas.microsoft.com/office/powerpoint/2010/main" val="39288365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5AE0A-EA7E-5964-8E33-4D569744A91E}"/>
              </a:ext>
            </a:extLst>
          </p:cNvPr>
          <p:cNvSpPr>
            <a:spLocks noGrp="1"/>
          </p:cNvSpPr>
          <p:nvPr>
            <p:ph type="title"/>
          </p:nvPr>
        </p:nvSpPr>
        <p:spPr/>
        <p:txBody>
          <a:bodyPr/>
          <a:lstStyle/>
          <a:p>
            <a:r>
              <a:rPr lang="en-US" dirty="0"/>
              <a:t>Real-time analytics dashboard </a:t>
            </a:r>
            <a:r>
              <a:rPr lang="en-US" dirty="0" err="1"/>
              <a:t>cont</a:t>
            </a:r>
            <a:r>
              <a:rPr lang="en-US" dirty="0"/>
              <a:t>…</a:t>
            </a:r>
          </a:p>
        </p:txBody>
      </p:sp>
      <p:sp>
        <p:nvSpPr>
          <p:cNvPr id="3" name="Content Placeholder 2">
            <a:extLst>
              <a:ext uri="{FF2B5EF4-FFF2-40B4-BE49-F238E27FC236}">
                <a16:creationId xmlns:a16="http://schemas.microsoft.com/office/drawing/2014/main" id="{431D90C2-5655-48B1-239A-4FE651B428E1}"/>
              </a:ext>
            </a:extLst>
          </p:cNvPr>
          <p:cNvSpPr>
            <a:spLocks noGrp="1"/>
          </p:cNvSpPr>
          <p:nvPr>
            <p:ph idx="1"/>
          </p:nvPr>
        </p:nvSpPr>
        <p:spPr/>
        <p:txBody>
          <a:bodyPr/>
          <a:lstStyle/>
          <a:p>
            <a:r>
              <a:rPr lang="en-US" dirty="0"/>
              <a:t>How that help business?</a:t>
            </a:r>
          </a:p>
          <a:p>
            <a:pPr lvl="1"/>
            <a:r>
              <a:rPr lang="en-US" dirty="0"/>
              <a:t>Business can identify quickly moving items in the marketplace</a:t>
            </a:r>
          </a:p>
          <a:p>
            <a:pPr lvl="1"/>
            <a:r>
              <a:rPr lang="en-US" dirty="0"/>
              <a:t>Trends in certain regions and they can do changes</a:t>
            </a:r>
          </a:p>
          <a:p>
            <a:pPr lvl="1"/>
            <a:r>
              <a:rPr lang="en-US" dirty="0"/>
              <a:t>Can identify low performing stores</a:t>
            </a:r>
          </a:p>
          <a:p>
            <a:pPr lvl="1"/>
            <a:r>
              <a:rPr lang="en-US" dirty="0"/>
              <a:t>About customers such as no of visits to the site, purchases etc..</a:t>
            </a:r>
          </a:p>
          <a:p>
            <a:r>
              <a:rPr lang="en-US" dirty="0"/>
              <a:t>What limitations does it has? ???????</a:t>
            </a:r>
          </a:p>
          <a:p>
            <a:pPr marL="0" indent="0">
              <a:buNone/>
            </a:pPr>
            <a:endParaRPr lang="en-US" dirty="0"/>
          </a:p>
        </p:txBody>
      </p:sp>
    </p:spTree>
    <p:extLst>
      <p:ext uri="{BB962C8B-B14F-4D97-AF65-F5344CB8AC3E}">
        <p14:creationId xmlns:p14="http://schemas.microsoft.com/office/powerpoint/2010/main" val="39556524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34D17-F7B1-CAE1-AA66-0D5FA6CB367C}"/>
              </a:ext>
            </a:extLst>
          </p:cNvPr>
          <p:cNvSpPr>
            <a:spLocks noGrp="1"/>
          </p:cNvSpPr>
          <p:nvPr>
            <p:ph type="title"/>
          </p:nvPr>
        </p:nvSpPr>
        <p:spPr/>
        <p:txBody>
          <a:bodyPr/>
          <a:lstStyle/>
          <a:p>
            <a:r>
              <a:rPr lang="en-US" dirty="0"/>
              <a:t>Homework</a:t>
            </a:r>
          </a:p>
        </p:txBody>
      </p:sp>
      <p:sp>
        <p:nvSpPr>
          <p:cNvPr id="3" name="Content Placeholder 2">
            <a:extLst>
              <a:ext uri="{FF2B5EF4-FFF2-40B4-BE49-F238E27FC236}">
                <a16:creationId xmlns:a16="http://schemas.microsoft.com/office/drawing/2014/main" id="{2FEA0F3E-9C6C-6070-E218-F34C8A6E9EFC}"/>
              </a:ext>
            </a:extLst>
          </p:cNvPr>
          <p:cNvSpPr>
            <a:spLocks noGrp="1"/>
          </p:cNvSpPr>
          <p:nvPr>
            <p:ph idx="1"/>
          </p:nvPr>
        </p:nvSpPr>
        <p:spPr/>
        <p:txBody>
          <a:bodyPr/>
          <a:lstStyle/>
          <a:p>
            <a:pPr marL="0" indent="0">
              <a:buNone/>
            </a:pPr>
            <a:r>
              <a:rPr lang="en-US" dirty="0"/>
              <a:t>Please write the introduction, the first business problem </a:t>
            </a:r>
            <a:r>
              <a:rPr lang="en-US"/>
              <a:t>in detail </a:t>
            </a:r>
            <a:r>
              <a:rPr lang="en-US" dirty="0"/>
              <a:t>by Tuesday, week 2</a:t>
            </a:r>
          </a:p>
        </p:txBody>
      </p:sp>
    </p:spTree>
    <p:extLst>
      <p:ext uri="{BB962C8B-B14F-4D97-AF65-F5344CB8AC3E}">
        <p14:creationId xmlns:p14="http://schemas.microsoft.com/office/powerpoint/2010/main" val="1527159665"/>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A745118A9622149A790377BFABE5B8A" ma:contentTypeVersion="3" ma:contentTypeDescription="Create a new document." ma:contentTypeScope="" ma:versionID="0bc7418c73574b25ee8185ea5b819859">
  <xsd:schema xmlns:xsd="http://www.w3.org/2001/XMLSchema" xmlns:xs="http://www.w3.org/2001/XMLSchema" xmlns:p="http://schemas.microsoft.com/office/2006/metadata/properties" xmlns:ns2="d72b7a45-be93-4df5-ba42-beaf4feb3dda" targetNamespace="http://schemas.microsoft.com/office/2006/metadata/properties" ma:root="true" ma:fieldsID="091d8e3fa9d3db05dd827e22921cf93b" ns2:_="">
    <xsd:import namespace="d72b7a45-be93-4df5-ba42-beaf4feb3dda"/>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72b7a45-be93-4df5-ba42-beaf4feb3dd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F78E3AD-44F4-4F1E-A376-B0E88A8417A1}"/>
</file>

<file path=customXml/itemProps2.xml><?xml version="1.0" encoding="utf-8"?>
<ds:datastoreItem xmlns:ds="http://schemas.openxmlformats.org/officeDocument/2006/customXml" ds:itemID="{146DFBFB-4955-47DB-B831-5FDB180F7C14}"/>
</file>

<file path=customXml/itemProps3.xml><?xml version="1.0" encoding="utf-8"?>
<ds:datastoreItem xmlns:ds="http://schemas.openxmlformats.org/officeDocument/2006/customXml" ds:itemID="{18CA26C9-4D89-4813-9952-FB38CC2E2574}"/>
</file>

<file path=docProps/app.xml><?xml version="1.0" encoding="utf-8"?>
<Properties xmlns="http://schemas.openxmlformats.org/officeDocument/2006/extended-properties" xmlns:vt="http://schemas.openxmlformats.org/officeDocument/2006/docPropsVTypes">
  <Template>Gallery</Template>
  <TotalTime>1118</TotalTime>
  <Words>419</Words>
  <Application>Microsoft Office PowerPoint</Application>
  <PresentationFormat>Widescreen</PresentationFormat>
  <Paragraphs>44</Paragraphs>
  <Slides>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Gill Sans MT</vt:lpstr>
      <vt:lpstr>Gallery</vt:lpstr>
      <vt:lpstr>Business Intelligence</vt:lpstr>
      <vt:lpstr>Week 1_Day_2_What is Business Intelligence?</vt:lpstr>
      <vt:lpstr>Activity based on the teaching</vt:lpstr>
      <vt:lpstr>Assessment 1_discussion</vt:lpstr>
      <vt:lpstr>Business requirement</vt:lpstr>
      <vt:lpstr>Real-time analytics dashboard</vt:lpstr>
      <vt:lpstr>Real-time analytics dashboard cont…</vt:lpstr>
      <vt:lpstr>Homework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Nishika Jayasinghe</dc:creator>
  <cp:lastModifiedBy>Nishika Jayasinghe</cp:lastModifiedBy>
  <cp:revision>1</cp:revision>
  <dcterms:created xsi:type="dcterms:W3CDTF">2025-04-27T11:22:21Z</dcterms:created>
  <dcterms:modified xsi:type="dcterms:W3CDTF">2025-05-01T10:27:22Z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0x010100EA745118A9622149A790377BFABE5B8A</vt:lpwstr>
  </property>
</Properties>
</file>