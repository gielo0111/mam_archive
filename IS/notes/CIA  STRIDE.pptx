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92C4-B4A2-EA57-ACA4-AE664BA31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5AC7C-26E1-7625-4991-26B4C60B9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36C8-AEE0-012F-8B6F-1DDE470BD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20CFD-FBBE-7015-EC5E-0C25BD28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3AC80-6154-B2CF-B360-691329CB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3961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F0AF-9E47-8AAE-C2B8-A59EF864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AACD3-B04F-7F91-1AAD-284DFE430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2DB84-A6BB-5CF8-2AAC-9B1A5AEA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0AA4A-8CB2-10F6-3194-77AB0ADE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3D790-4528-E5DE-367B-60A3F23E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0778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44B5-865F-A3FE-4534-E83A3391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5F385-2647-5EDF-933E-547D03885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FB24B-1754-C390-B8E4-9D945FEA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A903F-815B-15A6-ECF4-A7555332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B572B-970B-6807-06E3-80BB75CC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3701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9514-F8D0-2567-5651-8610F978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0AA0-4CD5-C4FE-D277-4263FE751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5A39B-1F5D-F50D-CD18-BAC6A1F9D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D8E36-3EB2-6424-DBA6-0663CE604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2B064-9C27-4E2F-0D68-9858EF87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219EE-5929-74CE-BE05-F521D536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036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3993-D675-0D65-A950-CC45ED1E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9C244-1BAB-0B44-3C9D-60C85F14D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86E04-35CD-4B1F-11D2-E994C1714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0BDD4-ED6F-E247-1736-37B38CEF7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73997-D309-168C-D0EA-B5BD09868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3D9E9-A7D6-858E-ABD1-B3C39851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20CD39-B8B9-5C5D-F372-80089FB4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8D8030-0C7C-15C1-9CE1-F32CE835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6879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B4CD-B932-73CE-DBED-72D3C4D0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D6253-7F10-9B8A-E7BA-4D38EF5D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7256C-73F1-F7E3-6B60-59C86EC9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40C74-85DB-E207-AED3-CE5F4969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2137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CF6C3-7DFF-583D-3C3A-E14FEC00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E9C05B-7D7B-0B0C-C19A-D86541E4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5DE6-DA6B-765A-BF0E-A172B7A1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8258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4983-76A4-0C0F-D017-0D693AC8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E4BAF-E3C3-1D54-5BBF-9B877B38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41733-0F32-FCE0-AF54-BB5CFFCD4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5299B-0AFB-48A2-4B5F-2B172F9E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44DAA-7FD7-9141-6C4B-61CD2419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7A97B-CE07-59D7-12FD-D7608340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5255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EFF3-D22E-6AC8-D3D8-608CC659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457630-68FC-C8D8-8104-7AA8589B3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DB90F-0E14-CF76-7964-D59FEE4E0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6C675-47A5-2BC1-0311-9A0C96587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F824C-A6EB-505A-31C8-F3F6F8D8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07EEB-98C8-1E34-C7E4-CD08495A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70844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9D13-A73F-93F1-B5DA-162FE9CD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28894-E91A-BC1F-FFDB-EF682849E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965A7-CDF3-6F27-75A2-7FFC4D09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DBE97-429A-AA07-C584-12170541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9987-3987-689F-A022-6300F4C2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3824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195E6A-F133-9DCE-6655-FDB1EE246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BC99E-5BFD-0441-D697-8267CEE97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7A27D-9C0B-9BA0-FC39-A5BE20DA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B074A-A272-A32C-6C37-166F1970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0095B-83B6-78B7-FBA4-9DA508D6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4138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06ED0-150A-A14B-5B39-893D52A91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001DA-DFD9-7A9A-E3B0-69F9B05A8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952A6-C182-5168-C756-5E6A17888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58ED1-C321-46B6-BEFD-E26703E84350}" type="datetimeFigureOut">
              <a:rPr lang="en-NZ" smtClean="0"/>
              <a:t>12/02/2026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22E13-076A-3B3C-0B73-67F9A52B7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A8006-F38C-4316-C231-013B86F5A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4438B-7AD0-429E-9000-6F7252E174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523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3DF6B-9B3B-F165-FA3A-940CF3FD6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NZ" sz="4800">
                <a:solidFill>
                  <a:srgbClr val="FFFFFF"/>
                </a:solidFill>
              </a:rPr>
              <a:t>CIA &amp; STRIDE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5381F-90DD-7145-ED94-5905F0BF1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endParaRPr lang="en-N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17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FCECE-CAB8-57C0-87E8-22D8C8B27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NZ" sz="4000">
                <a:solidFill>
                  <a:srgbClr val="FFFFFF"/>
                </a:solidFill>
              </a:rPr>
              <a:t>CIA &amp; STRIDE (fundamentals)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D853-BB22-0002-7BB5-2A4100D68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NZ" sz="2000"/>
              <a:t>Information security frameworks help organisations identify </a:t>
            </a:r>
            <a:r>
              <a:rPr lang="en-NZ" sz="2000" i="1"/>
              <a:t>what to protect</a:t>
            </a:r>
            <a:r>
              <a:rPr lang="en-NZ" sz="2000"/>
              <a:t> and </a:t>
            </a:r>
            <a:r>
              <a:rPr lang="en-NZ" sz="2000" i="1"/>
              <a:t>how attacks happen</a:t>
            </a:r>
            <a:r>
              <a:rPr lang="en-NZ" sz="2000"/>
              <a:t>. Two foundational frameworks </a:t>
            </a:r>
          </a:p>
          <a:p>
            <a:pPr marL="0" indent="0">
              <a:buNone/>
            </a:pPr>
            <a:endParaRPr lang="en-NZ" sz="2000"/>
          </a:p>
          <a:p>
            <a:pPr>
              <a:buFont typeface="+mj-lt"/>
              <a:buAutoNum type="arabicPeriod"/>
            </a:pPr>
            <a:r>
              <a:rPr lang="en-NZ" sz="2000" b="1"/>
              <a:t>CIA Triad</a:t>
            </a:r>
            <a:r>
              <a:rPr lang="en-NZ" sz="2000"/>
              <a:t> – Security objectives</a:t>
            </a:r>
          </a:p>
          <a:p>
            <a:pPr lvl="1">
              <a:buFont typeface="+mj-lt"/>
              <a:buAutoNum type="arabicPeriod"/>
            </a:pPr>
            <a:r>
              <a:rPr lang="en-NZ" sz="2000"/>
              <a:t>No single creator. Gradually developed from the 1970’s formed in military and government. </a:t>
            </a:r>
          </a:p>
          <a:p>
            <a:pPr>
              <a:buFont typeface="+mj-lt"/>
              <a:buAutoNum type="arabicPeriod"/>
            </a:pPr>
            <a:r>
              <a:rPr lang="en-NZ" sz="2000" b="1"/>
              <a:t>STRIDE Model</a:t>
            </a:r>
            <a:r>
              <a:rPr lang="en-NZ" sz="2000"/>
              <a:t> – Threat classification</a:t>
            </a:r>
          </a:p>
          <a:p>
            <a:pPr lvl="1">
              <a:buFont typeface="+mj-lt"/>
              <a:buAutoNum type="arabicPeriod"/>
            </a:pPr>
            <a:r>
              <a:rPr lang="en-NZ" sz="2000"/>
              <a:t>Created in the late 1990s by Loren Kohnfelder and Praerit Garg as part of Microsoft’s internal security engineering work.</a:t>
            </a:r>
          </a:p>
          <a:p>
            <a:endParaRPr lang="en-NZ" sz="2000"/>
          </a:p>
        </p:txBody>
      </p:sp>
    </p:spTree>
    <p:extLst>
      <p:ext uri="{BB962C8B-B14F-4D97-AF65-F5344CB8AC3E}">
        <p14:creationId xmlns:p14="http://schemas.microsoft.com/office/powerpoint/2010/main" val="1948911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22D77-DCA3-B416-BE9F-8C5A33A67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NZ" sz="4000">
                <a:solidFill>
                  <a:srgbClr val="FFFFFF"/>
                </a:solidFill>
              </a:rPr>
              <a:t>CIA &amp; STRIDE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C8DB5-662B-E9AB-A215-826D4D93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NZ" sz="2000"/>
              <a:t>STRIDE and the CIA triad work together because they sit at different layers: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2000" b="1"/>
              <a:t>CIA (Confidentiality, Integrity, Availability)</a:t>
            </a:r>
            <a:r>
              <a:rPr lang="en-NZ" sz="2000"/>
              <a:t> is a </a:t>
            </a:r>
            <a:r>
              <a:rPr lang="en-NZ" sz="2000" b="1"/>
              <a:t>set of security objectives</a:t>
            </a:r>
            <a:r>
              <a:rPr lang="en-NZ" sz="2000"/>
              <a:t> (what you’re trying to protect / preserve).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2000" b="1"/>
              <a:t>STRIDE (Spoofing, Tampering, Repudiation, Information Disclosure, Denial of Service, Elevation of Privilege)</a:t>
            </a:r>
            <a:r>
              <a:rPr lang="en-NZ" sz="2000"/>
              <a:t> is a </a:t>
            </a:r>
            <a:r>
              <a:rPr lang="en-NZ" sz="2000" b="1"/>
              <a:t>threat classification framework</a:t>
            </a:r>
            <a:r>
              <a:rPr lang="en-NZ" sz="2000"/>
              <a:t> (the main </a:t>
            </a:r>
            <a:r>
              <a:rPr lang="en-NZ" sz="2000" i="1"/>
              <a:t>types of things that can go wrong</a:t>
            </a:r>
            <a:r>
              <a:rPr lang="en-NZ" sz="2000"/>
              <a:t>, used heavily in design-time threat modeling). Microsoft explicitly uses STRIDE this way in their threat modeling guidance/tooling.</a:t>
            </a:r>
          </a:p>
          <a:p>
            <a:endParaRPr lang="en-NZ" sz="2000"/>
          </a:p>
        </p:txBody>
      </p:sp>
    </p:spTree>
    <p:extLst>
      <p:ext uri="{BB962C8B-B14F-4D97-AF65-F5344CB8AC3E}">
        <p14:creationId xmlns:p14="http://schemas.microsoft.com/office/powerpoint/2010/main" val="171020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4A853-A535-51DA-2E1A-324F59F0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Z" sz="4000">
                <a:solidFill>
                  <a:srgbClr val="FFFFFF"/>
                </a:solidFill>
              </a:rPr>
              <a:t>FutureSkills mapping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7E5F4-6201-92D6-5B0B-3B00823FE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Z" sz="1100"/>
              <a:t>They sit at different phases of security engineering but complement each other.</a:t>
            </a:r>
          </a:p>
          <a:p>
            <a:pPr marL="0" indent="0">
              <a:buNone/>
            </a:pPr>
            <a:r>
              <a:rPr lang="en-NZ" sz="1100" b="1"/>
              <a:t>1. CIA Triad – What It Is</a:t>
            </a:r>
          </a:p>
          <a:p>
            <a:r>
              <a:rPr lang="en-NZ" sz="1100"/>
              <a:t>The CIA triad is a conceptual model that defines the </a:t>
            </a:r>
            <a:r>
              <a:rPr lang="en-NZ" sz="1100" i="1"/>
              <a:t>core security goals</a:t>
            </a:r>
            <a:r>
              <a:rPr lang="en-NZ" sz="1100"/>
              <a:t> a system must protect: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Confidentiality</a:t>
            </a:r>
            <a:r>
              <a:rPr lang="en-NZ" sz="1100"/>
              <a:t> — Prevent unauthorised disclosure of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Integrity</a:t>
            </a:r>
            <a:r>
              <a:rPr lang="en-NZ" sz="1100"/>
              <a:t> — Prevent unauthorised modification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Availability</a:t>
            </a:r>
            <a:r>
              <a:rPr lang="en-NZ" sz="1100"/>
              <a:t> — Ensure systems and information are accessible when needed.</a:t>
            </a:r>
          </a:p>
          <a:p>
            <a:pPr marL="0" indent="0">
              <a:buNone/>
            </a:pPr>
            <a:r>
              <a:rPr lang="en-NZ" sz="1100"/>
              <a:t>These are </a:t>
            </a:r>
            <a:r>
              <a:rPr lang="en-NZ" sz="1100" i="1"/>
              <a:t>organisational security goals</a:t>
            </a:r>
            <a:r>
              <a:rPr lang="en-NZ" sz="1100"/>
              <a:t>, and help prioritise where resources should be focused (e.g., student records require high confidentiality; learning systems need high availability).</a:t>
            </a:r>
          </a:p>
          <a:p>
            <a:pPr marL="0" indent="0">
              <a:buNone/>
            </a:pPr>
            <a:r>
              <a:rPr lang="en-NZ" sz="1100" b="1"/>
              <a:t>2. STRIDE – What It Is</a:t>
            </a:r>
          </a:p>
          <a:p>
            <a:r>
              <a:rPr lang="en-NZ" sz="1100"/>
              <a:t>STRIDE is a </a:t>
            </a:r>
            <a:r>
              <a:rPr lang="en-NZ" sz="1100" b="1"/>
              <a:t>threat categorisation model</a:t>
            </a:r>
            <a:r>
              <a:rPr lang="en-NZ" sz="1100"/>
              <a:t> developed by Microsoft to systematically identify possible threats when analysing a system architecture: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S – Spoofing</a:t>
            </a:r>
            <a:r>
              <a:rPr lang="en-NZ" sz="1100"/>
              <a:t> (pretending to be someone else)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T – Tampering</a:t>
            </a:r>
            <a:r>
              <a:rPr lang="en-NZ" sz="1100"/>
              <a:t> (modifying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R – Repudiation</a:t>
            </a:r>
            <a:r>
              <a:rPr lang="en-NZ" sz="1100"/>
              <a:t> (denying an action)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I – Information Disclosure</a:t>
            </a:r>
            <a:r>
              <a:rPr lang="en-NZ" sz="1100"/>
              <a:t> (unauthorised access to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D – Denial of Service</a:t>
            </a:r>
            <a:r>
              <a:rPr lang="en-NZ" sz="1100"/>
              <a:t> (blocking access)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1100" b="1"/>
              <a:t>E – Elevation of Privilege</a:t>
            </a:r>
            <a:r>
              <a:rPr lang="en-NZ" sz="1100"/>
              <a:t> (gaining higher access)</a:t>
            </a:r>
          </a:p>
          <a:p>
            <a:pPr marL="0" indent="0">
              <a:buNone/>
            </a:pPr>
            <a:r>
              <a:rPr lang="en-NZ" sz="1100"/>
              <a:t>STRIDE is commonly used in </a:t>
            </a:r>
            <a:r>
              <a:rPr lang="en-NZ" sz="1100" b="1"/>
              <a:t>threat modelling</a:t>
            </a:r>
            <a:r>
              <a:rPr lang="en-NZ" sz="1100"/>
              <a:t> – a structured method for mapping out security threats during design or assessment.</a:t>
            </a:r>
          </a:p>
        </p:txBody>
      </p:sp>
    </p:spTree>
    <p:extLst>
      <p:ext uri="{BB962C8B-B14F-4D97-AF65-F5344CB8AC3E}">
        <p14:creationId xmlns:p14="http://schemas.microsoft.com/office/powerpoint/2010/main" val="263074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482E5-1453-81A5-D1B4-0DB17FD3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Z" sz="4000">
                <a:solidFill>
                  <a:srgbClr val="FFFFFF"/>
                </a:solidFill>
              </a:rPr>
              <a:t>FutureSkills mapping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70D95-BEE6-02AD-539A-359FB4831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649480"/>
            <a:ext cx="747332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Z" sz="2000" dirty="0"/>
              <a:t>CIA Sets the Security Goals</a:t>
            </a:r>
          </a:p>
          <a:p>
            <a:pPr marL="0" indent="0">
              <a:buNone/>
            </a:pPr>
            <a:r>
              <a:rPr lang="en-NZ" sz="2000" dirty="0"/>
              <a:t>Before you analyse threats, you must define what matters most:</a:t>
            </a:r>
          </a:p>
          <a:p>
            <a:r>
              <a:rPr lang="en-NZ" sz="2000" dirty="0" err="1"/>
              <a:t>ConfidentialityHigh</a:t>
            </a:r>
            <a:r>
              <a:rPr lang="en-NZ" sz="2000" dirty="0"/>
              <a:t> — student data, grades, staff records</a:t>
            </a:r>
          </a:p>
          <a:p>
            <a:r>
              <a:rPr lang="en-NZ" sz="2000" dirty="0"/>
              <a:t>Integrity	High — assessment marks, learning outcomes</a:t>
            </a:r>
          </a:p>
          <a:p>
            <a:r>
              <a:rPr lang="en-NZ" sz="2000" dirty="0"/>
              <a:t>Availability	High — eLearning systems, enrolment portals</a:t>
            </a:r>
          </a:p>
        </p:txBody>
      </p:sp>
    </p:spTree>
    <p:extLst>
      <p:ext uri="{BB962C8B-B14F-4D97-AF65-F5344CB8AC3E}">
        <p14:creationId xmlns:p14="http://schemas.microsoft.com/office/powerpoint/2010/main" val="3647641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5BCF7-4354-0A0A-286F-5213AE28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761E9-78AA-8817-3473-CF6D5193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FutureSkills mapping example</a:t>
            </a:r>
            <a:b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mapping STRIDE to CIA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7236B18-CCD7-9962-301D-3ADDE0265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726671"/>
              </p:ext>
            </p:extLst>
          </p:nvPr>
        </p:nvGraphicFramePr>
        <p:xfrm>
          <a:off x="470266" y="1966293"/>
          <a:ext cx="11251469" cy="445216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89854">
                  <a:extLst>
                    <a:ext uri="{9D8B030D-6E8A-4147-A177-3AD203B41FA5}">
                      <a16:colId xmlns:a16="http://schemas.microsoft.com/office/drawing/2014/main" val="134725997"/>
                    </a:ext>
                  </a:extLst>
                </a:gridCol>
                <a:gridCol w="3375814">
                  <a:extLst>
                    <a:ext uri="{9D8B030D-6E8A-4147-A177-3AD203B41FA5}">
                      <a16:colId xmlns:a16="http://schemas.microsoft.com/office/drawing/2014/main" val="4229691331"/>
                    </a:ext>
                  </a:extLst>
                </a:gridCol>
                <a:gridCol w="4785801">
                  <a:extLst>
                    <a:ext uri="{9D8B030D-6E8A-4147-A177-3AD203B41FA5}">
                      <a16:colId xmlns:a16="http://schemas.microsoft.com/office/drawing/2014/main" val="2972950033"/>
                    </a:ext>
                  </a:extLst>
                </a:gridCol>
              </a:tblGrid>
              <a:tr h="636023"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STRIDE Category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CIA Property Impacted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794933"/>
                  </a:ext>
                </a:extLst>
              </a:tr>
              <a:tr h="636023"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Information Disclosure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b="1" cap="none" spc="0">
                          <a:solidFill>
                            <a:schemeClr val="tx1"/>
                          </a:solidFill>
                        </a:rPr>
                        <a:t>Confidentiality</a:t>
                      </a:r>
                      <a:endParaRPr lang="en-NZ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Leak of student records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939843"/>
                  </a:ext>
                </a:extLst>
              </a:tr>
              <a:tr h="636023"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Tampering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b="1" cap="none" spc="0">
                          <a:solidFill>
                            <a:schemeClr val="tx1"/>
                          </a:solidFill>
                        </a:rPr>
                        <a:t>Integrity</a:t>
                      </a:r>
                      <a:endParaRPr lang="en-NZ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Alteration of grades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74017"/>
                  </a:ext>
                </a:extLst>
              </a:tr>
              <a:tr h="636023"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Denial of Service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b="1" cap="none" spc="0">
                          <a:solidFill>
                            <a:schemeClr val="tx1"/>
                          </a:solidFill>
                        </a:rPr>
                        <a:t>Availability</a:t>
                      </a:r>
                      <a:endParaRPr lang="en-NZ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Portal unavailable during enrolments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176877"/>
                  </a:ext>
                </a:extLst>
              </a:tr>
              <a:tr h="636023"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Spoofing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Authentication problem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Fake login as staff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151481"/>
                  </a:ext>
                </a:extLst>
              </a:tr>
              <a:tr h="636023"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Repudiation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Non-repudiation problem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User denies changing grades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701460"/>
                  </a:ext>
                </a:extLst>
              </a:tr>
              <a:tr h="636023"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Elevation of Privilege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b="1" cap="none" spc="0">
                          <a:solidFill>
                            <a:schemeClr val="tx1"/>
                          </a:solidFill>
                        </a:rPr>
                        <a:t>Authorization, Integrity</a:t>
                      </a:r>
                      <a:endParaRPr lang="en-NZ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sz="2100" cap="none" spc="0">
                          <a:solidFill>
                            <a:schemeClr val="tx1"/>
                          </a:solidFill>
                        </a:rPr>
                        <a:t>Student becomes admin</a:t>
                      </a:r>
                    </a:p>
                  </a:txBody>
                  <a:tcPr marL="114158" marR="81541" marT="81541" marB="1630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928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23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473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CIA &amp; STRIDE</vt:lpstr>
      <vt:lpstr>CIA &amp; STRIDE (fundamentals)</vt:lpstr>
      <vt:lpstr>CIA &amp; STRIDE</vt:lpstr>
      <vt:lpstr>FutureSkills mapping example</vt:lpstr>
      <vt:lpstr>FutureSkills mapping example</vt:lpstr>
      <vt:lpstr>FutureSkills mapping example mapping STRIDE to CIA</vt:lpstr>
    </vt:vector>
  </TitlesOfParts>
  <Company>Otago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Lorraine Skelton</dc:creator>
  <cp:lastModifiedBy>Lorraine Skelton</cp:lastModifiedBy>
  <cp:revision>1</cp:revision>
  <dcterms:created xsi:type="dcterms:W3CDTF">2026-02-11T19:20:45Z</dcterms:created>
  <dcterms:modified xsi:type="dcterms:W3CDTF">2026-02-11T19:34:07Z</dcterms:modified>
</cp:coreProperties>
</file>