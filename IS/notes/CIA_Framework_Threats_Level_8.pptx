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7231" autoAdjust="0"/>
  </p:normalViewPr>
  <p:slideViewPr>
    <p:cSldViewPr snapToGrid="0" snapToObjects="1">
      <p:cViewPr varScale="1">
        <p:scale>
          <a:sx n="39" d="100"/>
          <a:sy n="39" d="100"/>
        </p:scale>
        <p:origin x="36" y="6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raine Skelton" userId="ec6c841dfec92b78" providerId="LiveId" clId="{807816C0-84A9-4B32-9731-E95A4916DECD}"/>
    <pc:docChg chg="custSel addSld modSld">
      <pc:chgData name="Lorraine Skelton" userId="ec6c841dfec92b78" providerId="LiveId" clId="{807816C0-84A9-4B32-9731-E95A4916DECD}" dt="2026-02-09T06:09:13" v="19" actId="26606"/>
      <pc:docMkLst>
        <pc:docMk/>
      </pc:docMkLst>
      <pc:sldChg chg="addSp delSp modSp new mod setBg">
        <pc:chgData name="Lorraine Skelton" userId="ec6c841dfec92b78" providerId="LiveId" clId="{807816C0-84A9-4B32-9731-E95A4916DECD}" dt="2026-02-09T06:09:13" v="19" actId="26606"/>
        <pc:sldMkLst>
          <pc:docMk/>
          <pc:sldMk cId="3761249447" sldId="260"/>
        </pc:sldMkLst>
        <pc:spChg chg="mod">
          <ac:chgData name="Lorraine Skelton" userId="ec6c841dfec92b78" providerId="LiveId" clId="{807816C0-84A9-4B32-9731-E95A4916DECD}" dt="2026-02-09T06:09:13" v="19" actId="26606"/>
          <ac:spMkLst>
            <pc:docMk/>
            <pc:sldMk cId="3761249447" sldId="260"/>
            <ac:spMk id="2" creationId="{16555A98-A5F1-77BE-B2FA-EBFC031ED6D6}"/>
          </ac:spMkLst>
        </pc:spChg>
        <pc:spChg chg="del">
          <ac:chgData name="Lorraine Skelton" userId="ec6c841dfec92b78" providerId="LiveId" clId="{807816C0-84A9-4B32-9731-E95A4916DECD}" dt="2026-02-09T06:08:54.928" v="1" actId="22"/>
          <ac:spMkLst>
            <pc:docMk/>
            <pc:sldMk cId="3761249447" sldId="260"/>
            <ac:spMk id="3" creationId="{32C5DD36-3C7D-3330-586E-7AE209A6E125}"/>
          </ac:spMkLst>
        </pc:spChg>
        <pc:spChg chg="add">
          <ac:chgData name="Lorraine Skelton" userId="ec6c841dfec92b78" providerId="LiveId" clId="{807816C0-84A9-4B32-9731-E95A4916DECD}" dt="2026-02-09T06:09:13" v="19" actId="26606"/>
          <ac:spMkLst>
            <pc:docMk/>
            <pc:sldMk cId="3761249447" sldId="260"/>
            <ac:spMk id="10" creationId="{A4AC5506-6312-4701-8D3C-40187889A947}"/>
          </ac:spMkLst>
        </pc:spChg>
        <pc:picChg chg="add mod ord">
          <ac:chgData name="Lorraine Skelton" userId="ec6c841dfec92b78" providerId="LiveId" clId="{807816C0-84A9-4B32-9731-E95A4916DECD}" dt="2026-02-09T06:09:13" v="19" actId="26606"/>
          <ac:picMkLst>
            <pc:docMk/>
            <pc:sldMk cId="3761249447" sldId="260"/>
            <ac:picMk id="5" creationId="{F0CD6C7B-A167-81E3-7108-3DA16495988A}"/>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3667F9-6261-4570-8D29-A454A0E4EBDE}" type="doc">
      <dgm:prSet loTypeId="urn:microsoft.com/office/officeart/2005/8/layout/default" loCatId="list" qsTypeId="urn:microsoft.com/office/officeart/2005/8/quickstyle/simple5" qsCatId="simple" csTypeId="urn:microsoft.com/office/officeart/2005/8/colors/colorful2" csCatId="colorful" phldr="1"/>
      <dgm:spPr/>
      <dgm:t>
        <a:bodyPr/>
        <a:lstStyle/>
        <a:p>
          <a:endParaRPr lang="en-US"/>
        </a:p>
      </dgm:t>
    </dgm:pt>
    <dgm:pt modelId="{772EF8A4-DD6A-4CBF-A85B-E1C48CD5E813}">
      <dgm:prSet/>
      <dgm:spPr>
        <a:solidFill>
          <a:schemeClr val="tx2"/>
        </a:solidFill>
      </dgm:spPr>
      <dgm:t>
        <a:bodyPr/>
        <a:lstStyle/>
        <a:p>
          <a:r>
            <a:rPr lang="en-US"/>
            <a:t>Confidentiality – Prevents unauthorised access to information</a:t>
          </a:r>
        </a:p>
      </dgm:t>
    </dgm:pt>
    <dgm:pt modelId="{8840356E-BA12-4957-825F-9FF36F871A40}" type="parTrans" cxnId="{A7439FD8-6C04-417D-8629-FAD5F197EE88}">
      <dgm:prSet/>
      <dgm:spPr/>
      <dgm:t>
        <a:bodyPr/>
        <a:lstStyle/>
        <a:p>
          <a:endParaRPr lang="en-US"/>
        </a:p>
      </dgm:t>
    </dgm:pt>
    <dgm:pt modelId="{701535F0-280B-45D0-8AFF-19E236F489FB}" type="sibTrans" cxnId="{A7439FD8-6C04-417D-8629-FAD5F197EE88}">
      <dgm:prSet/>
      <dgm:spPr/>
      <dgm:t>
        <a:bodyPr/>
        <a:lstStyle/>
        <a:p>
          <a:endParaRPr lang="en-US"/>
        </a:p>
      </dgm:t>
    </dgm:pt>
    <dgm:pt modelId="{A5E1E201-62BD-412B-B2E1-A4A7B426ECA8}">
      <dgm:prSet/>
      <dgm:spPr>
        <a:solidFill>
          <a:schemeClr val="tx2"/>
        </a:solidFill>
      </dgm:spPr>
      <dgm:t>
        <a:bodyPr/>
        <a:lstStyle/>
        <a:p>
          <a:r>
            <a:rPr lang="en-US"/>
            <a:t>Integrity – Protects accuracy and completeness of information</a:t>
          </a:r>
        </a:p>
      </dgm:t>
    </dgm:pt>
    <dgm:pt modelId="{FAC0D21A-CE85-4A49-9E15-E54B753CEE62}" type="parTrans" cxnId="{57C6FCBF-9AE9-4576-B8B5-460C916E2903}">
      <dgm:prSet/>
      <dgm:spPr/>
      <dgm:t>
        <a:bodyPr/>
        <a:lstStyle/>
        <a:p>
          <a:endParaRPr lang="en-US"/>
        </a:p>
      </dgm:t>
    </dgm:pt>
    <dgm:pt modelId="{231EAA0E-187D-4B03-A8F2-A0F9E2C44719}" type="sibTrans" cxnId="{57C6FCBF-9AE9-4576-B8B5-460C916E2903}">
      <dgm:prSet/>
      <dgm:spPr/>
      <dgm:t>
        <a:bodyPr/>
        <a:lstStyle/>
        <a:p>
          <a:endParaRPr lang="en-US"/>
        </a:p>
      </dgm:t>
    </dgm:pt>
    <dgm:pt modelId="{482F096C-6D7B-413D-82BF-EE03A8149BB8}">
      <dgm:prSet/>
      <dgm:spPr>
        <a:solidFill>
          <a:schemeClr val="tx2"/>
        </a:solidFill>
      </dgm:spPr>
      <dgm:t>
        <a:bodyPr/>
        <a:lstStyle/>
        <a:p>
          <a:r>
            <a:rPr lang="en-US"/>
            <a:t>Availability – Ensures systems and data are accessible when required</a:t>
          </a:r>
        </a:p>
      </dgm:t>
    </dgm:pt>
    <dgm:pt modelId="{833CE395-843F-42F7-95E1-3D581007D935}" type="parTrans" cxnId="{87FC06B4-4901-452F-B81D-212402BA75B0}">
      <dgm:prSet/>
      <dgm:spPr/>
      <dgm:t>
        <a:bodyPr/>
        <a:lstStyle/>
        <a:p>
          <a:endParaRPr lang="en-US"/>
        </a:p>
      </dgm:t>
    </dgm:pt>
    <dgm:pt modelId="{93C1A903-A3AA-4351-B3CF-9D4D1E59F746}" type="sibTrans" cxnId="{87FC06B4-4901-452F-B81D-212402BA75B0}">
      <dgm:prSet/>
      <dgm:spPr/>
      <dgm:t>
        <a:bodyPr/>
        <a:lstStyle/>
        <a:p>
          <a:endParaRPr lang="en-US"/>
        </a:p>
      </dgm:t>
    </dgm:pt>
    <dgm:pt modelId="{B9B24145-8E3B-4588-B5CA-791BA9CF0729}" type="pres">
      <dgm:prSet presAssocID="{B93667F9-6261-4570-8D29-A454A0E4EBDE}" presName="diagram" presStyleCnt="0">
        <dgm:presLayoutVars>
          <dgm:dir/>
          <dgm:resizeHandles val="exact"/>
        </dgm:presLayoutVars>
      </dgm:prSet>
      <dgm:spPr/>
    </dgm:pt>
    <dgm:pt modelId="{B53B29B8-CC8B-4A9A-9DFB-C9164DDFF744}" type="pres">
      <dgm:prSet presAssocID="{772EF8A4-DD6A-4CBF-A85B-E1C48CD5E813}" presName="node" presStyleLbl="node1" presStyleIdx="0" presStyleCnt="3">
        <dgm:presLayoutVars>
          <dgm:bulletEnabled val="1"/>
        </dgm:presLayoutVars>
      </dgm:prSet>
      <dgm:spPr/>
    </dgm:pt>
    <dgm:pt modelId="{89862DEC-5194-4D96-8FA1-5CE23664681E}" type="pres">
      <dgm:prSet presAssocID="{701535F0-280B-45D0-8AFF-19E236F489FB}" presName="sibTrans" presStyleCnt="0"/>
      <dgm:spPr/>
    </dgm:pt>
    <dgm:pt modelId="{66B6A5D5-1410-4B37-8039-7569D6FC1099}" type="pres">
      <dgm:prSet presAssocID="{A5E1E201-62BD-412B-B2E1-A4A7B426ECA8}" presName="node" presStyleLbl="node1" presStyleIdx="1" presStyleCnt="3">
        <dgm:presLayoutVars>
          <dgm:bulletEnabled val="1"/>
        </dgm:presLayoutVars>
      </dgm:prSet>
      <dgm:spPr/>
    </dgm:pt>
    <dgm:pt modelId="{467E2708-86FD-4A61-917F-D03AC9F0F2FF}" type="pres">
      <dgm:prSet presAssocID="{231EAA0E-187D-4B03-A8F2-A0F9E2C44719}" presName="sibTrans" presStyleCnt="0"/>
      <dgm:spPr/>
    </dgm:pt>
    <dgm:pt modelId="{4ABA7735-F847-41C6-8A9D-7A8E112B965A}" type="pres">
      <dgm:prSet presAssocID="{482F096C-6D7B-413D-82BF-EE03A8149BB8}" presName="node" presStyleLbl="node1" presStyleIdx="2" presStyleCnt="3">
        <dgm:presLayoutVars>
          <dgm:bulletEnabled val="1"/>
        </dgm:presLayoutVars>
      </dgm:prSet>
      <dgm:spPr/>
    </dgm:pt>
  </dgm:ptLst>
  <dgm:cxnLst>
    <dgm:cxn modelId="{23EA9903-2356-434B-9370-7410DBBFB4CE}" type="presOf" srcId="{482F096C-6D7B-413D-82BF-EE03A8149BB8}" destId="{4ABA7735-F847-41C6-8A9D-7A8E112B965A}" srcOrd="0" destOrd="0" presId="urn:microsoft.com/office/officeart/2005/8/layout/default"/>
    <dgm:cxn modelId="{C89AF5AC-84E3-4A2A-93D4-55B30DA1156A}" type="presOf" srcId="{B93667F9-6261-4570-8D29-A454A0E4EBDE}" destId="{B9B24145-8E3B-4588-B5CA-791BA9CF0729}" srcOrd="0" destOrd="0" presId="urn:microsoft.com/office/officeart/2005/8/layout/default"/>
    <dgm:cxn modelId="{87FC06B4-4901-452F-B81D-212402BA75B0}" srcId="{B93667F9-6261-4570-8D29-A454A0E4EBDE}" destId="{482F096C-6D7B-413D-82BF-EE03A8149BB8}" srcOrd="2" destOrd="0" parTransId="{833CE395-843F-42F7-95E1-3D581007D935}" sibTransId="{93C1A903-A3AA-4351-B3CF-9D4D1E59F746}"/>
    <dgm:cxn modelId="{57C6FCBF-9AE9-4576-B8B5-460C916E2903}" srcId="{B93667F9-6261-4570-8D29-A454A0E4EBDE}" destId="{A5E1E201-62BD-412B-B2E1-A4A7B426ECA8}" srcOrd="1" destOrd="0" parTransId="{FAC0D21A-CE85-4A49-9E15-E54B753CEE62}" sibTransId="{231EAA0E-187D-4B03-A8F2-A0F9E2C44719}"/>
    <dgm:cxn modelId="{A7439FD8-6C04-417D-8629-FAD5F197EE88}" srcId="{B93667F9-6261-4570-8D29-A454A0E4EBDE}" destId="{772EF8A4-DD6A-4CBF-A85B-E1C48CD5E813}" srcOrd="0" destOrd="0" parTransId="{8840356E-BA12-4957-825F-9FF36F871A40}" sibTransId="{701535F0-280B-45D0-8AFF-19E236F489FB}"/>
    <dgm:cxn modelId="{4C1A4EE9-25CF-414C-B9C2-0A27999E0178}" type="presOf" srcId="{A5E1E201-62BD-412B-B2E1-A4A7B426ECA8}" destId="{66B6A5D5-1410-4B37-8039-7569D6FC1099}" srcOrd="0" destOrd="0" presId="urn:microsoft.com/office/officeart/2005/8/layout/default"/>
    <dgm:cxn modelId="{96C5E1FD-D5EB-4B2F-AC21-0923D9348393}" type="presOf" srcId="{772EF8A4-DD6A-4CBF-A85B-E1C48CD5E813}" destId="{B53B29B8-CC8B-4A9A-9DFB-C9164DDFF744}" srcOrd="0" destOrd="0" presId="urn:microsoft.com/office/officeart/2005/8/layout/default"/>
    <dgm:cxn modelId="{6F3DC3C5-EEF7-4BA7-9D8B-1D1E357F6333}" type="presParOf" srcId="{B9B24145-8E3B-4588-B5CA-791BA9CF0729}" destId="{B53B29B8-CC8B-4A9A-9DFB-C9164DDFF744}" srcOrd="0" destOrd="0" presId="urn:microsoft.com/office/officeart/2005/8/layout/default"/>
    <dgm:cxn modelId="{A040C744-0841-40F6-9071-FF5DFF8750FD}" type="presParOf" srcId="{B9B24145-8E3B-4588-B5CA-791BA9CF0729}" destId="{89862DEC-5194-4D96-8FA1-5CE23664681E}" srcOrd="1" destOrd="0" presId="urn:microsoft.com/office/officeart/2005/8/layout/default"/>
    <dgm:cxn modelId="{38D4604F-86F9-4717-BB65-0387BFA9632C}" type="presParOf" srcId="{B9B24145-8E3B-4588-B5CA-791BA9CF0729}" destId="{66B6A5D5-1410-4B37-8039-7569D6FC1099}" srcOrd="2" destOrd="0" presId="urn:microsoft.com/office/officeart/2005/8/layout/default"/>
    <dgm:cxn modelId="{0BCD7D85-2B2C-4665-84D0-EB403C7A5DDA}" type="presParOf" srcId="{B9B24145-8E3B-4588-B5CA-791BA9CF0729}" destId="{467E2708-86FD-4A61-917F-D03AC9F0F2FF}" srcOrd="3" destOrd="0" presId="urn:microsoft.com/office/officeart/2005/8/layout/default"/>
    <dgm:cxn modelId="{0EC08C4E-ED93-4D2B-A6DB-8B9B25184622}" type="presParOf" srcId="{B9B24145-8E3B-4588-B5CA-791BA9CF0729}" destId="{4ABA7735-F847-41C6-8A9D-7A8E112B965A}"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B29B8-CC8B-4A9A-9DFB-C9164DDFF744}">
      <dsp:nvSpPr>
        <dsp:cNvPr id="0" name=""/>
        <dsp:cNvSpPr/>
      </dsp:nvSpPr>
      <dsp:spPr>
        <a:xfrm>
          <a:off x="429570" y="472"/>
          <a:ext cx="3346456" cy="2007873"/>
        </a:xfrm>
        <a:prstGeom prst="rect">
          <a:avLst/>
        </a:prstGeom>
        <a:solidFill>
          <a:schemeClr val="tx2"/>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Confidentiality – Prevents unauthorised access to information</a:t>
          </a:r>
        </a:p>
      </dsp:txBody>
      <dsp:txXfrm>
        <a:off x="429570" y="472"/>
        <a:ext cx="3346456" cy="2007873"/>
      </dsp:txXfrm>
    </dsp:sp>
    <dsp:sp modelId="{66B6A5D5-1410-4B37-8039-7569D6FC1099}">
      <dsp:nvSpPr>
        <dsp:cNvPr id="0" name=""/>
        <dsp:cNvSpPr/>
      </dsp:nvSpPr>
      <dsp:spPr>
        <a:xfrm>
          <a:off x="4110672" y="472"/>
          <a:ext cx="3346456" cy="2007873"/>
        </a:xfrm>
        <a:prstGeom prst="rect">
          <a:avLst/>
        </a:prstGeom>
        <a:solidFill>
          <a:schemeClr val="tx2"/>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Integrity – Protects accuracy and completeness of information</a:t>
          </a:r>
        </a:p>
      </dsp:txBody>
      <dsp:txXfrm>
        <a:off x="4110672" y="472"/>
        <a:ext cx="3346456" cy="2007873"/>
      </dsp:txXfrm>
    </dsp:sp>
    <dsp:sp modelId="{4ABA7735-F847-41C6-8A9D-7A8E112B965A}">
      <dsp:nvSpPr>
        <dsp:cNvPr id="0" name=""/>
        <dsp:cNvSpPr/>
      </dsp:nvSpPr>
      <dsp:spPr>
        <a:xfrm>
          <a:off x="2270121" y="2342991"/>
          <a:ext cx="3346456" cy="2007873"/>
        </a:xfrm>
        <a:prstGeom prst="rect">
          <a:avLst/>
        </a:prstGeom>
        <a:solidFill>
          <a:schemeClr val="tx2"/>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Availability – Ensures systems and data are accessible when required</a:t>
          </a:r>
        </a:p>
      </dsp:txBody>
      <dsp:txXfrm>
        <a:off x="2270121" y="2342991"/>
        <a:ext cx="3346456" cy="200787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111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CIA triad is a foundational framework used to analyse and manage information security risks. It provides a conceptual structure for understanding how information assets can be compromised. Confidentiality addresses who can access information, integrity focuses on whether information can be trusted, and availability ensures information and systems are accessible to support business operations. At a strategic level, organisations must balance all three elements based on risk appetite, regulatory requirements, and operational priorities.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Confidentiality threats involve the unauthorised disclosure of information, often without immediate detection. Many of these threats exploit human behaviour rather than technical weaknesses, particularly social engineering and phishing. At an organisational level, confidentiality breaches can result in legal penalties, loss of intellectual property, and reputational damage. Effective mitigation therefore requires technical controls, governance oversight, and staff awareness training.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Integrity threats compromise the accuracy and reliability of information. Human error remains a dominant factor, highlighting the importance of process controls and validation mechanisms. Technical attacks such as SQL injection allow attackers to modify data directly. Integrity failures are particularly dangerous because incorrect data may be trusted and used for decision-making before the issue is detected.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Availability threats prevent authorised users from accessing systems and information when required. These threats often have immediate and visible business impacts such as service outages and revenue loss. At an advanced level, organisations must address availability through redundancy, disaster recovery planning, business continuity strategies, and supplier risk management rather than relying solely on technical defences.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Close up of a blue surface&#10;&#10;AI-generated content may be incorrect.">
            <a:extLst>
              <a:ext uri="{FF2B5EF4-FFF2-40B4-BE49-F238E27FC236}">
                <a16:creationId xmlns:a16="http://schemas.microsoft.com/office/drawing/2014/main" id="{6237B377-825D-32CD-FBED-C9A69082A137}"/>
              </a:ext>
            </a:extLst>
          </p:cNvPr>
          <p:cNvPicPr>
            <a:picLocks noChangeAspect="1"/>
          </p:cNvPicPr>
          <p:nvPr/>
        </p:nvPicPr>
        <p:blipFill>
          <a:blip r:embed="rId3">
            <a:duotone>
              <a:schemeClr val="bg2">
                <a:shade val="45000"/>
                <a:satMod val="135000"/>
              </a:schemeClr>
              <a:prstClr val="white"/>
            </a:duotone>
          </a:blip>
          <a:srcRect r="10999"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NZ"/>
              <a:t>The CIA Framework</a:t>
            </a:r>
          </a:p>
        </p:txBody>
      </p:sp>
      <p:graphicFrame>
        <p:nvGraphicFramePr>
          <p:cNvPr id="15" name="Content Placeholder 2">
            <a:extLst>
              <a:ext uri="{FF2B5EF4-FFF2-40B4-BE49-F238E27FC236}">
                <a16:creationId xmlns:a16="http://schemas.microsoft.com/office/drawing/2014/main" id="{F8BC959C-9F76-4382-FABB-C2E8A149874B}"/>
              </a:ext>
            </a:extLst>
          </p:cNvPr>
          <p:cNvGraphicFramePr>
            <a:graphicFrameLocks noGrp="1"/>
          </p:cNvGraphicFramePr>
          <p:nvPr>
            <p:ph idx="1"/>
            <p:extLst>
              <p:ext uri="{D42A27DB-BD31-4B8C-83A1-F6EECF244321}">
                <p14:modId xmlns:p14="http://schemas.microsoft.com/office/powerpoint/2010/main" val="385318233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NZ" sz="2800">
                <a:solidFill>
                  <a:srgbClr val="FFFFFF"/>
                </a:solidFill>
              </a:rPr>
              <a:t>Threats to Confidentiality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lnSpc>
                <a:spcPct val="90000"/>
              </a:lnSpc>
            </a:pPr>
            <a:endParaRPr lang="en-NZ" sz="3000"/>
          </a:p>
          <a:p>
            <a:pPr>
              <a:lnSpc>
                <a:spcPct val="90000"/>
              </a:lnSpc>
            </a:pPr>
            <a:r>
              <a:rPr lang="en-NZ" sz="3000"/>
              <a:t>Espionage and trespass</a:t>
            </a:r>
          </a:p>
          <a:p>
            <a:pPr>
              <a:lnSpc>
                <a:spcPct val="90000"/>
              </a:lnSpc>
            </a:pPr>
            <a:r>
              <a:rPr lang="en-NZ" sz="3000"/>
              <a:t>Industrial espionage</a:t>
            </a:r>
          </a:p>
          <a:p>
            <a:pPr>
              <a:lnSpc>
                <a:spcPct val="90000"/>
              </a:lnSpc>
            </a:pPr>
            <a:r>
              <a:rPr lang="en-NZ" sz="3000"/>
              <a:t>Shoulder surfing</a:t>
            </a:r>
          </a:p>
          <a:p>
            <a:pPr>
              <a:lnSpc>
                <a:spcPct val="90000"/>
              </a:lnSpc>
            </a:pPr>
            <a:r>
              <a:rPr lang="en-NZ" sz="3000"/>
              <a:t>Social engineering</a:t>
            </a:r>
          </a:p>
          <a:p>
            <a:pPr>
              <a:lnSpc>
                <a:spcPct val="90000"/>
              </a:lnSpc>
            </a:pPr>
            <a:r>
              <a:rPr lang="en-NZ" sz="3000"/>
              <a:t>Phishing and pharming</a:t>
            </a:r>
          </a:p>
          <a:p>
            <a:pPr>
              <a:lnSpc>
                <a:spcPct val="90000"/>
              </a:lnSpc>
            </a:pPr>
            <a:r>
              <a:rPr lang="en-NZ" sz="3000"/>
              <a:t>Password attacks</a:t>
            </a:r>
          </a:p>
          <a:p>
            <a:pPr>
              <a:lnSpc>
                <a:spcPct val="90000"/>
              </a:lnSpc>
            </a:pPr>
            <a:r>
              <a:rPr lang="en-NZ" sz="3000"/>
              <a:t>Packet sniffing and spoofing</a:t>
            </a:r>
          </a:p>
          <a:p>
            <a:pPr>
              <a:lnSpc>
                <a:spcPct val="90000"/>
              </a:lnSpc>
            </a:pPr>
            <a:r>
              <a:rPr lang="en-NZ" sz="3000"/>
              <a:t>Man-in-the-middle attacks</a:t>
            </a:r>
          </a:p>
          <a:p>
            <a:pPr>
              <a:lnSpc>
                <a:spcPct val="90000"/>
              </a:lnSpc>
            </a:pPr>
            <a:r>
              <a:rPr lang="en-NZ" sz="3000"/>
              <a:t>Information extortion</a:t>
            </a:r>
          </a:p>
          <a:p>
            <a:pPr>
              <a:lnSpc>
                <a:spcPct val="90000"/>
              </a:lnSpc>
            </a:pPr>
            <a:r>
              <a:rPr lang="en-NZ" sz="3000"/>
              <a:t>Intellectual property theft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NZ">
                <a:solidFill>
                  <a:srgbClr val="FFFFFF"/>
                </a:solidFill>
              </a:rPr>
              <a:t>Threats to Integrity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lnSpc>
                <a:spcPct val="90000"/>
              </a:lnSpc>
            </a:pPr>
            <a:endParaRPr lang="en-NZ" sz="2500"/>
          </a:p>
          <a:p>
            <a:pPr>
              <a:lnSpc>
                <a:spcPct val="90000"/>
              </a:lnSpc>
            </a:pPr>
            <a:r>
              <a:rPr lang="en-NZ" sz="2500"/>
              <a:t>Human error or failure</a:t>
            </a:r>
          </a:p>
          <a:p>
            <a:pPr>
              <a:lnSpc>
                <a:spcPct val="90000"/>
              </a:lnSpc>
            </a:pPr>
            <a:r>
              <a:rPr lang="en-NZ" sz="2500"/>
              <a:t>Accidental data deletion or modification</a:t>
            </a:r>
          </a:p>
          <a:p>
            <a:pPr>
              <a:lnSpc>
                <a:spcPct val="90000"/>
              </a:lnSpc>
            </a:pPr>
            <a:r>
              <a:rPr lang="en-NZ" sz="2500"/>
              <a:t>Erroneous data entry</a:t>
            </a:r>
          </a:p>
          <a:p>
            <a:pPr>
              <a:lnSpc>
                <a:spcPct val="90000"/>
              </a:lnSpc>
            </a:pPr>
            <a:r>
              <a:rPr lang="en-NZ" sz="2500"/>
              <a:t>Malware (viruses, worms, Trojans)</a:t>
            </a:r>
          </a:p>
          <a:p>
            <a:pPr>
              <a:lnSpc>
                <a:spcPct val="90000"/>
              </a:lnSpc>
            </a:pPr>
            <a:r>
              <a:rPr lang="en-NZ" sz="2500"/>
              <a:t>Software bugs and vulnerabilities</a:t>
            </a:r>
          </a:p>
          <a:p>
            <a:pPr>
              <a:lnSpc>
                <a:spcPct val="90000"/>
              </a:lnSpc>
            </a:pPr>
            <a:r>
              <a:rPr lang="en-NZ" sz="2500"/>
              <a:t>SQL injection</a:t>
            </a:r>
          </a:p>
          <a:p>
            <a:pPr>
              <a:lnSpc>
                <a:spcPct val="90000"/>
              </a:lnSpc>
            </a:pPr>
            <a:r>
              <a:rPr lang="en-NZ" sz="2500"/>
              <a:t>Command injection</a:t>
            </a:r>
          </a:p>
          <a:p>
            <a:pPr>
              <a:lnSpc>
                <a:spcPct val="90000"/>
              </a:lnSpc>
            </a:pPr>
            <a:r>
              <a:rPr lang="en-NZ" sz="2500"/>
              <a:t>Cross-site scripting (XSS)</a:t>
            </a:r>
          </a:p>
          <a:p>
            <a:pPr>
              <a:lnSpc>
                <a:spcPct val="90000"/>
              </a:lnSpc>
            </a:pPr>
            <a:r>
              <a:rPr lang="en-NZ" sz="2500"/>
              <a:t>Sabotage and vandalism</a:t>
            </a:r>
          </a:p>
          <a:p>
            <a:pPr>
              <a:lnSpc>
                <a:spcPct val="90000"/>
              </a:lnSpc>
            </a:pPr>
            <a:r>
              <a:rPr lang="en-NZ" sz="2500"/>
              <a:t>Website defacement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NZ" sz="3700">
                <a:solidFill>
                  <a:srgbClr val="FFFFFF"/>
                </a:solidFill>
              </a:rPr>
              <a:t>Threats to Availability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lnSpc>
                <a:spcPct val="90000"/>
              </a:lnSpc>
            </a:pPr>
            <a:endParaRPr lang="en-GB" sz="2700"/>
          </a:p>
          <a:p>
            <a:pPr>
              <a:lnSpc>
                <a:spcPct val="90000"/>
              </a:lnSpc>
            </a:pPr>
            <a:r>
              <a:rPr lang="en-GB" sz="2700"/>
              <a:t>Denial-of-Service (DoS) attacks</a:t>
            </a:r>
          </a:p>
          <a:p>
            <a:pPr>
              <a:lnSpc>
                <a:spcPct val="90000"/>
              </a:lnSpc>
            </a:pPr>
            <a:r>
              <a:rPr lang="en-GB" sz="2700"/>
              <a:t>Distributed Denial-of-Service (DDoS) attacks</a:t>
            </a:r>
          </a:p>
          <a:p>
            <a:pPr>
              <a:lnSpc>
                <a:spcPct val="90000"/>
              </a:lnSpc>
            </a:pPr>
            <a:r>
              <a:rPr lang="en-GB" sz="2700"/>
              <a:t>Mail bombing</a:t>
            </a:r>
          </a:p>
          <a:p>
            <a:pPr>
              <a:lnSpc>
                <a:spcPct val="90000"/>
              </a:lnSpc>
            </a:pPr>
            <a:r>
              <a:rPr lang="en-GB" sz="2700"/>
              <a:t>ISP and hosting failures</a:t>
            </a:r>
          </a:p>
          <a:p>
            <a:pPr>
              <a:lnSpc>
                <a:spcPct val="90000"/>
              </a:lnSpc>
            </a:pPr>
            <a:r>
              <a:rPr lang="en-GB" sz="2700"/>
              <a:t>Telecommunications failures</a:t>
            </a:r>
          </a:p>
          <a:p>
            <a:pPr>
              <a:lnSpc>
                <a:spcPct val="90000"/>
              </a:lnSpc>
            </a:pPr>
            <a:r>
              <a:rPr lang="en-GB" sz="2700"/>
              <a:t>Utility service disruptions</a:t>
            </a:r>
          </a:p>
          <a:p>
            <a:pPr>
              <a:lnSpc>
                <a:spcPct val="90000"/>
              </a:lnSpc>
            </a:pPr>
            <a:r>
              <a:rPr lang="en-GB" sz="2700"/>
              <a:t>Power irregularities</a:t>
            </a:r>
          </a:p>
          <a:p>
            <a:pPr>
              <a:lnSpc>
                <a:spcPct val="90000"/>
              </a:lnSpc>
            </a:pPr>
            <a:r>
              <a:rPr lang="en-GB" sz="2700"/>
              <a:t>Hardware failures</a:t>
            </a:r>
          </a:p>
          <a:p>
            <a:pPr>
              <a:lnSpc>
                <a:spcPct val="90000"/>
              </a:lnSpc>
            </a:pPr>
            <a:r>
              <a:rPr lang="en-GB" sz="2700"/>
              <a:t>Technological obsolescence</a:t>
            </a:r>
          </a:p>
          <a:p>
            <a:pPr>
              <a:lnSpc>
                <a:spcPct val="90000"/>
              </a:lnSpc>
            </a:pPr>
            <a:r>
              <a:rPr lang="en-GB" sz="2700"/>
              <a:t>Forces of nature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555A98-A5F1-77BE-B2FA-EBFC031ED6D6}"/>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Overlap summary</a:t>
            </a:r>
          </a:p>
        </p:txBody>
      </p:sp>
      <p:pic>
        <p:nvPicPr>
          <p:cNvPr id="5" name="Content Placeholder 4" descr="A screenshot of a computer&#10;&#10;AI-generated content may be incorrect.">
            <a:extLst>
              <a:ext uri="{FF2B5EF4-FFF2-40B4-BE49-F238E27FC236}">
                <a16:creationId xmlns:a16="http://schemas.microsoft.com/office/drawing/2014/main" id="{F0CD6C7B-A167-81E3-7108-3DA16495988A}"/>
              </a:ext>
            </a:extLst>
          </p:cNvPr>
          <p:cNvPicPr>
            <a:picLocks noGrp="1" noChangeAspect="1"/>
          </p:cNvPicPr>
          <p:nvPr>
            <p:ph idx="1"/>
          </p:nvPr>
        </p:nvPicPr>
        <p:blipFill>
          <a:blip r:embed="rId2"/>
          <a:stretch>
            <a:fillRect/>
          </a:stretch>
        </p:blipFill>
        <p:spPr>
          <a:xfrm>
            <a:off x="482600" y="1919639"/>
            <a:ext cx="8178799" cy="3905374"/>
          </a:xfrm>
          <a:prstGeom prst="rect">
            <a:avLst/>
          </a:prstGeom>
        </p:spPr>
      </p:pic>
    </p:spTree>
    <p:extLst>
      <p:ext uri="{BB962C8B-B14F-4D97-AF65-F5344CB8AC3E}">
        <p14:creationId xmlns:p14="http://schemas.microsoft.com/office/powerpoint/2010/main" val="3761249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407</Words>
  <Application>Microsoft Office PowerPoint</Application>
  <PresentationFormat>On-screen Show (4:3)</PresentationFormat>
  <Paragraphs>45</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The CIA Framework</vt:lpstr>
      <vt:lpstr>Threats to Confidentiality</vt:lpstr>
      <vt:lpstr>Threats to Integrity</vt:lpstr>
      <vt:lpstr>Threats to Availability</vt:lpstr>
      <vt:lpstr>Overlap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Lorraine Skelton</dc:creator>
  <cp:keywords/>
  <dc:description>generated using python-pptx</dc:description>
  <cp:lastModifiedBy>Lorraine Skelton</cp:lastModifiedBy>
  <cp:revision>2</cp:revision>
  <dcterms:created xsi:type="dcterms:W3CDTF">2013-01-27T09:14:16Z</dcterms:created>
  <dcterms:modified xsi:type="dcterms:W3CDTF">2026-02-09T06:09:18Z</dcterms:modified>
  <cp:category/>
</cp:coreProperties>
</file>