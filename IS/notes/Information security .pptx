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bookmarkIdSeed="2">
  <p:sldMasterIdLst>
    <p:sldMasterId id="2147483662" r:id="rId1"/>
  </p:sldMasterIdLst>
  <p:notesMasterIdLst>
    <p:notesMasterId r:id="rId28"/>
  </p:notesMasterIdLst>
  <p:handoutMasterIdLst>
    <p:handoutMasterId r:id="rId29"/>
  </p:handoutMasterIdLst>
  <p:sldIdLst>
    <p:sldId id="345" r:id="rId2"/>
    <p:sldId id="349" r:id="rId3"/>
    <p:sldId id="350" r:id="rId4"/>
    <p:sldId id="351" r:id="rId5"/>
    <p:sldId id="352" r:id="rId6"/>
    <p:sldId id="353" r:id="rId7"/>
    <p:sldId id="354" r:id="rId8"/>
    <p:sldId id="355" r:id="rId9"/>
    <p:sldId id="356" r:id="rId10"/>
    <p:sldId id="357" r:id="rId11"/>
    <p:sldId id="358" r:id="rId12"/>
    <p:sldId id="359" r:id="rId13"/>
    <p:sldId id="360" r:id="rId14"/>
    <p:sldId id="361" r:id="rId15"/>
    <p:sldId id="362" r:id="rId16"/>
    <p:sldId id="372" r:id="rId17"/>
    <p:sldId id="363" r:id="rId18"/>
    <p:sldId id="364" r:id="rId19"/>
    <p:sldId id="365" r:id="rId20"/>
    <p:sldId id="366" r:id="rId21"/>
    <p:sldId id="367" r:id="rId22"/>
    <p:sldId id="368" r:id="rId23"/>
    <p:sldId id="369" r:id="rId24"/>
    <p:sldId id="370" r:id="rId25"/>
    <p:sldId id="371" r:id="rId26"/>
    <p:sldId id="348" r:id="rId27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842" autoAdjust="0"/>
    <p:restoredTop sz="90929"/>
  </p:normalViewPr>
  <p:slideViewPr>
    <p:cSldViewPr>
      <p:cViewPr varScale="1">
        <p:scale>
          <a:sx n="105" d="100"/>
          <a:sy n="105" d="100"/>
        </p:scale>
        <p:origin x="14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D9E186-B8AF-4EE3-89A0-EF5F801535DC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97C7C4-C3D5-4761-AC77-E97F6A79CE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9610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70ED0A72-C84F-4636-BF42-85861E627C62}" type="datetimeFigureOut">
              <a:rPr lang="en-US" smtClean="0"/>
              <a:t>5/31/2022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B7C99A0B-A595-41E5-8EF2-788C2E752C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07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8314EF1-A8FA-4226-A1F4-BBBCB4594E8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148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</a:t>
            </a:r>
            <a:r>
              <a:rPr lang="en-US" baseline="0" dirty="0"/>
              <a:t> hackers did not carry out a dramatic and quick theft; they had a year to steal the records at their leisure.</a:t>
            </a:r>
          </a:p>
          <a:p>
            <a:r>
              <a:rPr lang="en-US" baseline="0" dirty="0"/>
              <a:t>The theft took place over a year, and the hackers stole a password.</a:t>
            </a:r>
          </a:p>
          <a:p>
            <a:r>
              <a:rPr lang="en-US" baseline="0" dirty="0"/>
              <a:t>It took many months for OPM to detect the theft.</a:t>
            </a:r>
          </a:p>
          <a:p>
            <a:r>
              <a:rPr lang="en-US" baseline="0" dirty="0"/>
              <a:t>Early reports say that at least 4 million, and as many as 14 million records were stolen. Each record contained 127-page security clearances that include sensitive medical, personal, and relationship information.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C2BABA-6326-4387-B784-914ABFD8EAB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900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5C2BA5-FC30-4711-9610-281069C4057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2016 John Wiley &amp; Sons, Inc.</a:t>
            </a:r>
          </a:p>
        </p:txBody>
      </p:sp>
    </p:spTree>
    <p:extLst>
      <p:ext uri="{BB962C8B-B14F-4D97-AF65-F5344CB8AC3E}">
        <p14:creationId xmlns:p14="http://schemas.microsoft.com/office/powerpoint/2010/main" val="3276996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2016 John Wiley &amp; Sons, Inc.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E9B9C6-5EFD-47CD-B9A5-7DA91BC82E6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520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B7A46F-6483-4DAC-A6C9-74DBCD64065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320040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dirty="0"/>
              <a:t>© 2016 John Wiley &amp; Sons, Inc.</a:t>
            </a:r>
          </a:p>
        </p:txBody>
      </p:sp>
    </p:spTree>
    <p:extLst>
      <p:ext uri="{BB962C8B-B14F-4D97-AF65-F5344CB8AC3E}">
        <p14:creationId xmlns:p14="http://schemas.microsoft.com/office/powerpoint/2010/main" val="4043533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3566E3-6A4C-40FA-B8E1-8C80136C502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2016 John Wiley &amp; Sons, Inc.</a:t>
            </a:r>
          </a:p>
        </p:txBody>
      </p:sp>
    </p:spTree>
    <p:extLst>
      <p:ext uri="{BB962C8B-B14F-4D97-AF65-F5344CB8AC3E}">
        <p14:creationId xmlns:p14="http://schemas.microsoft.com/office/powerpoint/2010/main" val="1136631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75AA5B-0BAC-4531-AFB0-148759D7112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2016 John Wiley &amp; Sons, Inc.</a:t>
            </a:r>
          </a:p>
        </p:txBody>
      </p:sp>
    </p:spTree>
    <p:extLst>
      <p:ext uri="{BB962C8B-B14F-4D97-AF65-F5344CB8AC3E}">
        <p14:creationId xmlns:p14="http://schemas.microsoft.com/office/powerpoint/2010/main" val="2064224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78B610-EF6A-4526-8C29-F803DBD9E70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2016 John Wiley &amp; Sons, Inc.</a:t>
            </a:r>
          </a:p>
        </p:txBody>
      </p:sp>
    </p:spTree>
    <p:extLst>
      <p:ext uri="{BB962C8B-B14F-4D97-AF65-F5344CB8AC3E}">
        <p14:creationId xmlns:p14="http://schemas.microsoft.com/office/powerpoint/2010/main" val="386307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84FC29-E264-4055-9FDD-790AC6ED552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2016 John Wiley &amp; Sons, Inc.</a:t>
            </a:r>
          </a:p>
        </p:txBody>
      </p:sp>
    </p:spTree>
    <p:extLst>
      <p:ext uri="{BB962C8B-B14F-4D97-AF65-F5344CB8AC3E}">
        <p14:creationId xmlns:p14="http://schemas.microsoft.com/office/powerpoint/2010/main" val="4215626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573CE7-711F-43F9-9A4B-FA0E330A04D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2016 John Wiley &amp; Sons, Inc.</a:t>
            </a:r>
          </a:p>
        </p:txBody>
      </p:sp>
    </p:spTree>
    <p:extLst>
      <p:ext uri="{BB962C8B-B14F-4D97-AF65-F5344CB8AC3E}">
        <p14:creationId xmlns:p14="http://schemas.microsoft.com/office/powerpoint/2010/main" val="2796287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CBB206-CEFD-4B98-B8A8-E496A7E4614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2016 John Wiley &amp; Sons, Inc.</a:t>
            </a:r>
          </a:p>
        </p:txBody>
      </p:sp>
    </p:spTree>
    <p:extLst>
      <p:ext uri="{BB962C8B-B14F-4D97-AF65-F5344CB8AC3E}">
        <p14:creationId xmlns:p14="http://schemas.microsoft.com/office/powerpoint/2010/main" val="268443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362AD6B-099F-428A-B861-EE9DD42032E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2016 John Wiley &amp; Sons, Inc.</a:t>
            </a:r>
          </a:p>
        </p:txBody>
      </p:sp>
    </p:spTree>
    <p:extLst>
      <p:ext uri="{BB962C8B-B14F-4D97-AF65-F5344CB8AC3E}">
        <p14:creationId xmlns:p14="http://schemas.microsoft.com/office/powerpoint/2010/main" val="1807875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9E3330-640B-48DE-8D18-A94EF91C842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© 2016 John Wiley &amp; Sons, Inc.</a:t>
            </a:r>
          </a:p>
        </p:txBody>
      </p:sp>
    </p:spTree>
    <p:extLst>
      <p:ext uri="{BB962C8B-B14F-4D97-AF65-F5344CB8AC3E}">
        <p14:creationId xmlns:p14="http://schemas.microsoft.com/office/powerpoint/2010/main" val="1997502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vmlDrawing" Target="../drawings/vmlDrawing1.v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2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w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dirty="0"/>
              <a:t>© 2016 John Wiley &amp; Sons, Inc.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4AAC787-CCF0-454B-8503-39EF0BCB8EA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4081743151"/>
              </p:ext>
            </p:extLst>
          </p:nvPr>
        </p:nvGraphicFramePr>
        <p:xfrm>
          <a:off x="0" y="0"/>
          <a:ext cx="9144000" cy="2520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0" name="Image" r:id="rId14" imgW="7315200" imgH="200880" progId="Photoshop.Image.16">
                  <p:embed/>
                </p:oleObj>
              </mc:Choice>
              <mc:Fallback>
                <p:oleObj name="Image" r:id="rId14" imgW="7315200" imgH="200880" progId="Photoshop.Image.16">
                  <p:embed/>
                  <p:pic>
                    <p:nvPicPr>
                      <p:cNvPr id="10" name="Object 9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9144000" cy="2520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12964763"/>
              </p:ext>
            </p:extLst>
          </p:nvPr>
        </p:nvGraphicFramePr>
        <p:xfrm>
          <a:off x="-6350" y="6721476"/>
          <a:ext cx="9150350" cy="1492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1" name="Image" r:id="rId16" imgW="7319520" imgH="205560" progId="Photoshop.Image.16">
                  <p:embed/>
                </p:oleObj>
              </mc:Choice>
              <mc:Fallback>
                <p:oleObj name="Image" r:id="rId16" imgW="7319520" imgH="205560" progId="Photoshop.Image.16">
                  <p:embed/>
                  <p:pic>
                    <p:nvPicPr>
                      <p:cNvPr id="11" name="Object 10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-6350" y="6721476"/>
                        <a:ext cx="9150350" cy="1492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72109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hdr="0" dt="0"/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5000" b="1" kern="1200">
          <a:solidFill>
            <a:schemeClr val="accent4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28650" indent="-2857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7" Type="http://schemas.openxmlformats.org/officeDocument/2006/relationships/image" Target="../media/image3.wmf"/><Relationship Id="rId2" Type="http://schemas.openxmlformats.org/officeDocument/2006/relationships/tags" Target="../tags/tag1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informationisbeautiful.net/visualizations/worlds-biggest-data-breaches-hacks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erizonbusiness.com/resources/reports/rp_2010-DBIR-combined-reports_en_xg.pdf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verizonbusiness.com/resources/reports/rp_2010-DBIR-combined-reports_en_xg.pdf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image" Target="../media/image3.wmf"/><Relationship Id="rId2" Type="http://schemas.openxmlformats.org/officeDocument/2006/relationships/tags" Target="../tags/tag3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304800" y="228599"/>
            <a:ext cx="8382000" cy="121920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0000" lnSpcReduction="20000"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kumimoji="1" lang="en-US" dirty="0">
                <a:solidFill>
                  <a:schemeClr val="accent6">
                    <a:lumMod val="50000"/>
                  </a:schemeClr>
                </a:solidFill>
                <a:latin typeface="Arial Black" pitchFamily="34" charset="0"/>
              </a:rPr>
              <a:t>Managing and Using Information Systems: </a:t>
            </a:r>
            <a:br>
              <a:rPr kumimoji="1" lang="en-US" dirty="0">
                <a:solidFill>
                  <a:schemeClr val="accent6">
                    <a:lumMod val="50000"/>
                  </a:schemeClr>
                </a:solidFill>
                <a:latin typeface="Arial Black" pitchFamily="34" charset="0"/>
              </a:rPr>
            </a:br>
            <a:r>
              <a:rPr kumimoji="1" lang="en-US" dirty="0">
                <a:solidFill>
                  <a:schemeClr val="accent6">
                    <a:lumMod val="50000"/>
                  </a:schemeClr>
                </a:solidFill>
                <a:latin typeface="Arial Black" pitchFamily="34" charset="0"/>
              </a:rPr>
              <a:t>A Strategic Approach – Sixth Edition</a:t>
            </a:r>
            <a:endParaRPr 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" name="Subtitle 2"/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1333500" y="1915319"/>
            <a:ext cx="6477000" cy="6096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 baseline="0">
                <a:solidFill>
                  <a:schemeClr val="tx1"/>
                </a:solidFill>
                <a:latin typeface="Georgia" pitchFamily="18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lnSpc>
                <a:spcPct val="80000"/>
              </a:lnSpc>
              <a:spcAft>
                <a:spcPts val="0"/>
              </a:spcAft>
              <a:defRPr/>
            </a:pPr>
            <a:r>
              <a:rPr kumimoji="1" lang="en-US" sz="2400" dirty="0">
                <a:solidFill>
                  <a:schemeClr val="accent6">
                    <a:lumMod val="75000"/>
                  </a:schemeClr>
                </a:solidFill>
                <a:latin typeface="Arial Black" pitchFamily="34" charset="0"/>
              </a:rPr>
              <a:t>Keri Pearlson, Carol Saunders, </a:t>
            </a:r>
            <a:br>
              <a:rPr kumimoji="1" lang="en-US" sz="2400" dirty="0">
                <a:solidFill>
                  <a:schemeClr val="accent6">
                    <a:lumMod val="75000"/>
                  </a:schemeClr>
                </a:solidFill>
                <a:latin typeface="Arial Black" pitchFamily="34" charset="0"/>
              </a:rPr>
            </a:br>
            <a:r>
              <a:rPr kumimoji="1" lang="en-US" sz="2400" dirty="0">
                <a:solidFill>
                  <a:schemeClr val="accent6">
                    <a:lumMod val="75000"/>
                  </a:schemeClr>
                </a:solidFill>
                <a:latin typeface="Arial Black" pitchFamily="34" charset="0"/>
              </a:rPr>
              <a:t>and Dennis Galletta</a:t>
            </a:r>
            <a:endParaRPr lang="en-US" sz="2800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6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505200"/>
            <a:ext cx="2299064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17242"/>
              </p:ext>
            </p:extLst>
          </p:nvPr>
        </p:nvGraphicFramePr>
        <p:xfrm>
          <a:off x="4191000" y="2895600"/>
          <a:ext cx="4203420" cy="36355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8" name="Image" r:id="rId6" imgW="4699800" imgH="4065840" progId="Photoshop.Image.16">
                  <p:embed/>
                </p:oleObj>
              </mc:Choice>
              <mc:Fallback>
                <p:oleObj name="Image" r:id="rId6" imgW="4699800" imgH="4065840" progId="Photoshop.Image.16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191000" y="2895600"/>
                        <a:ext cx="4203420" cy="36355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309495" y="4613031"/>
            <a:ext cx="18682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© Copyright 2016</a:t>
            </a:r>
            <a:br>
              <a:rPr lang="en-US" sz="1400" dirty="0"/>
            </a:br>
            <a:r>
              <a:rPr lang="en-US" sz="1400" dirty="0"/>
              <a:t>John Wiley &amp; Sons, Inc.</a:t>
            </a:r>
          </a:p>
        </p:txBody>
      </p:sp>
    </p:spTree>
    <p:extLst>
      <p:ext uri="{BB962C8B-B14F-4D97-AF65-F5344CB8AC3E}">
        <p14:creationId xmlns:p14="http://schemas.microsoft.com/office/powerpoint/2010/main" val="1857114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1066800"/>
            <a:ext cx="8382000" cy="2971800"/>
          </a:xfrm>
        </p:spPr>
        <p:txBody>
          <a:bodyPr/>
          <a:lstStyle/>
          <a:p>
            <a:pPr eaLnBrk="1" hangingPunct="1"/>
            <a:r>
              <a:rPr lang="en-US" sz="4800" b="1" dirty="0"/>
              <a:t>Chapter 7</a:t>
            </a:r>
            <a:br>
              <a:rPr lang="en-US" sz="4800" b="1" dirty="0"/>
            </a:br>
            <a:r>
              <a:rPr lang="en-US" sz="4800" b="1" dirty="0"/>
              <a:t>Security</a:t>
            </a:r>
          </a:p>
        </p:txBody>
      </p:sp>
    </p:spTree>
    <p:extLst>
      <p:ext uri="{BB962C8B-B14F-4D97-AF65-F5344CB8AC3E}">
        <p14:creationId xmlns:p14="http://schemas.microsoft.com/office/powerpoint/2010/main" val="4172466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Opening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743" y="1676400"/>
            <a:ext cx="7772400" cy="4114800"/>
          </a:xfrm>
        </p:spPr>
        <p:txBody>
          <a:bodyPr>
            <a:normAutofit/>
          </a:bodyPr>
          <a:lstStyle/>
          <a:p>
            <a:r>
              <a:rPr lang="en-US" sz="2800" dirty="0"/>
              <a:t>What are some important lessons from the opening case?</a:t>
            </a:r>
          </a:p>
          <a:p>
            <a:r>
              <a:rPr lang="en-US" sz="2800" dirty="0"/>
              <a:t>How long did the theft take? How did the theft likely occur?</a:t>
            </a:r>
          </a:p>
          <a:p>
            <a:r>
              <a:rPr lang="en-US" sz="2800" dirty="0"/>
              <a:t>How long did it take Office of Personnel Management (OPM) to detect the theft?</a:t>
            </a:r>
          </a:p>
          <a:p>
            <a:r>
              <a:rPr lang="en-US" sz="2800" dirty="0"/>
              <a:t>How damaging are the early reports of the data theft for the OPM?</a:t>
            </a:r>
          </a:p>
          <a:p>
            <a:r>
              <a:rPr lang="en-US" sz="2800" dirty="0">
                <a:hlinkClick r:id="rId3"/>
              </a:rPr>
              <a:t>World’s Biggest Breaches and Hacks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2016 John Wiley &amp; Sons,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E9B9C6-5EFD-47CD-B9A5-7DA91BC82E69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333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Long Does it Take?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How long do you think it usually takes for someone to discover a security compromise in a system after the evidence shows up?</a:t>
            </a:r>
          </a:p>
          <a:p>
            <a:pPr marL="971550" lvl="1" indent="-514350">
              <a:buAutoNum type="alphaUcPeriod"/>
            </a:pPr>
            <a:r>
              <a:rPr lang="en-US" sz="2400" dirty="0"/>
              <a:t>Several seconds</a:t>
            </a:r>
          </a:p>
          <a:p>
            <a:pPr marL="971550" lvl="1" indent="-514350">
              <a:buAutoNum type="alphaUcPeriod"/>
            </a:pPr>
            <a:r>
              <a:rPr lang="en-US" sz="2400" dirty="0"/>
              <a:t>Several minutes</a:t>
            </a:r>
          </a:p>
          <a:p>
            <a:pPr marL="971550" lvl="1" indent="-514350">
              <a:buAutoNum type="alphaUcPeriod"/>
            </a:pPr>
            <a:r>
              <a:rPr lang="en-US" sz="2400" dirty="0"/>
              <a:t>Several hours</a:t>
            </a:r>
          </a:p>
          <a:p>
            <a:pPr marL="971550" lvl="1" indent="-514350">
              <a:buAutoNum type="alphaUcPeriod"/>
            </a:pPr>
            <a:r>
              <a:rPr lang="en-US" sz="2400" dirty="0"/>
              <a:t>Several days</a:t>
            </a:r>
          </a:p>
          <a:p>
            <a:pPr marL="971550" lvl="1" indent="-514350">
              <a:buAutoNum type="alphaUcPeriod"/>
            </a:pPr>
            <a:r>
              <a:rPr lang="en-US" sz="2400" dirty="0"/>
              <a:t>Several months</a:t>
            </a:r>
          </a:p>
          <a:p>
            <a:pPr marL="457200" lvl="1" indent="0">
              <a:buNone/>
            </a:pPr>
            <a:endParaRPr lang="en-US" sz="2400" dirty="0"/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270803" y="4800600"/>
            <a:ext cx="762001" cy="381000"/>
          </a:xfrm>
          <a:prstGeom prst="straightConnector1">
            <a:avLst/>
          </a:prstGeom>
          <a:ln w="41275">
            <a:headEnd type="oval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81600" y="3200400"/>
            <a:ext cx="3657600" cy="2308324"/>
          </a:xfrm>
          <a:prstGeom prst="rect">
            <a:avLst/>
          </a:prstGeom>
          <a:noFill/>
          <a:ln w="53975">
            <a:gradFill flip="none" rotWithShape="1">
              <a:gsLst>
                <a:gs pos="0">
                  <a:schemeClr val="accent1">
                    <a:lumMod val="67000"/>
                  </a:schemeClr>
                </a:gs>
                <a:gs pos="48000">
                  <a:schemeClr val="accent1">
                    <a:lumMod val="97000"/>
                    <a:lumOff val="3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A </a:t>
            </a:r>
            <a:r>
              <a:rPr lang="en-US" sz="2400" dirty="0" err="1"/>
              <a:t>Mandiant</a:t>
            </a:r>
            <a:r>
              <a:rPr lang="en-US" sz="2400" dirty="0"/>
              <a:t> study revealed that the median for 2014 was 205 days! That’s almost 7 months!</a:t>
            </a:r>
          </a:p>
          <a:p>
            <a:r>
              <a:rPr lang="en-US" sz="2400" dirty="0"/>
              <a:t>The record is 2,982 which is </a:t>
            </a:r>
            <a:r>
              <a:rPr lang="en-US" dirty="0"/>
              <a:t>11</a:t>
            </a:r>
            <a:r>
              <a:rPr lang="en-US" sz="2400" dirty="0"/>
              <a:t> years!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2016 John Wiley &amp; Sons, Inc.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E9B9C6-5EFD-47CD-B9A5-7DA91BC82E69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019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 of a Breach - Fantasy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Hollywood has a fairly consistent script:</a:t>
            </a:r>
          </a:p>
          <a:p>
            <a:pPr lvl="1"/>
            <a:r>
              <a:rPr lang="en-US" sz="2800" dirty="0"/>
              <a:t>0: Crooks get password and locate the file</a:t>
            </a:r>
          </a:p>
          <a:p>
            <a:pPr lvl="1"/>
            <a:r>
              <a:rPr lang="en-US" sz="2800" dirty="0"/>
              <a:t>Minute 1: Crooks start downloading data and destroying the original</a:t>
            </a:r>
          </a:p>
          <a:p>
            <a:pPr lvl="1"/>
            <a:r>
              <a:rPr lang="en-US" sz="2800" dirty="0"/>
              <a:t>Minute 2: Officials sense the breach</a:t>
            </a:r>
          </a:p>
          <a:p>
            <a:pPr lvl="1"/>
            <a:r>
              <a:rPr lang="en-US" sz="2800" dirty="0"/>
              <a:t>Minute 3: Officials try to block the breach</a:t>
            </a:r>
          </a:p>
          <a:p>
            <a:pPr lvl="1"/>
            <a:r>
              <a:rPr lang="en-US" sz="2800" dirty="0"/>
              <a:t>Minute 4: Crooks’ download completes</a:t>
            </a:r>
          </a:p>
          <a:p>
            <a:pPr lvl="1"/>
            <a:r>
              <a:rPr lang="en-US" sz="2800" dirty="0"/>
              <a:t>Minute 5: Officials lose all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62200" y="6094741"/>
            <a:ext cx="667522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 sz="1100" dirty="0"/>
              <a:t>Source: </a:t>
            </a:r>
            <a:r>
              <a:rPr lang="en-US" sz="1100" dirty="0">
                <a:hlinkClick r:id="rId2"/>
              </a:rPr>
              <a:t>http://www.verizonbusiness.com/resources/reports/rp_2010-DBIR-combined-reports_en_xg.pdf</a:t>
            </a:r>
            <a:r>
              <a:rPr lang="en-US" sz="1100" dirty="0"/>
              <a:t>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2016 John Wiley &amp; Sons, Inc.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E9B9C6-5EFD-47CD-B9A5-7DA91BC82E69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078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64331"/>
            <a:ext cx="7772400" cy="914400"/>
          </a:xfrm>
        </p:spPr>
        <p:txBody>
          <a:bodyPr/>
          <a:lstStyle/>
          <a:p>
            <a:r>
              <a:rPr lang="en-US" dirty="0"/>
              <a:t>Timeline of a Breach - Reality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625" y="1333978"/>
            <a:ext cx="8458200" cy="4878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209800" y="6212132"/>
            <a:ext cx="667522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4400" kern="1200">
                <a:solidFill>
                  <a:schemeClr val="tx2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 sz="1100" dirty="0"/>
              <a:t>Source: </a:t>
            </a:r>
            <a:r>
              <a:rPr lang="en-US" sz="1100" dirty="0">
                <a:hlinkClick r:id="rId3"/>
              </a:rPr>
              <a:t>http://www.verizonbusiness.com/resources/reports/rp_2010-DBIR-combined-reports_en_xg.pdf</a:t>
            </a:r>
            <a:r>
              <a:rPr lang="en-US" sz="1100" dirty="0"/>
              <a:t>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2016 John Wiley &amp; Sons, Inc.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E9B9C6-5EFD-47CD-B9A5-7DA91BC82E69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655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696594"/>
          </a:xfrm>
        </p:spPr>
        <p:txBody>
          <a:bodyPr/>
          <a:lstStyle/>
          <a:p>
            <a:r>
              <a:rPr lang="en-US" dirty="0"/>
              <a:t>IT Security Decision Framework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6488346"/>
              </p:ext>
            </p:extLst>
          </p:nvPr>
        </p:nvGraphicFramePr>
        <p:xfrm>
          <a:off x="381000" y="838200"/>
          <a:ext cx="8458200" cy="56654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4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4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3425">
                <a:tc>
                  <a:txBody>
                    <a:bodyPr/>
                    <a:lstStyle/>
                    <a:p>
                      <a:r>
                        <a:rPr lang="en-US" sz="2000" dirty="0"/>
                        <a:t>Decision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Who is Responsible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Why?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Otherwise?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r>
                        <a:rPr lang="en-US" sz="1800" dirty="0"/>
                        <a:t>Information Security 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Business Leaders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They know business strategies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Security is an afterthought and patched 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r>
                        <a:rPr lang="en-US" sz="1800" dirty="0"/>
                        <a:t>Information Security Infrastructure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IT Leaders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Technical</a:t>
                      </a:r>
                      <a:r>
                        <a:rPr lang="en-US" sz="1800" baseline="0" dirty="0"/>
                        <a:t> knowledge is needed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Incorrect infrastructure decisions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3425">
                <a:tc>
                  <a:txBody>
                    <a:bodyPr/>
                    <a:lstStyle/>
                    <a:p>
                      <a:r>
                        <a:rPr lang="en-US" sz="1800" dirty="0"/>
                        <a:t>Information Security Policy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Shared: IT and Business Leaders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Trade-offs need to be handled correctly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Unenforceable policies</a:t>
                      </a:r>
                      <a:r>
                        <a:rPr lang="en-US" sz="1800" baseline="0" dirty="0"/>
                        <a:t> that don’t fit the IT and the users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3425">
                <a:tc>
                  <a:txBody>
                    <a:bodyPr/>
                    <a:lstStyle/>
                    <a:p>
                      <a:r>
                        <a:rPr lang="en-US" sz="1800" dirty="0"/>
                        <a:t>SETA</a:t>
                      </a:r>
                      <a:r>
                        <a:rPr lang="en-US" sz="1800" baseline="0" dirty="0"/>
                        <a:t> (training)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Shared: IT and Business Leaders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Business buy-in and technical correctness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Insufficient training; errors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3425">
                <a:tc>
                  <a:txBody>
                    <a:bodyPr/>
                    <a:lstStyle/>
                    <a:p>
                      <a:r>
                        <a:rPr lang="en-US" sz="1800" dirty="0"/>
                        <a:t>Information Security Investments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Shared: IT and Business Leaders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Evaluation of business</a:t>
                      </a:r>
                      <a:r>
                        <a:rPr lang="en-US" sz="1800" baseline="0" dirty="0"/>
                        <a:t> goals and technical requirements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Over- or under-investment</a:t>
                      </a:r>
                      <a:r>
                        <a:rPr lang="en-US" sz="1800" baseline="0" dirty="0"/>
                        <a:t> in security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2016 John Wiley &amp; Sons,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E9B9C6-5EFD-47CD-B9A5-7DA91BC82E69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916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382000" cy="1600200"/>
          </a:xfrm>
        </p:spPr>
        <p:txBody>
          <a:bodyPr/>
          <a:lstStyle/>
          <a:p>
            <a:r>
              <a:rPr lang="en-US" dirty="0"/>
              <a:t>How Have Big Breaches Occurred?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7563694"/>
              </p:ext>
            </p:extLst>
          </p:nvPr>
        </p:nvGraphicFramePr>
        <p:xfrm>
          <a:off x="381000" y="1676400"/>
          <a:ext cx="8458200" cy="46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8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4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Date Detected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Company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What was stolen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November 2013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40 million credit &amp; debit cards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Contractor</a:t>
                      </a:r>
                      <a:r>
                        <a:rPr lang="en-US" sz="1800" baseline="0" dirty="0"/>
                        <a:t> opened virus-laden email attachment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May 2014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Ebay</a:t>
                      </a:r>
                      <a:r>
                        <a:rPr lang="en-US" sz="1800" dirty="0"/>
                        <a:t> 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145 million user names, physical addresses, phones, birth</a:t>
                      </a:r>
                      <a:r>
                        <a:rPr lang="en-US" sz="1800" baseline="0" dirty="0"/>
                        <a:t>days, encrypted passwords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Employee’s password obtained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September 2014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Ebay</a:t>
                      </a:r>
                      <a:r>
                        <a:rPr lang="en-US" sz="1800" baseline="0" dirty="0"/>
                        <a:t> #2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Small</a:t>
                      </a:r>
                      <a:r>
                        <a:rPr lang="en-US" sz="1800" baseline="0" dirty="0"/>
                        <a:t> but unknown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Cross-site scripting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September 2014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Home Depot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56</a:t>
                      </a:r>
                      <a:r>
                        <a:rPr lang="en-US" sz="1800" baseline="0" dirty="0"/>
                        <a:t> million credit card numbers</a:t>
                      </a:r>
                    </a:p>
                    <a:p>
                      <a:r>
                        <a:rPr lang="en-US" sz="1800" baseline="0" dirty="0"/>
                        <a:t>53 million email addresses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Obtaining a vendor’s password/exploiting OS vulnerability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January 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Anthem Blue Cross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80 million names,</a:t>
                      </a:r>
                      <a:r>
                        <a:rPr lang="en-US" sz="1800" baseline="0" dirty="0"/>
                        <a:t> birthdays, emails, Social security numbers, addresses, and employment data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Obtaining</a:t>
                      </a:r>
                      <a:r>
                        <a:rPr lang="en-US" sz="1800" baseline="0" dirty="0"/>
                        <a:t> passwords from 5 or more high-level employees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2016 John Wiley &amp; Sons,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E9B9C6-5EFD-47CD-B9A5-7DA91BC82E69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267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4208" y="152400"/>
            <a:ext cx="7772400" cy="1219200"/>
          </a:xfrm>
        </p:spPr>
        <p:txBody>
          <a:bodyPr/>
          <a:lstStyle/>
          <a:p>
            <a:r>
              <a:rPr lang="en-US" dirty="0"/>
              <a:t>Password Breaches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524000"/>
            <a:ext cx="7772400" cy="4572000"/>
          </a:xfrm>
        </p:spPr>
        <p:txBody>
          <a:bodyPr>
            <a:normAutofit/>
          </a:bodyPr>
          <a:lstStyle/>
          <a:p>
            <a:r>
              <a:rPr lang="en-US" sz="2800" dirty="0"/>
              <a:t>80% of breaches are caused by stealing a password.</a:t>
            </a:r>
          </a:p>
          <a:p>
            <a:r>
              <a:rPr lang="en-US" sz="2800" dirty="0"/>
              <a:t>You can steal a password by:</a:t>
            </a:r>
          </a:p>
          <a:p>
            <a:pPr lvl="1"/>
            <a:r>
              <a:rPr lang="en-US" sz="2400" dirty="0"/>
              <a:t>Phishing attack</a:t>
            </a:r>
          </a:p>
          <a:p>
            <a:pPr lvl="1"/>
            <a:r>
              <a:rPr lang="en-US" sz="2400" dirty="0"/>
              <a:t>Key logger (hardware or software)</a:t>
            </a:r>
          </a:p>
          <a:p>
            <a:pPr lvl="1"/>
            <a:r>
              <a:rPr lang="en-US" sz="2400" dirty="0"/>
              <a:t>Guessing weak passwords (123456 is most common)</a:t>
            </a:r>
          </a:p>
          <a:p>
            <a:pPr lvl="1"/>
            <a:r>
              <a:rPr lang="en-US" sz="2400" dirty="0"/>
              <a:t>Evil twin </a:t>
            </a:r>
            <a:r>
              <a:rPr lang="en-US" sz="2400" dirty="0" err="1"/>
              <a:t>wifi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2016 John Wiley &amp; Sons,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E9B9C6-5EFD-47CD-B9A5-7DA91BC82E69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696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990600"/>
          </a:xfrm>
        </p:spPr>
        <p:txBody>
          <a:bodyPr>
            <a:normAutofit/>
          </a:bodyPr>
          <a:lstStyle/>
          <a:p>
            <a:r>
              <a:rPr lang="en-US" dirty="0"/>
              <a:t>Insecurity of </a:t>
            </a:r>
            <a:r>
              <a:rPr lang="en-US" dirty="0" err="1"/>
              <a:t>WiFi</a:t>
            </a:r>
            <a:r>
              <a:rPr lang="en-US" dirty="0"/>
              <a:t>– a Dutch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3648"/>
            <a:ext cx="8458200" cy="5289551"/>
          </a:xfrm>
        </p:spPr>
        <p:txBody>
          <a:bodyPr/>
          <a:lstStyle/>
          <a:p>
            <a:r>
              <a:rPr lang="en-US" sz="2800" dirty="0"/>
              <a:t>“We took a hacker to a café and, in 20 minutes, he knew where everyone else was born, what schools they attended, and the last five things they googled.”</a:t>
            </a:r>
          </a:p>
          <a:p>
            <a:r>
              <a:rPr lang="en-US" sz="2800" dirty="0"/>
              <a:t>Had </a:t>
            </a:r>
            <a:r>
              <a:rPr lang="en-US" sz="2800" dirty="0" err="1"/>
              <a:t>WiFi</a:t>
            </a:r>
            <a:r>
              <a:rPr lang="en-US" sz="2800" dirty="0"/>
              <a:t> transmitter broadcasting “Starbucks” as ID</a:t>
            </a:r>
          </a:p>
          <a:p>
            <a:r>
              <a:rPr lang="en-US" sz="2800" dirty="0"/>
              <a:t>Because they were connected to him, he scanned for unpatched or vulnerable mobile devices or laptops</a:t>
            </a:r>
          </a:p>
          <a:p>
            <a:r>
              <a:rPr lang="en-US" sz="2800" dirty="0"/>
              <a:t>He also saw passwords and could lock them out of their own accounts.</a:t>
            </a:r>
          </a:p>
          <a:p>
            <a:r>
              <a:rPr lang="en-US" sz="2800" dirty="0"/>
              <a:t>The correspondent: “I will never again be connecting to an insecure public </a:t>
            </a:r>
            <a:r>
              <a:rPr lang="en-US" sz="2800" dirty="0" err="1"/>
              <a:t>WiFi</a:t>
            </a:r>
            <a:r>
              <a:rPr lang="en-US" sz="2800" dirty="0"/>
              <a:t> network without taking security measures.”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57200" y="6400800"/>
            <a:ext cx="7162800" cy="457200"/>
          </a:xfrm>
        </p:spPr>
        <p:txBody>
          <a:bodyPr/>
          <a:lstStyle/>
          <a:p>
            <a:pPr>
              <a:defRPr/>
            </a:pPr>
            <a:r>
              <a:rPr lang="en-US"/>
              <a:t>© 2016 John Wiley &amp; Sons,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5-</a:t>
            </a:r>
            <a:fld id="{BF486B0F-12FD-46F2-9F40-8B8F5930E1AC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202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509" y="152400"/>
            <a:ext cx="7772400" cy="1295400"/>
          </a:xfrm>
        </p:spPr>
        <p:txBody>
          <a:bodyPr/>
          <a:lstStyle/>
          <a:p>
            <a:r>
              <a:rPr lang="en-US" dirty="0"/>
              <a:t>Other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447800"/>
            <a:ext cx="7772400" cy="4648200"/>
          </a:xfrm>
        </p:spPr>
        <p:txBody>
          <a:bodyPr>
            <a:normAutofit/>
          </a:bodyPr>
          <a:lstStyle/>
          <a:p>
            <a:r>
              <a:rPr lang="en-US" sz="3200" dirty="0"/>
              <a:t>Cross-site scripting (malicious code pointing to a link requiring log-in at an imposter site)</a:t>
            </a:r>
          </a:p>
          <a:p>
            <a:r>
              <a:rPr lang="en-US" sz="3200" dirty="0"/>
              <a:t>Third parties</a:t>
            </a:r>
          </a:p>
          <a:p>
            <a:pPr lvl="1"/>
            <a:r>
              <a:rPr lang="en-US" sz="2800" dirty="0"/>
              <a:t>Target’s HVAC system was connected to main systems</a:t>
            </a:r>
          </a:p>
          <a:p>
            <a:pPr lvl="1"/>
            <a:r>
              <a:rPr lang="en-US" sz="2800" dirty="0"/>
              <a:t>Contractors had access</a:t>
            </a:r>
          </a:p>
          <a:p>
            <a:pPr lvl="1"/>
            <a:r>
              <a:rPr lang="en-US" sz="2800" dirty="0"/>
              <a:t>Hackers gained contractors’ password</a:t>
            </a:r>
          </a:p>
          <a:p>
            <a:pPr lvl="1"/>
            <a:r>
              <a:rPr lang="en-US" sz="2800" dirty="0"/>
              <a:t>Malware captured customer credit card info before it could be encrypted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2016 John Wiley &amp; Sons,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E9B9C6-5EFD-47CD-B9A5-7DA91BC82E69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562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of Breaches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81199"/>
            <a:ext cx="7886700" cy="4195763"/>
          </a:xfrm>
        </p:spPr>
        <p:txBody>
          <a:bodyPr>
            <a:normAutofit/>
          </a:bodyPr>
          <a:lstStyle/>
          <a:p>
            <a:r>
              <a:rPr lang="en-US" sz="2800" dirty="0"/>
              <a:t>Estimated at $145 to $154 per stolen record</a:t>
            </a:r>
          </a:p>
          <a:p>
            <a:r>
              <a:rPr lang="en-US" sz="2800" dirty="0"/>
              <a:t>Revenue lost when sales decline</a:t>
            </a:r>
          </a:p>
          <a:p>
            <a:r>
              <a:rPr lang="en-US" sz="2800" dirty="0"/>
              <a:t>Some costs can be recouped by insurance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2016 John Wiley &amp; Sons,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E9B9C6-5EFD-47CD-B9A5-7DA91BC82E69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0390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You be Safe?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800" dirty="0"/>
          </a:p>
          <a:p>
            <a:r>
              <a:rPr lang="en-US" sz="2800" dirty="0"/>
              <a:t>No, unless the information is permanently inaccessible</a:t>
            </a:r>
          </a:p>
          <a:p>
            <a:pPr lvl="1"/>
            <a:r>
              <a:rPr lang="en-US" sz="2400" dirty="0"/>
              <a:t>“You cannot make a computer secure” – from Dain Gary, former CERT chief</a:t>
            </a:r>
          </a:p>
          <a:p>
            <a:r>
              <a:rPr lang="en-US" sz="2800" dirty="0"/>
              <a:t>97% of all firms have been breached</a:t>
            </a:r>
          </a:p>
          <a:p>
            <a:r>
              <a:rPr lang="en-US" sz="2800" dirty="0"/>
              <a:t>Sometimes security makes systems less usable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2016 John Wiley &amp; Sons,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E9B9C6-5EFD-47CD-B9A5-7DA91BC82E69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404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1219200"/>
          </a:xfrm>
        </p:spPr>
        <p:txBody>
          <a:bodyPr/>
          <a:lstStyle/>
          <a:p>
            <a:r>
              <a:rPr lang="en-US" dirty="0"/>
              <a:t>What Motivates the Hackers?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371600"/>
            <a:ext cx="8686800" cy="5105400"/>
          </a:xfrm>
        </p:spPr>
        <p:txBody>
          <a:bodyPr>
            <a:normAutofit/>
          </a:bodyPr>
          <a:lstStyle/>
          <a:p>
            <a:pPr lvl="1"/>
            <a:r>
              <a:rPr lang="en-US" sz="2800" dirty="0"/>
              <a:t>Sell stolen credit card numbers for up to $50 each</a:t>
            </a:r>
          </a:p>
          <a:p>
            <a:pPr lvl="1"/>
            <a:r>
              <a:rPr lang="en-US" sz="2800" dirty="0"/>
              <a:t>2 million Target card numbers were sold for $20 each on average</a:t>
            </a:r>
          </a:p>
          <a:p>
            <a:pPr lvl="1"/>
            <a:r>
              <a:rPr lang="en-US" sz="2800" dirty="0"/>
              <a:t>Street gang members can usually get $400 out of a card</a:t>
            </a:r>
          </a:p>
          <a:p>
            <a:pPr lvl="1"/>
            <a:r>
              <a:rPr lang="en-US" sz="2800" dirty="0"/>
              <a:t>Some “kits” (card number plus SSN plus medical information) sell for up to $1,000</a:t>
            </a:r>
          </a:p>
          <a:p>
            <a:pPr lvl="2"/>
            <a:r>
              <a:rPr lang="en-US" sz="2000" dirty="0"/>
              <a:t>They allow opening new account cards</a:t>
            </a:r>
          </a:p>
          <a:p>
            <a:pPr lvl="1"/>
            <a:r>
              <a:rPr lang="en-US" sz="2800" dirty="0"/>
              <a:t>Stolen cards can be sold for bitcoin on the Deep Web</a:t>
            </a:r>
          </a:p>
          <a:p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2016 John Wiley &amp; Sons,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E9B9C6-5EFD-47CD-B9A5-7DA91BC82E69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945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Should Management Do?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981200"/>
            <a:ext cx="7772400" cy="3886200"/>
          </a:xfrm>
        </p:spPr>
        <p:txBody>
          <a:bodyPr>
            <a:noAutofit/>
          </a:bodyPr>
          <a:lstStyle/>
          <a:p>
            <a:r>
              <a:rPr lang="en-US" sz="3200" dirty="0"/>
              <a:t>Security strategy</a:t>
            </a:r>
          </a:p>
          <a:p>
            <a:r>
              <a:rPr lang="en-US" sz="3200" dirty="0"/>
              <a:t>Infrastructure</a:t>
            </a:r>
          </a:p>
          <a:p>
            <a:pPr lvl="1"/>
            <a:r>
              <a:rPr lang="en-US" sz="2800" dirty="0"/>
              <a:t>Access tools *</a:t>
            </a:r>
          </a:p>
          <a:p>
            <a:pPr lvl="1"/>
            <a:r>
              <a:rPr lang="en-US" sz="2800" dirty="0"/>
              <a:t>Storage and transmission tools *</a:t>
            </a:r>
          </a:p>
          <a:p>
            <a:r>
              <a:rPr lang="en-US" sz="3200" dirty="0"/>
              <a:t>Security policies *</a:t>
            </a:r>
          </a:p>
          <a:p>
            <a:r>
              <a:rPr lang="en-US" sz="3200" dirty="0"/>
              <a:t>Training *</a:t>
            </a:r>
          </a:p>
          <a:p>
            <a:r>
              <a:rPr lang="en-US" sz="3200" dirty="0"/>
              <a:t>Investments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37715" y="6019800"/>
            <a:ext cx="22685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 Described next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2016 John Wiley &amp; Sons, Inc.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E9B9C6-5EFD-47CD-B9A5-7DA91BC82E69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7822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01675"/>
          </a:xfrm>
        </p:spPr>
        <p:txBody>
          <a:bodyPr>
            <a:normAutofit/>
          </a:bodyPr>
          <a:lstStyle/>
          <a:p>
            <a:r>
              <a:rPr lang="en-NZ" sz="3200" dirty="0" smtClean="0"/>
              <a:t>Commonly used management security policies</a:t>
            </a:r>
            <a:endParaRPr lang="en-NZ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477000"/>
            <a:ext cx="3086100" cy="244476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© 2016 John Wiley &amp; Sons,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E9B9C6-5EFD-47CD-B9A5-7DA91BC82E69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10794" t="4854" r="33695" b="7424"/>
          <a:stretch/>
        </p:blipFill>
        <p:spPr>
          <a:xfrm>
            <a:off x="1406426" y="905130"/>
            <a:ext cx="6331148" cy="562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6841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228600"/>
            <a:ext cx="7772400" cy="1143000"/>
          </a:xfrm>
        </p:spPr>
        <p:txBody>
          <a:bodyPr/>
          <a:lstStyle/>
          <a:p>
            <a:r>
              <a:rPr lang="en-US" dirty="0"/>
              <a:t>Access Tools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99638"/>
              </p:ext>
            </p:extLst>
          </p:nvPr>
        </p:nvGraphicFramePr>
        <p:xfrm>
          <a:off x="152399" y="1371600"/>
          <a:ext cx="8839199" cy="47872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3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04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348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6285">
                <a:tc>
                  <a:txBody>
                    <a:bodyPr/>
                    <a:lstStyle/>
                    <a:p>
                      <a:r>
                        <a:rPr lang="en-US" sz="1600" b="1" dirty="0"/>
                        <a:t>Access 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Ubiquity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Disadvantages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2928">
                <a:tc>
                  <a:txBody>
                    <a:bodyPr/>
                    <a:lstStyle/>
                    <a:p>
                      <a:r>
                        <a:rPr lang="en-US" sz="1800" b="1" dirty="0"/>
                        <a:t>Physical</a:t>
                      </a:r>
                      <a:r>
                        <a:rPr lang="en-US" sz="1800" b="1" baseline="0" dirty="0"/>
                        <a:t> locks</a:t>
                      </a:r>
                      <a:endParaRPr 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Very 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Excellent if guarded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Locks can be picked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Physical Access is often not needed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Keys can be lost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2928">
                <a:tc>
                  <a:txBody>
                    <a:bodyPr/>
                    <a:lstStyle/>
                    <a:p>
                      <a:r>
                        <a:rPr lang="en-US" sz="1800" b="1" dirty="0"/>
                        <a:t>Passwords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Very 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User acceptance and familiarity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Ease of use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Mature practices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Poor by themselves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Sometimes forgotten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Sometimes stolen from users using deception or key loggers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65142">
                <a:tc>
                  <a:txBody>
                    <a:bodyPr/>
                    <a:lstStyle/>
                    <a:p>
                      <a:r>
                        <a:rPr lang="en-US" sz="1800" b="1" dirty="0"/>
                        <a:t>Biometrics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Can be reliable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Never forgotten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Cannot be stolen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Can be inexpensive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False positives/negatives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Some are expensive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Some might change (e.g., voice)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Lost limbs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Loopholes (e.g., photo)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2016 John Wiley &amp; Sons,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E9B9C6-5EFD-47CD-B9A5-7DA91BC82E69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045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152400"/>
            <a:ext cx="7772400" cy="609600"/>
          </a:xfrm>
        </p:spPr>
        <p:txBody>
          <a:bodyPr>
            <a:normAutofit fontScale="90000"/>
          </a:bodyPr>
          <a:lstStyle/>
          <a:p>
            <a:r>
              <a:rPr lang="en-US" dirty="0"/>
              <a:t>Access Tools (continued)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9555946"/>
              </p:ext>
            </p:extLst>
          </p:nvPr>
        </p:nvGraphicFramePr>
        <p:xfrm>
          <a:off x="152399" y="632827"/>
          <a:ext cx="8839199" cy="594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3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04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348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4993">
                <a:tc>
                  <a:txBody>
                    <a:bodyPr/>
                    <a:lstStyle/>
                    <a:p>
                      <a:r>
                        <a:rPr lang="en-US" sz="1800" dirty="0"/>
                        <a:t>Access 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Ubiquity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Disadvantages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3715">
                <a:tc>
                  <a:txBody>
                    <a:bodyPr/>
                    <a:lstStyle/>
                    <a:p>
                      <a:r>
                        <a:rPr lang="en-US" sz="1800" b="1" dirty="0"/>
                        <a:t>Challenge 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Medium (high in banking)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 forgotten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Multitude of questions can be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Social networking might reveal some answers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Personal knowledge of an individual might reveal the answers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Spelling might not be consistent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737">
                <a:tc>
                  <a:txBody>
                    <a:bodyPr/>
                    <a:lstStyle/>
                    <a:p>
                      <a:r>
                        <a:rPr lang="en-US" sz="1800" b="1" dirty="0"/>
                        <a:t>Token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Stolen passkey is useless quickly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Requires carrying a device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1203">
                <a:tc>
                  <a:txBody>
                    <a:bodyPr/>
                    <a:lstStyle/>
                    <a:p>
                      <a:r>
                        <a:rPr lang="en-US" sz="1800" b="1" dirty="0"/>
                        <a:t>Text message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Stolen</a:t>
                      </a: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passkey is useless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Mobile phone already owned by users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Useful as a secondary mechanism too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Requires mobile</a:t>
                      </a: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phone ownership by all users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Home phone option requires speech synthesis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Requires alternative access control if mobile phone lost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1951">
                <a:tc>
                  <a:txBody>
                    <a:bodyPr/>
                    <a:lstStyle/>
                    <a:p>
                      <a:r>
                        <a:rPr lang="en-US" sz="1800" b="1" dirty="0"/>
                        <a:t>Multi-factor authentication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Stolen</a:t>
                      </a: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password is useless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Enhanced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Requires an additional technique</a:t>
                      </a: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if one of the two fails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Temptation for easy password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2016 John Wiley &amp; Sons,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E9B9C6-5EFD-47CD-B9A5-7DA91BC82E69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246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76200"/>
            <a:ext cx="7772400" cy="914400"/>
          </a:xfrm>
        </p:spPr>
        <p:txBody>
          <a:bodyPr>
            <a:normAutofit/>
          </a:bodyPr>
          <a:lstStyle/>
          <a:p>
            <a:r>
              <a:rPr lang="en-US" dirty="0"/>
              <a:t>Storage and Transmission Tools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381718"/>
              </p:ext>
            </p:extLst>
          </p:nvPr>
        </p:nvGraphicFramePr>
        <p:xfrm>
          <a:off x="76200" y="990600"/>
          <a:ext cx="8915400" cy="5486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9727">
                <a:tc>
                  <a:txBody>
                    <a:bodyPr/>
                    <a:lstStyle/>
                    <a:p>
                      <a:r>
                        <a:rPr lang="en-US" sz="1800" dirty="0"/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Ubiquity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Disadvantages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7483">
                <a:tc>
                  <a:txBody>
                    <a:bodyPr/>
                    <a:lstStyle/>
                    <a:p>
                      <a:r>
                        <a:rPr lang="en-US" sz="1800" b="1" dirty="0"/>
                        <a:t>Antivirus/ antispyware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Very 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Blocks many known threats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Blocks some “zero-day” threats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Slow down operating system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“Zero day” threats can be missed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1721">
                <a:tc>
                  <a:txBody>
                    <a:bodyPr/>
                    <a:lstStyle/>
                    <a:p>
                      <a:r>
                        <a:rPr lang="en-US" sz="1800" b="1" dirty="0"/>
                        <a:t>Firewall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Can prevent some targeted traffic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Can only filter known threats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Can have well-known “holes”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95363">
                <a:tc>
                  <a:txBody>
                    <a:bodyPr/>
                    <a:lstStyle/>
                    <a:p>
                      <a:r>
                        <a:rPr lang="en-US" sz="1800" b="1" dirty="0"/>
                        <a:t>System logs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Very 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Can reveal IP address of attacker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Can estimate the extent of the breach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Hackers can conceal</a:t>
                      </a: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their IP address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Hackers can delete logs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Logs can be huge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Irregular inspections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42104">
                <a:tc>
                  <a:txBody>
                    <a:bodyPr/>
                    <a:lstStyle/>
                    <a:p>
                      <a:r>
                        <a:rPr lang="en-US" sz="1800" b="1" dirty="0"/>
                        <a:t>System alerts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Can help point to logs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Can detect an attack in process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High sensitivity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Low selectivity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2016 John Wiley &amp; Sons,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E9B9C6-5EFD-47CD-B9A5-7DA91BC82E69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521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8915400" cy="1066800"/>
          </a:xfrm>
        </p:spPr>
        <p:txBody>
          <a:bodyPr>
            <a:normAutofit/>
          </a:bodyPr>
          <a:lstStyle/>
          <a:p>
            <a:r>
              <a:rPr lang="en-US" dirty="0"/>
              <a:t>Storage and Transmission Tools </a:t>
            </a:r>
            <a:r>
              <a:rPr lang="en-US" sz="2000" dirty="0"/>
              <a:t>(continued)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0340802"/>
              </p:ext>
            </p:extLst>
          </p:nvPr>
        </p:nvGraphicFramePr>
        <p:xfrm>
          <a:off x="127782" y="1447800"/>
          <a:ext cx="8915400" cy="45844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9569">
                <a:tc>
                  <a:txBody>
                    <a:bodyPr/>
                    <a:lstStyle/>
                    <a:p>
                      <a:r>
                        <a:rPr lang="en-US" sz="1800" dirty="0"/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Ubiquity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Disadvantages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3142">
                <a:tc>
                  <a:txBody>
                    <a:bodyPr/>
                    <a:lstStyle/>
                    <a:p>
                      <a:r>
                        <a:rPr lang="en-US" sz="1800" b="1" dirty="0"/>
                        <a:t>Encryption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Very 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Difficult to access a file without the key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Long keys could take years to break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Keys are unnecessary if password is known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If the key is not strong,</a:t>
                      </a: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hackers could uncover it by trial and error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3229">
                <a:tc>
                  <a:txBody>
                    <a:bodyPr/>
                    <a:lstStyle/>
                    <a:p>
                      <a:r>
                        <a:rPr lang="en-US" sz="1800" b="1" dirty="0"/>
                        <a:t>WEP/WPA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Very 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Same</a:t>
                      </a: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as encryption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Most</a:t>
                      </a: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devices have the capability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Provides secure </a:t>
                      </a:r>
                      <a:r>
                        <a:rPr lang="en-US" sz="18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wifi</a:t>
                      </a: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connection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Same as encryption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Some</a:t>
                      </a: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older devices have limited protections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WEP is not secure, yet it is still provided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3849">
                <a:tc>
                  <a:txBody>
                    <a:bodyPr/>
                    <a:lstStyle/>
                    <a:p>
                      <a:r>
                        <a:rPr lang="en-US" sz="1800" b="1" dirty="0"/>
                        <a:t>VPN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Trusted connection is as if you were connected on site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Hard to decrypt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Device could be stolen while connected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Sometimes slows the connection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2016 John Wiley &amp; Sons,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E9B9C6-5EFD-47CD-B9A5-7DA91BC82E69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5421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7772400" cy="1143000"/>
          </a:xfrm>
        </p:spPr>
        <p:txBody>
          <a:bodyPr>
            <a:normAutofit/>
          </a:bodyPr>
          <a:lstStyle/>
          <a:p>
            <a:r>
              <a:rPr lang="en-US" dirty="0"/>
              <a:t>Security Policies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47800"/>
            <a:ext cx="8534400" cy="4648200"/>
          </a:xfrm>
        </p:spPr>
        <p:txBody>
          <a:bodyPr>
            <a:normAutofit/>
          </a:bodyPr>
          <a:lstStyle/>
          <a:p>
            <a:r>
              <a:rPr lang="en-US" sz="2800" dirty="0"/>
              <a:t>Perform security updates promptly</a:t>
            </a:r>
          </a:p>
          <a:p>
            <a:r>
              <a:rPr lang="en-US" sz="2800" dirty="0"/>
              <a:t>Separate unrelated networks</a:t>
            </a:r>
          </a:p>
          <a:p>
            <a:r>
              <a:rPr lang="en-US" sz="2800" dirty="0"/>
              <a:t>Keep passwords secret</a:t>
            </a:r>
          </a:p>
          <a:p>
            <a:r>
              <a:rPr lang="en-US" sz="2800" dirty="0"/>
              <a:t>Manage mobile devices (BYOD)</a:t>
            </a:r>
          </a:p>
          <a:p>
            <a:r>
              <a:rPr lang="en-US" sz="2800" dirty="0"/>
              <a:t>Formulate data policies (retention and disposal)</a:t>
            </a:r>
          </a:p>
          <a:p>
            <a:r>
              <a:rPr lang="en-US" sz="2800" dirty="0"/>
              <a:t>Manage social media (rules as to what can be shared, how to identify yourself)</a:t>
            </a:r>
          </a:p>
          <a:p>
            <a:r>
              <a:rPr lang="en-US" sz="2800" dirty="0"/>
              <a:t>Use consultants (Managed Security Services Providers)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2016 John Wiley &amp; Sons,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E9B9C6-5EFD-47CD-B9A5-7DA91BC82E69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535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1447800"/>
          </a:xfrm>
        </p:spPr>
        <p:txBody>
          <a:bodyPr>
            <a:normAutofit/>
          </a:bodyPr>
          <a:lstStyle/>
          <a:p>
            <a:r>
              <a:rPr lang="en-US" dirty="0"/>
              <a:t>SETA (Security Education, Training, and Awareness)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057399"/>
            <a:ext cx="7886700" cy="4119563"/>
          </a:xfrm>
        </p:spPr>
        <p:txBody>
          <a:bodyPr>
            <a:normAutofit/>
          </a:bodyPr>
          <a:lstStyle/>
          <a:p>
            <a:r>
              <a:rPr lang="en-US" sz="3200" dirty="0"/>
              <a:t>Training on access tools</a:t>
            </a:r>
          </a:p>
          <a:p>
            <a:pPr lvl="1"/>
            <a:r>
              <a:rPr lang="en-US" sz="2800" dirty="0"/>
              <a:t>Limitations of passwords</a:t>
            </a:r>
          </a:p>
          <a:p>
            <a:pPr lvl="1"/>
            <a:r>
              <a:rPr lang="en-US" sz="2800" dirty="0"/>
              <a:t>Formulating a password</a:t>
            </a:r>
          </a:p>
          <a:p>
            <a:pPr lvl="1"/>
            <a:r>
              <a:rPr lang="en-US" sz="2800" dirty="0"/>
              <a:t>Changing passwords periodically</a:t>
            </a:r>
          </a:p>
          <a:p>
            <a:pPr lvl="1"/>
            <a:r>
              <a:rPr lang="en-US" sz="2800" dirty="0"/>
              <a:t>Using multi-factor authentication</a:t>
            </a:r>
          </a:p>
          <a:p>
            <a:pPr lvl="1"/>
            <a:r>
              <a:rPr lang="en-US" sz="2800" dirty="0"/>
              <a:t>Using password managers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2016 John Wiley &amp; Sons,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E9B9C6-5EFD-47CD-B9A5-7DA91BC82E69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3465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1371600"/>
          </a:xfrm>
        </p:spPr>
        <p:txBody>
          <a:bodyPr>
            <a:normAutofit/>
          </a:bodyPr>
          <a:lstStyle/>
          <a:p>
            <a:r>
              <a:rPr lang="en-US" dirty="0"/>
              <a:t>SETA (Security Education, Training, and Awareness)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BYOD</a:t>
            </a:r>
          </a:p>
          <a:p>
            <a:pPr lvl="1"/>
            <a:r>
              <a:rPr lang="en-US" sz="2800" dirty="0"/>
              <a:t>Rules</a:t>
            </a:r>
          </a:p>
          <a:p>
            <a:pPr lvl="1"/>
            <a:r>
              <a:rPr lang="en-US" sz="2800" dirty="0"/>
              <a:t>How to follow them</a:t>
            </a:r>
          </a:p>
          <a:p>
            <a:r>
              <a:rPr lang="en-US" sz="3200" dirty="0"/>
              <a:t>Social Media</a:t>
            </a:r>
          </a:p>
          <a:p>
            <a:pPr lvl="1"/>
            <a:r>
              <a:rPr lang="en-US" sz="2800" dirty="0"/>
              <a:t>Rules</a:t>
            </a:r>
          </a:p>
          <a:p>
            <a:pPr lvl="1"/>
            <a:r>
              <a:rPr lang="en-US" sz="2800" dirty="0"/>
              <a:t>How to follow them</a:t>
            </a:r>
          </a:p>
          <a:p>
            <a:pPr lvl="1"/>
            <a:r>
              <a:rPr lang="en-US" sz="2800" dirty="0"/>
              <a:t>Cases from the past that created problems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2016 John Wiley &amp; Sons,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E9B9C6-5EFD-47CD-B9A5-7DA91BC82E69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5470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1524000"/>
          </a:xfrm>
        </p:spPr>
        <p:txBody>
          <a:bodyPr>
            <a:normAutofit/>
          </a:bodyPr>
          <a:lstStyle/>
          <a:p>
            <a:r>
              <a:rPr lang="en-US" dirty="0"/>
              <a:t>SETA (Security Education, Training, and Awareness)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209800"/>
            <a:ext cx="7772400" cy="3886200"/>
          </a:xfrm>
        </p:spPr>
        <p:txBody>
          <a:bodyPr>
            <a:normAutofit/>
          </a:bodyPr>
          <a:lstStyle/>
          <a:p>
            <a:r>
              <a:rPr lang="en-US" sz="3200" dirty="0"/>
              <a:t>Vigilance: Recognizing:</a:t>
            </a:r>
          </a:p>
          <a:p>
            <a:pPr lvl="1"/>
            <a:r>
              <a:rPr lang="en-US" sz="2800" dirty="0"/>
              <a:t>Bogus warning messages</a:t>
            </a:r>
          </a:p>
          <a:p>
            <a:pPr lvl="1"/>
            <a:r>
              <a:rPr lang="en-US" sz="2800" dirty="0"/>
              <a:t>Phishing emails</a:t>
            </a:r>
          </a:p>
          <a:p>
            <a:pPr lvl="1"/>
            <a:r>
              <a:rPr lang="en-US" sz="2800" dirty="0"/>
              <a:t>Physical intrusions</a:t>
            </a:r>
          </a:p>
          <a:p>
            <a:pPr lvl="1"/>
            <a:r>
              <a:rPr lang="en-US" sz="2800" dirty="0"/>
              <a:t>Ports and access channels to examine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2016 John Wiley &amp; Sons,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E9B9C6-5EFD-47CD-B9A5-7DA91BC82E69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0371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987" y="228600"/>
            <a:ext cx="7772400" cy="762000"/>
          </a:xfrm>
        </p:spPr>
        <p:txBody>
          <a:bodyPr/>
          <a:lstStyle/>
          <a:p>
            <a:r>
              <a:rPr lang="en-US" dirty="0"/>
              <a:t>Classic Signs of Phishing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066800"/>
            <a:ext cx="7772400" cy="5029200"/>
          </a:xfrm>
        </p:spPr>
        <p:txBody>
          <a:bodyPr/>
          <a:lstStyle/>
          <a:p>
            <a:r>
              <a:rPr lang="en-US" sz="2800" dirty="0"/>
              <a:t>Account is being closed</a:t>
            </a:r>
          </a:p>
          <a:p>
            <a:r>
              <a:rPr lang="en-US" sz="2800" dirty="0"/>
              <a:t>Email in-box is full</a:t>
            </a:r>
          </a:p>
          <a:p>
            <a:r>
              <a:rPr lang="en-US" sz="2800" dirty="0"/>
              <a:t>Winning a contest or lottery</a:t>
            </a:r>
          </a:p>
          <a:p>
            <a:r>
              <a:rPr lang="en-US" sz="2800" dirty="0"/>
              <a:t>Inheritance or commission to handle funds</a:t>
            </a:r>
          </a:p>
          <a:p>
            <a:r>
              <a:rPr lang="en-US" sz="2800" dirty="0"/>
              <a:t>Product delivery failed</a:t>
            </a:r>
          </a:p>
          <a:p>
            <a:r>
              <a:rPr lang="en-US" sz="2800" dirty="0"/>
              <a:t>Odd URL when hovering</a:t>
            </a:r>
          </a:p>
          <a:p>
            <a:r>
              <a:rPr lang="en-US" sz="2800" dirty="0"/>
              <a:t>Familiar name but strange email address</a:t>
            </a:r>
          </a:p>
          <a:p>
            <a:r>
              <a:rPr lang="en-US" sz="2800" dirty="0"/>
              <a:t>Poor grammar/spelling</a:t>
            </a:r>
          </a:p>
          <a:p>
            <a:r>
              <a:rPr lang="en-US" sz="2800" dirty="0"/>
              <a:t>Impossibly low prices</a:t>
            </a:r>
          </a:p>
          <a:p>
            <a:r>
              <a:rPr lang="en-US" sz="2800" dirty="0"/>
              <a:t>Attachment with EXE, ZIP, or BAT (etc.)</a:t>
            </a:r>
          </a:p>
          <a:p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2016 John Wiley &amp; Sons,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E9B9C6-5EFD-47CD-B9A5-7DA91BC82E69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6762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304800" y="228599"/>
            <a:ext cx="8382000" cy="121920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0000" lnSpcReduction="20000"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kumimoji="1" lang="en-US" dirty="0">
                <a:solidFill>
                  <a:schemeClr val="accent6">
                    <a:lumMod val="50000"/>
                  </a:schemeClr>
                </a:solidFill>
                <a:latin typeface="Arial Black" pitchFamily="34" charset="0"/>
              </a:rPr>
              <a:t>Managing and Using Information Systems: </a:t>
            </a:r>
            <a:br>
              <a:rPr kumimoji="1" lang="en-US" dirty="0">
                <a:solidFill>
                  <a:schemeClr val="accent6">
                    <a:lumMod val="50000"/>
                  </a:schemeClr>
                </a:solidFill>
                <a:latin typeface="Arial Black" pitchFamily="34" charset="0"/>
              </a:rPr>
            </a:br>
            <a:r>
              <a:rPr kumimoji="1" lang="en-US" dirty="0">
                <a:solidFill>
                  <a:schemeClr val="accent6">
                    <a:lumMod val="50000"/>
                  </a:schemeClr>
                </a:solidFill>
                <a:latin typeface="Arial Black" pitchFamily="34" charset="0"/>
              </a:rPr>
              <a:t>A Strategic Approach – Sixth Edition</a:t>
            </a:r>
            <a:endParaRPr 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" name="Subtitle 2"/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1333500" y="1915319"/>
            <a:ext cx="6477000" cy="6096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 baseline="0">
                <a:solidFill>
                  <a:schemeClr val="tx1"/>
                </a:solidFill>
                <a:latin typeface="Georgia" pitchFamily="18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lnSpc>
                <a:spcPct val="80000"/>
              </a:lnSpc>
              <a:spcAft>
                <a:spcPts val="0"/>
              </a:spcAft>
              <a:defRPr/>
            </a:pPr>
            <a:r>
              <a:rPr kumimoji="1" lang="en-US" sz="2400" dirty="0">
                <a:solidFill>
                  <a:schemeClr val="accent6">
                    <a:lumMod val="75000"/>
                  </a:schemeClr>
                </a:solidFill>
                <a:latin typeface="Arial Black" pitchFamily="34" charset="0"/>
              </a:rPr>
              <a:t>Keri Pearlson, Carol Saunders, </a:t>
            </a:r>
            <a:br>
              <a:rPr kumimoji="1" lang="en-US" sz="2400" dirty="0">
                <a:solidFill>
                  <a:schemeClr val="accent6">
                    <a:lumMod val="75000"/>
                  </a:schemeClr>
                </a:solidFill>
                <a:latin typeface="Arial Black" pitchFamily="34" charset="0"/>
              </a:rPr>
            </a:br>
            <a:r>
              <a:rPr kumimoji="1" lang="en-US" sz="2400" dirty="0">
                <a:solidFill>
                  <a:schemeClr val="accent6">
                    <a:lumMod val="75000"/>
                  </a:schemeClr>
                </a:solidFill>
                <a:latin typeface="Arial Black" pitchFamily="34" charset="0"/>
              </a:rPr>
              <a:t>and Dennis Galletta</a:t>
            </a:r>
            <a:endParaRPr lang="en-US" sz="2800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6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505200"/>
            <a:ext cx="2299064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4191000" y="2895600"/>
          <a:ext cx="4203420" cy="36355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4" name="Image" r:id="rId6" imgW="4699800" imgH="4065840" progId="Photoshop.Image.16">
                  <p:embed/>
                </p:oleObj>
              </mc:Choice>
              <mc:Fallback>
                <p:oleObj name="Image" r:id="rId6" imgW="4699800" imgH="4065840" progId="Photoshop.Image.16">
                  <p:embed/>
                  <p:pic>
                    <p:nvPicPr>
                      <p:cNvPr id="10" name="Object 9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191000" y="2895600"/>
                        <a:ext cx="4203420" cy="36355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309495" y="4613031"/>
            <a:ext cx="18682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© Copyright 2016</a:t>
            </a:r>
            <a:br>
              <a:rPr lang="en-US" sz="1400" dirty="0"/>
            </a:br>
            <a:r>
              <a:rPr lang="en-US" sz="1400" dirty="0"/>
              <a:t>John Wiley &amp; Sons, Inc.</a:t>
            </a:r>
          </a:p>
        </p:txBody>
      </p:sp>
    </p:spTree>
    <p:extLst>
      <p:ext uri="{BB962C8B-B14F-4D97-AF65-F5344CB8AC3E}">
        <p14:creationId xmlns:p14="http://schemas.microsoft.com/office/powerpoint/2010/main" val="201802663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4nqtrpMJHznzW6iQWuGbY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9TlgkWg9GbD75tZxSe07S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K4nqtrpMJHznzW6iQWuGbY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9TlgkWg9GbD75tZxSe07Sl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04 final.potx" id="{903E9837-46BE-431F-B224-73072F7D5C78}" vid="{8944AAA7-129C-41B8-9C5C-A0B0751A55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4121</TotalTime>
  <Words>1789</Words>
  <Application>Microsoft Office PowerPoint</Application>
  <PresentationFormat>On-screen Show (4:3)</PresentationFormat>
  <Paragraphs>339</Paragraphs>
  <Slides>26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Arial Black</vt:lpstr>
      <vt:lpstr>Calibri</vt:lpstr>
      <vt:lpstr>Calibri Light</vt:lpstr>
      <vt:lpstr>Georgia</vt:lpstr>
      <vt:lpstr>Office Theme</vt:lpstr>
      <vt:lpstr>Image</vt:lpstr>
      <vt:lpstr>PowerPoint Presentation</vt:lpstr>
      <vt:lpstr>Chapter 7 Security</vt:lpstr>
      <vt:lpstr>Opening Case</vt:lpstr>
      <vt:lpstr>How Long Does it Take?</vt:lpstr>
      <vt:lpstr>Timeline of a Breach - Fantasy</vt:lpstr>
      <vt:lpstr>Timeline of a Breach - Reality</vt:lpstr>
      <vt:lpstr>IT Security Decision Framework</vt:lpstr>
      <vt:lpstr>How Have Big Breaches Occurred?</vt:lpstr>
      <vt:lpstr>Password Breaches</vt:lpstr>
      <vt:lpstr>Insecurity of WiFi– a Dutch study</vt:lpstr>
      <vt:lpstr>Other Approaches</vt:lpstr>
      <vt:lpstr>Cost of Breaches</vt:lpstr>
      <vt:lpstr>Can You be Safe?</vt:lpstr>
      <vt:lpstr>What Motivates the Hackers?</vt:lpstr>
      <vt:lpstr>What Should Management Do?</vt:lpstr>
      <vt:lpstr>Commonly used management security policies</vt:lpstr>
      <vt:lpstr>Access Tools</vt:lpstr>
      <vt:lpstr>Access Tools (continued)</vt:lpstr>
      <vt:lpstr>Storage and Transmission Tools</vt:lpstr>
      <vt:lpstr>Storage and Transmission Tools (continued)</vt:lpstr>
      <vt:lpstr>Security Policies</vt:lpstr>
      <vt:lpstr>SETA (Security Education, Training, and Awareness)</vt:lpstr>
      <vt:lpstr>SETA (Security Education, Training, and Awareness)</vt:lpstr>
      <vt:lpstr>SETA (Security Education, Training, and Awareness)</vt:lpstr>
      <vt:lpstr>Classic Signs of Phishing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 Strategy and Information Systems</dc:title>
  <dc:creator>Dennis Galletta</dc:creator>
  <cp:lastModifiedBy>Lorraine Skelton</cp:lastModifiedBy>
  <cp:revision>76</cp:revision>
  <cp:lastPrinted>2011-05-27T01:54:26Z</cp:lastPrinted>
  <dcterms:created xsi:type="dcterms:W3CDTF">2010-04-01T19:48:22Z</dcterms:created>
  <dcterms:modified xsi:type="dcterms:W3CDTF">2022-05-30T22:34:34Z</dcterms:modified>
</cp:coreProperties>
</file>