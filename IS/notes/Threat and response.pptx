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50"/>
  </p:notesMasterIdLst>
  <p:sldIdLst>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5" r:id="rId19"/>
    <p:sldId id="276" r:id="rId20"/>
    <p:sldId id="277" r:id="rId21"/>
    <p:sldId id="278" r:id="rId22"/>
    <p:sldId id="279" r:id="rId23"/>
    <p:sldId id="280" r:id="rId24"/>
    <p:sldId id="282" r:id="rId25"/>
    <p:sldId id="284" r:id="rId26"/>
    <p:sldId id="285" r:id="rId27"/>
    <p:sldId id="286" r:id="rId28"/>
    <p:sldId id="287" r:id="rId29"/>
    <p:sldId id="288" r:id="rId30"/>
    <p:sldId id="289" r:id="rId31"/>
    <p:sldId id="290" r:id="rId32"/>
    <p:sldId id="291" r:id="rId33"/>
    <p:sldId id="292" r:id="rId34"/>
    <p:sldId id="293" r:id="rId35"/>
    <p:sldId id="295" r:id="rId36"/>
    <p:sldId id="296" r:id="rId37"/>
    <p:sldId id="298" r:id="rId38"/>
    <p:sldId id="299" r:id="rId39"/>
    <p:sldId id="300" r:id="rId40"/>
    <p:sldId id="301" r:id="rId41"/>
    <p:sldId id="302" r:id="rId42"/>
    <p:sldId id="303" r:id="rId43"/>
    <p:sldId id="305" r:id="rId44"/>
    <p:sldId id="306" r:id="rId45"/>
    <p:sldId id="309" r:id="rId46"/>
    <p:sldId id="310" r:id="rId47"/>
    <p:sldId id="311" r:id="rId48"/>
    <p:sldId id="312"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67" d="100"/>
          <a:sy n="67" d="100"/>
        </p:scale>
        <p:origin x="45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7DD40-6DFD-4D5E-B464-80C11BE9BE4D}" type="datetimeFigureOut">
              <a:rPr lang="en-US" smtClean="0"/>
              <a:t>8/4/2023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D3E76B-A703-48DF-AADC-911E996D8882}" type="slidenum">
              <a:rPr lang="en-US" smtClean="0"/>
              <a:t>‹#›</a:t>
            </a:fld>
            <a:endParaRPr lang="en-US"/>
          </a:p>
        </p:txBody>
      </p:sp>
    </p:spTree>
    <p:extLst>
      <p:ext uri="{BB962C8B-B14F-4D97-AF65-F5344CB8AC3E}">
        <p14:creationId xmlns:p14="http://schemas.microsoft.com/office/powerpoint/2010/main" val="1045716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7B6D2A81-5718-4CD8-A70B-15E339AC335F}" type="slidenum">
              <a:rPr lang="en-US" altLang="en-US" sz="1200"/>
              <a:pPr eaLnBrk="1" hangingPunct="1"/>
              <a:t>2</a:t>
            </a:fld>
            <a:endParaRPr lang="en-US" altLang="en-US" sz="1200"/>
          </a:p>
        </p:txBody>
      </p:sp>
      <p:sp>
        <p:nvSpPr>
          <p:cNvPr id="2334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33475" name="Rectangle 3"/>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39446304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914400" y="3124200"/>
            <a:ext cx="10363200" cy="838200"/>
          </a:xfrm>
        </p:spPr>
        <p:txBody>
          <a:bodyPr/>
          <a:lstStyle>
            <a:lvl1pPr>
              <a:defRPr sz="4400"/>
            </a:lvl1pPr>
          </a:lstStyle>
          <a:p>
            <a:r>
              <a:rPr lang="en-US"/>
              <a:t>Click to edit Master title style</a:t>
            </a:r>
          </a:p>
        </p:txBody>
      </p:sp>
      <p:sp>
        <p:nvSpPr>
          <p:cNvPr id="4099" name="Rectangle 3"/>
          <p:cNvSpPr>
            <a:spLocks noGrp="1" noChangeArrowheads="1"/>
          </p:cNvSpPr>
          <p:nvPr>
            <p:ph type="subTitle" idx="1"/>
          </p:nvPr>
        </p:nvSpPr>
        <p:spPr>
          <a:xfrm>
            <a:off x="1828800" y="4191000"/>
            <a:ext cx="8331200" cy="990600"/>
          </a:xfrm>
        </p:spPr>
        <p:txBody>
          <a:bodyPr/>
          <a:lstStyle>
            <a:lvl1pPr marL="0" indent="0" algn="ctr">
              <a:buFontTx/>
              <a:buNone/>
              <a:defRPr sz="4300" b="1"/>
            </a:lvl1pPr>
          </a:lstStyle>
          <a:p>
            <a:r>
              <a:rPr lang="en-US"/>
              <a:t>Click to edit Master subtitle style</a:t>
            </a:r>
          </a:p>
        </p:txBody>
      </p:sp>
      <p:sp>
        <p:nvSpPr>
          <p:cNvPr id="4" name="Rectangle 4"/>
          <p:cNvSpPr>
            <a:spLocks noGrp="1" noChangeArrowheads="1"/>
          </p:cNvSpPr>
          <p:nvPr>
            <p:ph type="dt" sz="half" idx="10"/>
          </p:nvPr>
        </p:nvSpPr>
        <p:spPr bwMode="auto">
          <a:xfrm>
            <a:off x="914400" y="6248400"/>
            <a:ext cx="2540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defRPr sz="1400">
                <a:solidFill>
                  <a:srgbClr val="222222"/>
                </a:solidFill>
              </a:defRPr>
            </a:lvl1pPr>
          </a:lstStyle>
          <a:p>
            <a:endParaRPr lang="en-US"/>
          </a:p>
        </p:txBody>
      </p:sp>
      <p:sp>
        <p:nvSpPr>
          <p:cNvPr id="5" name="Rectangle 5"/>
          <p:cNvSpPr>
            <a:spLocks noGrp="1" noChangeArrowheads="1"/>
          </p:cNvSpPr>
          <p:nvPr>
            <p:ph type="ftr" sz="quarter" idx="11"/>
          </p:nvPr>
        </p:nvSpPr>
        <p:spPr>
          <a:xfrm>
            <a:off x="4165600" y="6248400"/>
            <a:ext cx="3860800" cy="457200"/>
          </a:xfrm>
        </p:spPr>
        <p:txBody>
          <a:bodyPr/>
          <a:lstStyle>
            <a:lvl1pPr algn="ctr">
              <a:defRPr sz="1400">
                <a:latin typeface="Times New Roman" pitchFamily="18" charset="0"/>
              </a:defRPr>
            </a:lvl1pPr>
          </a:lstStyle>
          <a:p>
            <a:r>
              <a:rPr lang="en-US"/>
              <a:t>CISSP Guide to Security Essentials, 2e</a:t>
            </a:r>
          </a:p>
        </p:txBody>
      </p:sp>
      <p:sp>
        <p:nvSpPr>
          <p:cNvPr id="6" name="Rectangle 6"/>
          <p:cNvSpPr>
            <a:spLocks noGrp="1" noChangeArrowheads="1"/>
          </p:cNvSpPr>
          <p:nvPr>
            <p:ph type="sldNum" sz="quarter" idx="12"/>
          </p:nvPr>
        </p:nvSpPr>
        <p:spPr>
          <a:xfrm>
            <a:off x="8737600" y="6248400"/>
            <a:ext cx="2540000" cy="457200"/>
          </a:xfrm>
        </p:spPr>
        <p:txBody>
          <a:bodyPr/>
          <a:lstStyle>
            <a:lvl1pPr>
              <a:defRPr sz="1400">
                <a:latin typeface="Times New Roman" panose="02020603050405020304" pitchFamily="18" charset="0"/>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3294621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xfrm>
            <a:off x="711200" y="6324600"/>
            <a:ext cx="6908800" cy="381000"/>
          </a:xfrm>
        </p:spPr>
        <p:txBody>
          <a:bodyPr/>
          <a:lstStyle>
            <a:lvl1pPr>
              <a:defRPr sz="1400"/>
            </a:lvl1pPr>
          </a:lstStyle>
          <a:p>
            <a:r>
              <a:rPr lang="en-US"/>
              <a:t>CISSP Guide to Security Essentials, 2e</a:t>
            </a:r>
          </a:p>
        </p:txBody>
      </p:sp>
      <p:sp>
        <p:nvSpPr>
          <p:cNvPr id="6" name="Rectangle 5"/>
          <p:cNvSpPr>
            <a:spLocks noGrp="1" noChangeArrowheads="1"/>
          </p:cNvSpPr>
          <p:nvPr>
            <p:ph type="sldNum" sz="quarter" idx="11"/>
          </p:nvPr>
        </p:nvSpPr>
        <p:spPr>
          <a:xfrm>
            <a:off x="10769600" y="6324600"/>
            <a:ext cx="711200" cy="381000"/>
          </a:xfrm>
        </p:spPr>
        <p:txBody>
          <a:bodyPr/>
          <a:lstStyle>
            <a:lvl1pPr>
              <a:defRPr sz="1400"/>
            </a:lvl1pPr>
          </a:lstStyle>
          <a:p>
            <a:fld id="{CD9A1BD2-321B-4FFC-908F-9FA83987F98C}" type="slidenum">
              <a:rPr lang="en-US" smtClean="0"/>
              <a:t>‹#›</a:t>
            </a:fld>
            <a:endParaRPr lang="en-US"/>
          </a:p>
        </p:txBody>
      </p:sp>
    </p:spTree>
    <p:extLst>
      <p:ext uri="{BB962C8B-B14F-4D97-AF65-F5344CB8AC3E}">
        <p14:creationId xmlns:p14="http://schemas.microsoft.com/office/powerpoint/2010/main" val="2350498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5"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1723491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76400"/>
            <a:ext cx="52832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2832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6"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2753531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8"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1148057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4"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335222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3"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287579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6"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2738872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6"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2878065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5"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1034411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8400" y="381000"/>
            <a:ext cx="26924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381000"/>
            <a:ext cx="78740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r>
              <a:rPr lang="en-US"/>
              <a:t>CISSP Guide to Security Essentials, 2e</a:t>
            </a:r>
          </a:p>
        </p:txBody>
      </p:sp>
      <p:sp>
        <p:nvSpPr>
          <p:cNvPr id="5" name="Rectangle 6"/>
          <p:cNvSpPr>
            <a:spLocks noGrp="1" noChangeArrowheads="1"/>
          </p:cNvSpPr>
          <p:nvPr>
            <p:ph type="sldNum" sz="quarter" idx="11"/>
          </p:nvPr>
        </p:nvSpPr>
        <p:spPr>
          <a:ln/>
        </p:spPr>
        <p:txBody>
          <a:bodyPr/>
          <a:lstStyle>
            <a:lvl1pPr>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1124325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6" name="Rectangle 6"/>
          <p:cNvSpPr>
            <a:spLocks noGrp="1" noChangeArrowheads="1"/>
          </p:cNvSpPr>
          <p:nvPr>
            <p:ph type="sldNum" sz="quarter" idx="12"/>
          </p:nvPr>
        </p:nvSpPr>
        <p:spPr>
          <a:ln/>
        </p:spPr>
        <p:txBody>
          <a:bodyPr/>
          <a:lstStyle>
            <a:lvl1pPr>
              <a:defRPr/>
            </a:lvl1pPr>
          </a:lstStyle>
          <a:p>
            <a:fld id="{42F0C2AA-5875-45E9-94EA-08A21C0DAB39}" type="slidenum">
              <a:rPr lang="en-US" altLang="en-US"/>
              <a:pPr/>
              <a:t>‹#›</a:t>
            </a:fld>
            <a:endParaRPr lang="en-US" altLang="en-US"/>
          </a:p>
        </p:txBody>
      </p:sp>
    </p:spTree>
    <p:extLst>
      <p:ext uri="{BB962C8B-B14F-4D97-AF65-F5344CB8AC3E}">
        <p14:creationId xmlns:p14="http://schemas.microsoft.com/office/powerpoint/2010/main" val="1998938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6" name="Rectangle 6"/>
          <p:cNvSpPr>
            <a:spLocks noGrp="1" noChangeArrowheads="1"/>
          </p:cNvSpPr>
          <p:nvPr>
            <p:ph type="sldNum" sz="quarter" idx="12"/>
          </p:nvPr>
        </p:nvSpPr>
        <p:spPr>
          <a:ln/>
        </p:spPr>
        <p:txBody>
          <a:bodyPr/>
          <a:lstStyle>
            <a:lvl1pPr>
              <a:defRPr/>
            </a:lvl1pPr>
          </a:lstStyle>
          <a:p>
            <a:fld id="{C683CB87-B6FE-4402-B691-A7704E3CAB16}" type="slidenum">
              <a:rPr lang="en-US" altLang="en-US"/>
              <a:pPr/>
              <a:t>‹#›</a:t>
            </a:fld>
            <a:endParaRPr lang="en-US" altLang="en-US"/>
          </a:p>
        </p:txBody>
      </p:sp>
    </p:spTree>
    <p:extLst>
      <p:ext uri="{BB962C8B-B14F-4D97-AF65-F5344CB8AC3E}">
        <p14:creationId xmlns:p14="http://schemas.microsoft.com/office/powerpoint/2010/main" val="20242620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6" name="Rectangle 6"/>
          <p:cNvSpPr>
            <a:spLocks noGrp="1" noChangeArrowheads="1"/>
          </p:cNvSpPr>
          <p:nvPr>
            <p:ph type="sldNum" sz="quarter" idx="12"/>
          </p:nvPr>
        </p:nvSpPr>
        <p:spPr>
          <a:ln/>
        </p:spPr>
        <p:txBody>
          <a:bodyPr/>
          <a:lstStyle>
            <a:lvl1pPr>
              <a:defRPr/>
            </a:lvl1pPr>
          </a:lstStyle>
          <a:p>
            <a:fld id="{A8681ED0-5DEE-4D8D-B674-D0E5544812EE}" type="slidenum">
              <a:rPr lang="en-US" altLang="en-US"/>
              <a:pPr/>
              <a:t>‹#›</a:t>
            </a:fld>
            <a:endParaRPr lang="en-US" altLang="en-US"/>
          </a:p>
        </p:txBody>
      </p:sp>
    </p:spTree>
    <p:extLst>
      <p:ext uri="{BB962C8B-B14F-4D97-AF65-F5344CB8AC3E}">
        <p14:creationId xmlns:p14="http://schemas.microsoft.com/office/powerpoint/2010/main" val="1360979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11200" y="1676400"/>
            <a:ext cx="52832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2832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7" name="Rectangle 6"/>
          <p:cNvSpPr>
            <a:spLocks noGrp="1" noChangeArrowheads="1"/>
          </p:cNvSpPr>
          <p:nvPr>
            <p:ph type="sldNum" sz="quarter" idx="12"/>
          </p:nvPr>
        </p:nvSpPr>
        <p:spPr>
          <a:ln/>
        </p:spPr>
        <p:txBody>
          <a:bodyPr/>
          <a:lstStyle>
            <a:lvl1pPr>
              <a:defRPr/>
            </a:lvl1pPr>
          </a:lstStyle>
          <a:p>
            <a:fld id="{F4916EA5-D546-412C-82FF-532A13EB7BE3}" type="slidenum">
              <a:rPr lang="en-US" altLang="en-US"/>
              <a:pPr/>
              <a:t>‹#›</a:t>
            </a:fld>
            <a:endParaRPr lang="en-US" altLang="en-US"/>
          </a:p>
        </p:txBody>
      </p:sp>
    </p:spTree>
    <p:extLst>
      <p:ext uri="{BB962C8B-B14F-4D97-AF65-F5344CB8AC3E}">
        <p14:creationId xmlns:p14="http://schemas.microsoft.com/office/powerpoint/2010/main" val="1762518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9" name="Rectangle 6"/>
          <p:cNvSpPr>
            <a:spLocks noGrp="1" noChangeArrowheads="1"/>
          </p:cNvSpPr>
          <p:nvPr>
            <p:ph type="sldNum" sz="quarter" idx="12"/>
          </p:nvPr>
        </p:nvSpPr>
        <p:spPr>
          <a:ln/>
        </p:spPr>
        <p:txBody>
          <a:bodyPr/>
          <a:lstStyle>
            <a:lvl1pPr>
              <a:defRPr/>
            </a:lvl1pPr>
          </a:lstStyle>
          <a:p>
            <a:fld id="{6AC3BD74-2505-4009-9425-AEBD7AE01BAF}" type="slidenum">
              <a:rPr lang="en-US" altLang="en-US"/>
              <a:pPr/>
              <a:t>‹#›</a:t>
            </a:fld>
            <a:endParaRPr lang="en-US" altLang="en-US"/>
          </a:p>
        </p:txBody>
      </p:sp>
    </p:spTree>
    <p:extLst>
      <p:ext uri="{BB962C8B-B14F-4D97-AF65-F5344CB8AC3E}">
        <p14:creationId xmlns:p14="http://schemas.microsoft.com/office/powerpoint/2010/main" val="2690125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5" name="Rectangle 6"/>
          <p:cNvSpPr>
            <a:spLocks noGrp="1" noChangeArrowheads="1"/>
          </p:cNvSpPr>
          <p:nvPr>
            <p:ph type="sldNum" sz="quarter" idx="12"/>
          </p:nvPr>
        </p:nvSpPr>
        <p:spPr>
          <a:ln/>
        </p:spPr>
        <p:txBody>
          <a:bodyPr/>
          <a:lstStyle>
            <a:lvl1pPr>
              <a:defRPr/>
            </a:lvl1pPr>
          </a:lstStyle>
          <a:p>
            <a:fld id="{7CFA4910-E9DC-48C9-BA89-A7E978939902}" type="slidenum">
              <a:rPr lang="en-US" altLang="en-US"/>
              <a:pPr/>
              <a:t>‹#›</a:t>
            </a:fld>
            <a:endParaRPr lang="en-US" altLang="en-US"/>
          </a:p>
        </p:txBody>
      </p:sp>
    </p:spTree>
    <p:extLst>
      <p:ext uri="{BB962C8B-B14F-4D97-AF65-F5344CB8AC3E}">
        <p14:creationId xmlns:p14="http://schemas.microsoft.com/office/powerpoint/2010/main" val="6578621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4" name="Rectangle 6"/>
          <p:cNvSpPr>
            <a:spLocks noGrp="1" noChangeArrowheads="1"/>
          </p:cNvSpPr>
          <p:nvPr>
            <p:ph type="sldNum" sz="quarter" idx="12"/>
          </p:nvPr>
        </p:nvSpPr>
        <p:spPr>
          <a:ln/>
        </p:spPr>
        <p:txBody>
          <a:bodyPr/>
          <a:lstStyle>
            <a:lvl1pPr>
              <a:defRPr/>
            </a:lvl1pPr>
          </a:lstStyle>
          <a:p>
            <a:fld id="{174B402F-F8F3-4B9B-9DEF-802AC852BD32}" type="slidenum">
              <a:rPr lang="en-US" altLang="en-US"/>
              <a:pPr/>
              <a:t>‹#›</a:t>
            </a:fld>
            <a:endParaRPr lang="en-US" altLang="en-US"/>
          </a:p>
        </p:txBody>
      </p:sp>
    </p:spTree>
    <p:extLst>
      <p:ext uri="{BB962C8B-B14F-4D97-AF65-F5344CB8AC3E}">
        <p14:creationId xmlns:p14="http://schemas.microsoft.com/office/powerpoint/2010/main" val="11986391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7" name="Rectangle 6"/>
          <p:cNvSpPr>
            <a:spLocks noGrp="1" noChangeArrowheads="1"/>
          </p:cNvSpPr>
          <p:nvPr>
            <p:ph type="sldNum" sz="quarter" idx="12"/>
          </p:nvPr>
        </p:nvSpPr>
        <p:spPr>
          <a:ln/>
        </p:spPr>
        <p:txBody>
          <a:bodyPr/>
          <a:lstStyle>
            <a:lvl1pPr>
              <a:defRPr/>
            </a:lvl1pPr>
          </a:lstStyle>
          <a:p>
            <a:fld id="{4F0408EE-5C86-4F7A-AA1B-EF1278D4D133}" type="slidenum">
              <a:rPr lang="en-US" altLang="en-US"/>
              <a:pPr/>
              <a:t>‹#›</a:t>
            </a:fld>
            <a:endParaRPr lang="en-US" altLang="en-US"/>
          </a:p>
        </p:txBody>
      </p:sp>
    </p:spTree>
    <p:extLst>
      <p:ext uri="{BB962C8B-B14F-4D97-AF65-F5344CB8AC3E}">
        <p14:creationId xmlns:p14="http://schemas.microsoft.com/office/powerpoint/2010/main" val="10340498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7" name="Rectangle 6"/>
          <p:cNvSpPr>
            <a:spLocks noGrp="1" noChangeArrowheads="1"/>
          </p:cNvSpPr>
          <p:nvPr>
            <p:ph type="sldNum" sz="quarter" idx="12"/>
          </p:nvPr>
        </p:nvSpPr>
        <p:spPr>
          <a:ln/>
        </p:spPr>
        <p:txBody>
          <a:bodyPr/>
          <a:lstStyle>
            <a:lvl1pPr>
              <a:defRPr/>
            </a:lvl1pPr>
          </a:lstStyle>
          <a:p>
            <a:fld id="{28BF78F1-4842-46A7-9549-CCAE39C5D229}" type="slidenum">
              <a:rPr lang="en-US" altLang="en-US"/>
              <a:pPr/>
              <a:t>‹#›</a:t>
            </a:fld>
            <a:endParaRPr lang="en-US" altLang="en-US"/>
          </a:p>
        </p:txBody>
      </p:sp>
    </p:spTree>
    <p:extLst>
      <p:ext uri="{BB962C8B-B14F-4D97-AF65-F5344CB8AC3E}">
        <p14:creationId xmlns:p14="http://schemas.microsoft.com/office/powerpoint/2010/main" val="27442442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6" name="Rectangle 6"/>
          <p:cNvSpPr>
            <a:spLocks noGrp="1" noChangeArrowheads="1"/>
          </p:cNvSpPr>
          <p:nvPr>
            <p:ph type="sldNum" sz="quarter" idx="12"/>
          </p:nvPr>
        </p:nvSpPr>
        <p:spPr>
          <a:ln/>
        </p:spPr>
        <p:txBody>
          <a:bodyPr/>
          <a:lstStyle>
            <a:lvl1pPr>
              <a:defRPr/>
            </a:lvl1pPr>
          </a:lstStyle>
          <a:p>
            <a:fld id="{1514E92C-5B53-4615-9BC8-B02288129170}" type="slidenum">
              <a:rPr lang="en-US" altLang="en-US"/>
              <a:pPr/>
              <a:t>‹#›</a:t>
            </a:fld>
            <a:endParaRPr lang="en-US" altLang="en-US"/>
          </a:p>
        </p:txBody>
      </p:sp>
    </p:spTree>
    <p:extLst>
      <p:ext uri="{BB962C8B-B14F-4D97-AF65-F5344CB8AC3E}">
        <p14:creationId xmlns:p14="http://schemas.microsoft.com/office/powerpoint/2010/main" val="28520798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88400" y="381000"/>
            <a:ext cx="26924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11200" y="381000"/>
            <a:ext cx="78740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CISSP Guide to Security Essentials, 2e</a:t>
            </a:r>
          </a:p>
        </p:txBody>
      </p:sp>
      <p:sp>
        <p:nvSpPr>
          <p:cNvPr id="6" name="Rectangle 6"/>
          <p:cNvSpPr>
            <a:spLocks noGrp="1" noChangeArrowheads="1"/>
          </p:cNvSpPr>
          <p:nvPr>
            <p:ph type="sldNum" sz="quarter" idx="12"/>
          </p:nvPr>
        </p:nvSpPr>
        <p:spPr>
          <a:ln/>
        </p:spPr>
        <p:txBody>
          <a:bodyPr/>
          <a:lstStyle>
            <a:lvl1pPr>
              <a:defRPr/>
            </a:lvl1pPr>
          </a:lstStyle>
          <a:p>
            <a:fld id="{62A1CED4-7C01-47D9-90CF-ECB6281B791D}" type="slidenum">
              <a:rPr lang="en-US" altLang="en-US"/>
              <a:pPr/>
              <a:t>‹#›</a:t>
            </a:fld>
            <a:endParaRPr lang="en-US" altLang="en-US"/>
          </a:p>
        </p:txBody>
      </p:sp>
    </p:spTree>
    <p:extLst>
      <p:ext uri="{BB962C8B-B14F-4D97-AF65-F5344CB8AC3E}">
        <p14:creationId xmlns:p14="http://schemas.microsoft.com/office/powerpoint/2010/main" val="3072393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11200" y="381000"/>
            <a:ext cx="1076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711200" y="1676400"/>
            <a:ext cx="107696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1029" name="Rectangle 5"/>
          <p:cNvSpPr>
            <a:spLocks noGrp="1" noChangeArrowheads="1"/>
          </p:cNvSpPr>
          <p:nvPr>
            <p:ph type="ftr" sz="quarter" idx="3"/>
          </p:nvPr>
        </p:nvSpPr>
        <p:spPr bwMode="auto">
          <a:xfrm>
            <a:off x="711200" y="6324600"/>
            <a:ext cx="78232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solidFill>
                  <a:srgbClr val="222222"/>
                </a:solidFill>
                <a:latin typeface="+mn-lt"/>
              </a:defRPr>
            </a:lvl1pPr>
          </a:lstStyle>
          <a:p>
            <a:r>
              <a:rPr lang="en-US"/>
              <a:t>CISSP Guide to Security Essentials, 2e</a:t>
            </a:r>
          </a:p>
        </p:txBody>
      </p:sp>
      <p:sp>
        <p:nvSpPr>
          <p:cNvPr id="1030" name="Rectangle 6"/>
          <p:cNvSpPr>
            <a:spLocks noGrp="1" noChangeArrowheads="1"/>
          </p:cNvSpPr>
          <p:nvPr>
            <p:ph type="sldNum" sz="quarter" idx="4"/>
          </p:nvPr>
        </p:nvSpPr>
        <p:spPr bwMode="auto">
          <a:xfrm>
            <a:off x="8737600" y="6324600"/>
            <a:ext cx="27432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solidFill>
                  <a:srgbClr val="222222"/>
                </a:solidFill>
                <a:latin typeface="Arial" panose="020B0604020202020204" pitchFamily="34" charset="0"/>
              </a:defRPr>
            </a:lvl1pPr>
          </a:lstStyle>
          <a:p>
            <a:fld id="{CD9A1BD2-321B-4FFC-908F-9FA83987F98C}" type="slidenum">
              <a:rPr lang="en-US" smtClean="0"/>
              <a:t>‹#›</a:t>
            </a:fld>
            <a:endParaRPr lang="en-US"/>
          </a:p>
        </p:txBody>
      </p:sp>
    </p:spTree>
    <p:extLst>
      <p:ext uri="{BB962C8B-B14F-4D97-AF65-F5344CB8AC3E}">
        <p14:creationId xmlns:p14="http://schemas.microsoft.com/office/powerpoint/2010/main" val="31754101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1" fontAlgn="base" hangingPunct="1">
        <a:spcBef>
          <a:spcPct val="0"/>
        </a:spcBef>
        <a:spcAft>
          <a:spcPct val="0"/>
        </a:spcAft>
        <a:defRPr sz="3600">
          <a:solidFill>
            <a:srgbClr val="222222"/>
          </a:solidFill>
          <a:latin typeface="+mj-lt"/>
          <a:ea typeface="+mj-ea"/>
          <a:cs typeface="+mj-cs"/>
        </a:defRPr>
      </a:lvl1pPr>
      <a:lvl2pPr algn="ctr" rtl="0" eaLnBrk="1" fontAlgn="base" hangingPunct="1">
        <a:spcBef>
          <a:spcPct val="0"/>
        </a:spcBef>
        <a:spcAft>
          <a:spcPct val="0"/>
        </a:spcAft>
        <a:defRPr sz="3600">
          <a:solidFill>
            <a:srgbClr val="222222"/>
          </a:solidFill>
          <a:latin typeface="Arial" charset="0"/>
        </a:defRPr>
      </a:lvl2pPr>
      <a:lvl3pPr algn="ctr" rtl="0" eaLnBrk="1" fontAlgn="base" hangingPunct="1">
        <a:spcBef>
          <a:spcPct val="0"/>
        </a:spcBef>
        <a:spcAft>
          <a:spcPct val="0"/>
        </a:spcAft>
        <a:defRPr sz="3600">
          <a:solidFill>
            <a:srgbClr val="222222"/>
          </a:solidFill>
          <a:latin typeface="Arial" charset="0"/>
        </a:defRPr>
      </a:lvl3pPr>
      <a:lvl4pPr algn="ctr" rtl="0" eaLnBrk="1" fontAlgn="base" hangingPunct="1">
        <a:spcBef>
          <a:spcPct val="0"/>
        </a:spcBef>
        <a:spcAft>
          <a:spcPct val="0"/>
        </a:spcAft>
        <a:defRPr sz="3600">
          <a:solidFill>
            <a:srgbClr val="222222"/>
          </a:solidFill>
          <a:latin typeface="Arial" charset="0"/>
        </a:defRPr>
      </a:lvl4pPr>
      <a:lvl5pPr algn="ctr" rtl="0" eaLnBrk="1" fontAlgn="base" hangingPunct="1">
        <a:spcBef>
          <a:spcPct val="0"/>
        </a:spcBef>
        <a:spcAft>
          <a:spcPct val="0"/>
        </a:spcAft>
        <a:defRPr sz="3600">
          <a:solidFill>
            <a:srgbClr val="222222"/>
          </a:solidFill>
          <a:latin typeface="Arial" charset="0"/>
        </a:defRPr>
      </a:lvl5pPr>
      <a:lvl6pPr marL="457200" algn="ctr" rtl="0" eaLnBrk="1" fontAlgn="base" hangingPunct="1">
        <a:spcBef>
          <a:spcPct val="0"/>
        </a:spcBef>
        <a:spcAft>
          <a:spcPct val="0"/>
        </a:spcAft>
        <a:defRPr sz="3600">
          <a:solidFill>
            <a:srgbClr val="222222"/>
          </a:solidFill>
          <a:latin typeface="Arial" charset="0"/>
        </a:defRPr>
      </a:lvl6pPr>
      <a:lvl7pPr marL="914400" algn="ctr" rtl="0" eaLnBrk="1" fontAlgn="base" hangingPunct="1">
        <a:spcBef>
          <a:spcPct val="0"/>
        </a:spcBef>
        <a:spcAft>
          <a:spcPct val="0"/>
        </a:spcAft>
        <a:defRPr sz="3600">
          <a:solidFill>
            <a:srgbClr val="222222"/>
          </a:solidFill>
          <a:latin typeface="Arial" charset="0"/>
        </a:defRPr>
      </a:lvl7pPr>
      <a:lvl8pPr marL="1371600" algn="ctr" rtl="0" eaLnBrk="1" fontAlgn="base" hangingPunct="1">
        <a:spcBef>
          <a:spcPct val="0"/>
        </a:spcBef>
        <a:spcAft>
          <a:spcPct val="0"/>
        </a:spcAft>
        <a:defRPr sz="3600">
          <a:solidFill>
            <a:srgbClr val="222222"/>
          </a:solidFill>
          <a:latin typeface="Arial" charset="0"/>
        </a:defRPr>
      </a:lvl8pPr>
      <a:lvl9pPr marL="1828800" algn="ctr" rtl="0" eaLnBrk="1" fontAlgn="base" hangingPunct="1">
        <a:spcBef>
          <a:spcPct val="0"/>
        </a:spcBef>
        <a:spcAft>
          <a:spcPct val="0"/>
        </a:spcAft>
        <a:defRPr sz="3600">
          <a:solidFill>
            <a:srgbClr val="222222"/>
          </a:solidFill>
          <a:latin typeface="Arial" charset="0"/>
        </a:defRPr>
      </a:lvl9pPr>
    </p:titleStyle>
    <p:bodyStyle>
      <a:lvl1pPr marL="342900" indent="-342900" algn="l" rtl="0" eaLnBrk="1" fontAlgn="base" hangingPunct="1">
        <a:spcBef>
          <a:spcPct val="20000"/>
        </a:spcBef>
        <a:spcAft>
          <a:spcPct val="0"/>
        </a:spcAft>
        <a:buChar char="•"/>
        <a:defRPr sz="2600">
          <a:solidFill>
            <a:srgbClr val="222222"/>
          </a:solidFill>
          <a:latin typeface="+mn-lt"/>
          <a:ea typeface="+mn-ea"/>
          <a:cs typeface="+mn-cs"/>
        </a:defRPr>
      </a:lvl1pPr>
      <a:lvl2pPr marL="742950" indent="-285750" algn="l" rtl="0" eaLnBrk="1" fontAlgn="base" hangingPunct="1">
        <a:spcBef>
          <a:spcPct val="20000"/>
        </a:spcBef>
        <a:spcAft>
          <a:spcPct val="0"/>
        </a:spcAft>
        <a:buChar char="–"/>
        <a:defRPr sz="2400">
          <a:solidFill>
            <a:srgbClr val="222222"/>
          </a:solidFill>
          <a:latin typeface="+mn-lt"/>
        </a:defRPr>
      </a:lvl2pPr>
      <a:lvl3pPr marL="1143000" indent="-228600" algn="l" rtl="0" eaLnBrk="1" fontAlgn="base" hangingPunct="1">
        <a:spcBef>
          <a:spcPct val="20000"/>
        </a:spcBef>
        <a:spcAft>
          <a:spcPct val="0"/>
        </a:spcAft>
        <a:buChar char="•"/>
        <a:defRPr sz="2200">
          <a:solidFill>
            <a:srgbClr val="222222"/>
          </a:solidFill>
          <a:latin typeface="+mn-lt"/>
        </a:defRPr>
      </a:lvl3pPr>
      <a:lvl4pPr marL="1600200" indent="-228600" algn="l" rtl="0" eaLnBrk="1" fontAlgn="base" hangingPunct="1">
        <a:spcBef>
          <a:spcPct val="20000"/>
        </a:spcBef>
        <a:spcAft>
          <a:spcPct val="0"/>
        </a:spcAft>
        <a:buChar char="–"/>
        <a:defRPr sz="2200">
          <a:solidFill>
            <a:srgbClr val="222222"/>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711200" y="381000"/>
            <a:ext cx="1076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711200" y="1676400"/>
            <a:ext cx="107696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6" name="Rectangle 4"/>
          <p:cNvSpPr>
            <a:spLocks noGrp="1" noChangeArrowheads="1"/>
          </p:cNvSpPr>
          <p:nvPr>
            <p:ph type="dt" sz="half" idx="2"/>
          </p:nvPr>
        </p:nvSpPr>
        <p:spPr bwMode="auto">
          <a:xfrm>
            <a:off x="914400" y="6248400"/>
            <a:ext cx="2540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defRPr sz="1400">
                <a:solidFill>
                  <a:srgbClr val="222222"/>
                </a:solidFill>
                <a:latin typeface="Times New Roman" pitchFamily="18" charset="0"/>
              </a:defRPr>
            </a:lvl1pPr>
          </a:lstStyle>
          <a:p>
            <a:pPr>
              <a:defRPr/>
            </a:pPr>
            <a:endParaRPr lang="en-US"/>
          </a:p>
        </p:txBody>
      </p:sp>
      <p:sp>
        <p:nvSpPr>
          <p:cNvPr id="7" name="Rectangle 5"/>
          <p:cNvSpPr>
            <a:spLocks noGrp="1" noChangeArrowheads="1"/>
          </p:cNvSpPr>
          <p:nvPr>
            <p:ph type="ftr" sz="quarter" idx="3"/>
          </p:nvPr>
        </p:nvSpPr>
        <p:spPr bwMode="auto">
          <a:xfrm>
            <a:off x="4165600" y="6248400"/>
            <a:ext cx="38608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1" hangingPunct="1">
              <a:defRPr sz="1400">
                <a:solidFill>
                  <a:srgbClr val="222222"/>
                </a:solidFill>
                <a:latin typeface="Times New Roman" pitchFamily="18" charset="0"/>
              </a:defRPr>
            </a:lvl1pPr>
          </a:lstStyle>
          <a:p>
            <a:pPr>
              <a:defRPr/>
            </a:pPr>
            <a:r>
              <a:rPr lang="en-US"/>
              <a:t>CISSP Guide to Security Essentials, 2e</a:t>
            </a:r>
          </a:p>
        </p:txBody>
      </p:sp>
      <p:sp>
        <p:nvSpPr>
          <p:cNvPr id="8" name="Rectangle 6"/>
          <p:cNvSpPr>
            <a:spLocks noGrp="1" noChangeArrowheads="1"/>
          </p:cNvSpPr>
          <p:nvPr>
            <p:ph type="sldNum" sz="quarter" idx="4"/>
          </p:nvPr>
        </p:nvSpPr>
        <p:spPr bwMode="auto">
          <a:xfrm>
            <a:off x="8737600" y="6248400"/>
            <a:ext cx="2540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400">
                <a:solidFill>
                  <a:srgbClr val="222222"/>
                </a:solidFill>
              </a:defRPr>
            </a:lvl1pPr>
          </a:lstStyle>
          <a:p>
            <a:fld id="{9F1C4800-89FE-40ED-AD4B-9B4ADD57071D}" type="slidenum">
              <a:rPr lang="en-US" altLang="en-US"/>
              <a:pPr/>
              <a:t>‹#›</a:t>
            </a:fld>
            <a:endParaRPr lang="en-US" altLang="en-US"/>
          </a:p>
        </p:txBody>
      </p:sp>
    </p:spTree>
    <p:extLst>
      <p:ext uri="{BB962C8B-B14F-4D97-AF65-F5344CB8AC3E}">
        <p14:creationId xmlns:p14="http://schemas.microsoft.com/office/powerpoint/2010/main" val="1948499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rtl="0" eaLnBrk="1" fontAlgn="base" hangingPunct="1">
        <a:spcBef>
          <a:spcPct val="0"/>
        </a:spcBef>
        <a:spcAft>
          <a:spcPct val="0"/>
        </a:spcAft>
        <a:defRPr sz="3600">
          <a:solidFill>
            <a:srgbClr val="222222"/>
          </a:solidFill>
          <a:latin typeface="+mj-lt"/>
          <a:ea typeface="+mj-ea"/>
          <a:cs typeface="+mj-cs"/>
        </a:defRPr>
      </a:lvl1pPr>
      <a:lvl2pPr algn="ctr" rtl="0" eaLnBrk="1" fontAlgn="base" hangingPunct="1">
        <a:spcBef>
          <a:spcPct val="0"/>
        </a:spcBef>
        <a:spcAft>
          <a:spcPct val="0"/>
        </a:spcAft>
        <a:defRPr sz="3600">
          <a:solidFill>
            <a:srgbClr val="222222"/>
          </a:solidFill>
          <a:latin typeface="Arial" charset="0"/>
        </a:defRPr>
      </a:lvl2pPr>
      <a:lvl3pPr algn="ctr" rtl="0" eaLnBrk="1" fontAlgn="base" hangingPunct="1">
        <a:spcBef>
          <a:spcPct val="0"/>
        </a:spcBef>
        <a:spcAft>
          <a:spcPct val="0"/>
        </a:spcAft>
        <a:defRPr sz="3600">
          <a:solidFill>
            <a:srgbClr val="222222"/>
          </a:solidFill>
          <a:latin typeface="Arial" charset="0"/>
        </a:defRPr>
      </a:lvl3pPr>
      <a:lvl4pPr algn="ctr" rtl="0" eaLnBrk="1" fontAlgn="base" hangingPunct="1">
        <a:spcBef>
          <a:spcPct val="0"/>
        </a:spcBef>
        <a:spcAft>
          <a:spcPct val="0"/>
        </a:spcAft>
        <a:defRPr sz="3600">
          <a:solidFill>
            <a:srgbClr val="222222"/>
          </a:solidFill>
          <a:latin typeface="Arial" charset="0"/>
        </a:defRPr>
      </a:lvl4pPr>
      <a:lvl5pPr algn="ctr" rtl="0" eaLnBrk="1" fontAlgn="base" hangingPunct="1">
        <a:spcBef>
          <a:spcPct val="0"/>
        </a:spcBef>
        <a:spcAft>
          <a:spcPct val="0"/>
        </a:spcAft>
        <a:defRPr sz="3600">
          <a:solidFill>
            <a:srgbClr val="222222"/>
          </a:solidFill>
          <a:latin typeface="Arial" charset="0"/>
        </a:defRPr>
      </a:lvl5pPr>
      <a:lvl6pPr marL="457200" algn="ctr" rtl="0" eaLnBrk="1" fontAlgn="base" hangingPunct="1">
        <a:spcBef>
          <a:spcPct val="0"/>
        </a:spcBef>
        <a:spcAft>
          <a:spcPct val="0"/>
        </a:spcAft>
        <a:defRPr sz="3600">
          <a:solidFill>
            <a:srgbClr val="222222"/>
          </a:solidFill>
          <a:latin typeface="Arial" charset="0"/>
        </a:defRPr>
      </a:lvl6pPr>
      <a:lvl7pPr marL="914400" algn="ctr" rtl="0" eaLnBrk="1" fontAlgn="base" hangingPunct="1">
        <a:spcBef>
          <a:spcPct val="0"/>
        </a:spcBef>
        <a:spcAft>
          <a:spcPct val="0"/>
        </a:spcAft>
        <a:defRPr sz="3600">
          <a:solidFill>
            <a:srgbClr val="222222"/>
          </a:solidFill>
          <a:latin typeface="Arial" charset="0"/>
        </a:defRPr>
      </a:lvl7pPr>
      <a:lvl8pPr marL="1371600" algn="ctr" rtl="0" eaLnBrk="1" fontAlgn="base" hangingPunct="1">
        <a:spcBef>
          <a:spcPct val="0"/>
        </a:spcBef>
        <a:spcAft>
          <a:spcPct val="0"/>
        </a:spcAft>
        <a:defRPr sz="3600">
          <a:solidFill>
            <a:srgbClr val="222222"/>
          </a:solidFill>
          <a:latin typeface="Arial" charset="0"/>
        </a:defRPr>
      </a:lvl8pPr>
      <a:lvl9pPr marL="1828800" algn="ctr" rtl="0" eaLnBrk="1" fontAlgn="base" hangingPunct="1">
        <a:spcBef>
          <a:spcPct val="0"/>
        </a:spcBef>
        <a:spcAft>
          <a:spcPct val="0"/>
        </a:spcAft>
        <a:defRPr sz="3600">
          <a:solidFill>
            <a:srgbClr val="222222"/>
          </a:solidFill>
          <a:latin typeface="Arial" charset="0"/>
        </a:defRPr>
      </a:lvl9pPr>
    </p:titleStyle>
    <p:bodyStyle>
      <a:lvl1pPr marL="342900" indent="-342900" algn="l" rtl="0" eaLnBrk="1" fontAlgn="base" hangingPunct="1">
        <a:spcBef>
          <a:spcPct val="20000"/>
        </a:spcBef>
        <a:spcAft>
          <a:spcPct val="0"/>
        </a:spcAft>
        <a:buChar char="•"/>
        <a:defRPr sz="2600">
          <a:solidFill>
            <a:srgbClr val="222222"/>
          </a:solidFill>
          <a:latin typeface="+mn-lt"/>
          <a:ea typeface="+mn-ea"/>
          <a:cs typeface="+mn-cs"/>
        </a:defRPr>
      </a:lvl1pPr>
      <a:lvl2pPr marL="742950" indent="-285750" algn="l" rtl="0" eaLnBrk="1" fontAlgn="base" hangingPunct="1">
        <a:spcBef>
          <a:spcPct val="20000"/>
        </a:spcBef>
        <a:spcAft>
          <a:spcPct val="0"/>
        </a:spcAft>
        <a:buChar char="–"/>
        <a:defRPr sz="2400">
          <a:solidFill>
            <a:srgbClr val="222222"/>
          </a:solidFill>
          <a:latin typeface="+mn-lt"/>
        </a:defRPr>
      </a:lvl2pPr>
      <a:lvl3pPr marL="1143000" indent="-228600" algn="l" rtl="0" eaLnBrk="1" fontAlgn="base" hangingPunct="1">
        <a:spcBef>
          <a:spcPct val="20000"/>
        </a:spcBef>
        <a:spcAft>
          <a:spcPct val="0"/>
        </a:spcAft>
        <a:buChar char="•"/>
        <a:defRPr sz="2200">
          <a:solidFill>
            <a:srgbClr val="222222"/>
          </a:solidFill>
          <a:latin typeface="+mn-lt"/>
        </a:defRPr>
      </a:lvl3pPr>
      <a:lvl4pPr marL="1600200" indent="-228600" algn="l" rtl="0" eaLnBrk="1" fontAlgn="base" hangingPunct="1">
        <a:spcBef>
          <a:spcPct val="20000"/>
        </a:spcBef>
        <a:spcAft>
          <a:spcPct val="0"/>
        </a:spcAft>
        <a:buChar char="–"/>
        <a:defRPr sz="2200">
          <a:solidFill>
            <a:srgbClr val="222222"/>
          </a:solidFill>
          <a:latin typeface="+mn-lt"/>
        </a:defRPr>
      </a:lvl4pPr>
      <a:lvl5pPr marL="2057400" indent="-228600" algn="l" rtl="0" eaLnBrk="1" fontAlgn="base" hangingPunct="1">
        <a:spcBef>
          <a:spcPct val="20000"/>
        </a:spcBef>
        <a:spcAft>
          <a:spcPct val="0"/>
        </a:spcAft>
        <a:buChar char="»"/>
        <a:defRPr sz="2000">
          <a:solidFill>
            <a:schemeClr val="tx1"/>
          </a:solidFill>
          <a:latin typeface="Times New Roman" pitchFamily="18" charset="0"/>
        </a:defRPr>
      </a:lvl5pPr>
      <a:lvl6pPr marL="2514600" indent="-228600" algn="l" rtl="0" eaLnBrk="1" fontAlgn="base" hangingPunct="1">
        <a:spcBef>
          <a:spcPct val="20000"/>
        </a:spcBef>
        <a:spcAft>
          <a:spcPct val="0"/>
        </a:spcAft>
        <a:buChar char="»"/>
        <a:defRPr sz="2000">
          <a:solidFill>
            <a:schemeClr val="tx1"/>
          </a:solidFill>
          <a:latin typeface="Times New Roman" pitchFamily="18" charset="0"/>
        </a:defRPr>
      </a:lvl6pPr>
      <a:lvl7pPr marL="2971800" indent="-228600" algn="l" rtl="0" eaLnBrk="1" fontAlgn="base" hangingPunct="1">
        <a:spcBef>
          <a:spcPct val="20000"/>
        </a:spcBef>
        <a:spcAft>
          <a:spcPct val="0"/>
        </a:spcAft>
        <a:buChar char="»"/>
        <a:defRPr sz="2000">
          <a:solidFill>
            <a:schemeClr val="tx1"/>
          </a:solidFill>
          <a:latin typeface="Times New Roman" pitchFamily="18" charset="0"/>
        </a:defRPr>
      </a:lvl7pPr>
      <a:lvl8pPr marL="3429000" indent="-228600" algn="l" rtl="0" eaLnBrk="1" fontAlgn="base" hangingPunct="1">
        <a:spcBef>
          <a:spcPct val="20000"/>
        </a:spcBef>
        <a:spcAft>
          <a:spcPct val="0"/>
        </a:spcAft>
        <a:buChar char="»"/>
        <a:defRPr sz="2000">
          <a:solidFill>
            <a:schemeClr val="tx1"/>
          </a:solidFill>
          <a:latin typeface="Times New Roman" pitchFamily="18" charset="0"/>
        </a:defRPr>
      </a:lvl8pPr>
      <a:lvl9pPr marL="3886200" indent="-228600" algn="l" rtl="0" eaLnBrk="1" fontAlgn="base" hangingPunct="1">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ctrTitle"/>
          </p:nvPr>
        </p:nvSpPr>
        <p:spPr>
          <a:xfrm>
            <a:off x="2133600" y="2240280"/>
            <a:ext cx="7772400" cy="1143000"/>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b="1" dirty="0"/>
              <a:t>CISSP Guide to Security Essentials, </a:t>
            </a:r>
            <a:br>
              <a:rPr lang="en-US" b="1" dirty="0"/>
            </a:br>
            <a:r>
              <a:rPr lang="en-US" b="1" dirty="0"/>
              <a:t>Second Edition</a:t>
            </a:r>
            <a:endParaRPr lang="en-US" dirty="0">
              <a:ea typeface="+mj-ea"/>
            </a:endParaRPr>
          </a:p>
        </p:txBody>
      </p:sp>
      <p:sp>
        <p:nvSpPr>
          <p:cNvPr id="232451" name="Rectangle 3"/>
          <p:cNvSpPr>
            <a:spLocks noGrp="1" noChangeArrowheads="1"/>
          </p:cNvSpPr>
          <p:nvPr>
            <p:ph type="subTitle" idx="1"/>
          </p:nvPr>
        </p:nvSpPr>
        <p:spPr>
          <a:xfrm>
            <a:off x="2133600" y="4023360"/>
            <a:ext cx="8272272" cy="1752600"/>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b="0" i="1" dirty="0">
                <a:solidFill>
                  <a:schemeClr val="tx1"/>
                </a:solidFill>
              </a:rPr>
              <a:t>Chapter 6</a:t>
            </a:r>
          </a:p>
          <a:p>
            <a:pPr>
              <a:defRPr/>
            </a:pPr>
            <a:r>
              <a:rPr lang="en-US" b="0" i="1" dirty="0">
                <a:solidFill>
                  <a:schemeClr val="tx1"/>
                </a:solidFill>
              </a:rPr>
              <a:t>Legal, Regulations, Investigations, and Compliance</a:t>
            </a:r>
            <a:endParaRPr lang="en-US" dirty="0">
              <a:solidFill>
                <a:srgbClr val="0000CC"/>
              </a:solidFill>
            </a:endParaRPr>
          </a:p>
          <a:p>
            <a:pPr eaLnBrk="1" hangingPunct="1">
              <a:defRPr/>
            </a:pPr>
            <a:r>
              <a:rPr lang="en-US" dirty="0">
                <a:solidFill>
                  <a:srgbClr val="0000CC"/>
                </a:solidFill>
                <a:ea typeface="+mn-ea"/>
              </a:rPr>
              <a:t> </a:t>
            </a:r>
          </a:p>
        </p:txBody>
      </p:sp>
      <p:sp>
        <p:nvSpPr>
          <p:cNvPr id="5" name="Rectangle 4"/>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41412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57734D13-3C83-4AED-9EB2-A43CA34968ED}" type="slidenum">
              <a:rPr lang="en-US" altLang="en-US" sz="2000">
                <a:latin typeface="Arial" panose="020B0604020202020204" pitchFamily="34" charset="0"/>
              </a:rPr>
              <a:pPr eaLnBrk="1" hangingPunct="1"/>
              <a:t>2</a:t>
            </a:fld>
            <a:endParaRPr lang="en-US" altLang="en-US" sz="2000">
              <a:latin typeface="Arial" panose="020B0604020202020204" pitchFamily="34" charset="0"/>
            </a:endParaRPr>
          </a:p>
        </p:txBody>
      </p:sp>
      <p:sp>
        <p:nvSpPr>
          <p:cNvPr id="4098" name="Rectangle 2"/>
          <p:cNvSpPr>
            <a:spLocks noGrp="1" noChangeArrowheads="1"/>
          </p:cNvSpPr>
          <p:nvPr>
            <p:ph type="title"/>
          </p:nvPr>
        </p:nvSpPr>
        <p:spPr/>
        <p:txBody>
          <a:bodyPr/>
          <a:lstStyle/>
          <a:p>
            <a:pPr eaLnBrk="1" hangingPunct="1">
              <a:defRPr/>
            </a:pPr>
            <a:r>
              <a:rPr lang="en-US">
                <a:ea typeface="+mj-ea"/>
              </a:rPr>
              <a:t>Objectives</a:t>
            </a:r>
          </a:p>
        </p:txBody>
      </p:sp>
      <p:sp>
        <p:nvSpPr>
          <p:cNvPr id="4099" name="Rectangle 3"/>
          <p:cNvSpPr>
            <a:spLocks noGrp="1" noChangeArrowheads="1"/>
          </p:cNvSpPr>
          <p:nvPr>
            <p:ph type="body" idx="1"/>
          </p:nvPr>
        </p:nvSpPr>
        <p:spPr/>
        <p:txBody>
          <a:bodyPr/>
          <a:lstStyle/>
          <a:p>
            <a:pPr eaLnBrk="1" hangingPunct="1">
              <a:defRPr/>
            </a:pPr>
            <a:r>
              <a:rPr lang="en-US" dirty="0">
                <a:ea typeface="+mn-ea"/>
              </a:rPr>
              <a:t>Computer related crime</a:t>
            </a:r>
          </a:p>
          <a:p>
            <a:pPr eaLnBrk="1" hangingPunct="1">
              <a:defRPr/>
            </a:pPr>
            <a:r>
              <a:rPr lang="en-US" dirty="0">
                <a:ea typeface="+mn-ea"/>
              </a:rPr>
              <a:t>Categories of law and computer crime laws in the U.S. and other countries</a:t>
            </a:r>
          </a:p>
          <a:p>
            <a:pPr eaLnBrk="1" hangingPunct="1">
              <a:defRPr/>
            </a:pPr>
            <a:r>
              <a:rPr lang="en-US" dirty="0">
                <a:ea typeface="+mn-ea"/>
              </a:rPr>
              <a:t>Security incident response</a:t>
            </a:r>
          </a:p>
          <a:p>
            <a:pPr eaLnBrk="1" hangingPunct="1">
              <a:defRPr/>
            </a:pPr>
            <a:r>
              <a:rPr lang="en-US" dirty="0">
                <a:ea typeface="+mn-ea"/>
              </a:rPr>
              <a:t>Investigations</a:t>
            </a:r>
          </a:p>
          <a:p>
            <a:pPr eaLnBrk="1" hangingPunct="1">
              <a:defRPr/>
            </a:pPr>
            <a:r>
              <a:rPr lang="en-US" dirty="0">
                <a:ea typeface="+mn-ea"/>
              </a:rPr>
              <a:t>Computer forensics</a:t>
            </a:r>
          </a:p>
          <a:p>
            <a:pPr eaLnBrk="1" hangingPunct="1">
              <a:defRPr/>
            </a:pPr>
            <a:r>
              <a:rPr lang="en-US" dirty="0">
                <a:ea typeface="+mn-ea"/>
              </a:rPr>
              <a:t>Professional ethics </a:t>
            </a:r>
          </a:p>
          <a:p>
            <a:pPr eaLnBrk="1" hangingPunct="1">
              <a:defRPr/>
            </a:pPr>
            <a:endParaRPr lang="en-US" dirty="0">
              <a:ea typeface="+mn-ea"/>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669292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60C60325-E696-4C35-A23D-84F75FE7D9CC}" type="slidenum">
              <a:rPr lang="en-US" altLang="en-US" sz="2000">
                <a:latin typeface="Arial" panose="020B0604020202020204" pitchFamily="34" charset="0"/>
              </a:rPr>
              <a:pPr eaLnBrk="1" hangingPunct="1"/>
              <a:t>3</a:t>
            </a:fld>
            <a:endParaRPr lang="en-US" altLang="en-US" sz="2000">
              <a:latin typeface="Arial" panose="020B0604020202020204" pitchFamily="34" charset="0"/>
            </a:endParaRPr>
          </a:p>
        </p:txBody>
      </p:sp>
      <p:sp>
        <p:nvSpPr>
          <p:cNvPr id="512002" name="Rectangle 2"/>
          <p:cNvSpPr>
            <a:spLocks noGrp="1" noChangeArrowheads="1"/>
          </p:cNvSpPr>
          <p:nvPr>
            <p:ph type="title"/>
          </p:nvPr>
        </p:nvSpPr>
        <p:spPr/>
        <p:txBody>
          <a:bodyPr/>
          <a:lstStyle/>
          <a:p>
            <a:pPr eaLnBrk="1" hangingPunct="1">
              <a:defRPr/>
            </a:pPr>
            <a:r>
              <a:rPr lang="en-US" dirty="0">
                <a:ea typeface="+mj-ea"/>
              </a:rPr>
              <a:t>The Role of Computers in Crime</a:t>
            </a:r>
          </a:p>
        </p:txBody>
      </p:sp>
      <p:sp>
        <p:nvSpPr>
          <p:cNvPr id="512003" name="Rectangle 3"/>
          <p:cNvSpPr>
            <a:spLocks noGrp="1" noChangeArrowheads="1"/>
          </p:cNvSpPr>
          <p:nvPr>
            <p:ph type="body" idx="1"/>
          </p:nvPr>
        </p:nvSpPr>
        <p:spPr/>
        <p:txBody>
          <a:bodyPr/>
          <a:lstStyle/>
          <a:p>
            <a:pPr eaLnBrk="1" hangingPunct="1">
              <a:defRPr/>
            </a:pPr>
            <a:r>
              <a:rPr lang="en-US" dirty="0"/>
              <a:t>Target</a:t>
            </a:r>
          </a:p>
          <a:p>
            <a:pPr lvl="1" eaLnBrk="1" hangingPunct="1">
              <a:defRPr/>
            </a:pPr>
            <a:r>
              <a:rPr lang="en-US" b="1" dirty="0">
                <a:ea typeface="+mn-ea"/>
              </a:rPr>
              <a:t>Equipment theft.</a:t>
            </a:r>
            <a:r>
              <a:rPr lang="en-US" dirty="0">
                <a:ea typeface="+mn-ea"/>
              </a:rPr>
              <a:t>  Computer or network hardware is stolen.</a:t>
            </a:r>
          </a:p>
          <a:p>
            <a:pPr lvl="1" eaLnBrk="1" hangingPunct="1">
              <a:defRPr/>
            </a:pPr>
            <a:r>
              <a:rPr lang="en-US" b="1" dirty="0">
                <a:ea typeface="+mn-ea"/>
              </a:rPr>
              <a:t>Equipment vandalism.</a:t>
            </a:r>
            <a:r>
              <a:rPr lang="en-US" dirty="0">
                <a:ea typeface="+mn-ea"/>
              </a:rPr>
              <a:t>  Computer or other hardware is damaged or defaced.</a:t>
            </a:r>
          </a:p>
          <a:p>
            <a:pPr lvl="1" eaLnBrk="1" hangingPunct="1">
              <a:defRPr/>
            </a:pPr>
            <a:r>
              <a:rPr lang="en-US" b="1" dirty="0">
                <a:ea typeface="+mn-ea"/>
              </a:rPr>
              <a:t>Data theft.</a:t>
            </a:r>
            <a:r>
              <a:rPr lang="en-US" dirty="0">
                <a:ea typeface="+mn-ea"/>
              </a:rPr>
              <a:t>  Data stored on a computer is stolen.</a:t>
            </a:r>
          </a:p>
          <a:p>
            <a:pPr lvl="1" eaLnBrk="1" hangingPunct="1">
              <a:defRPr/>
            </a:pPr>
            <a:r>
              <a:rPr lang="en-US" b="1" dirty="0">
                <a:ea typeface="+mn-ea"/>
              </a:rPr>
              <a:t>Data vandalism.</a:t>
            </a:r>
            <a:r>
              <a:rPr lang="en-US" dirty="0">
                <a:ea typeface="+mn-ea"/>
              </a:rPr>
              <a:t>  Data (which can include software) stored on a computer is changed, damaged, or destroyed.</a:t>
            </a:r>
          </a:p>
          <a:p>
            <a:pPr lvl="1" eaLnBrk="1" hangingPunct="1">
              <a:defRPr/>
            </a:pPr>
            <a:r>
              <a:rPr lang="en-US" b="1" dirty="0">
                <a:ea typeface="+mn-ea"/>
              </a:rPr>
              <a:t>Trespass.</a:t>
            </a:r>
            <a:r>
              <a:rPr lang="en-US" dirty="0">
                <a:ea typeface="+mn-ea"/>
              </a:rPr>
              <a:t>  A party logically enters a computer or other system without authorization.</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727373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1196F8C1-2F88-4888-98BD-78E38994CF5A}" type="slidenum">
              <a:rPr lang="en-US" altLang="en-US" sz="2000">
                <a:latin typeface="Arial" panose="020B0604020202020204" pitchFamily="34" charset="0"/>
              </a:rPr>
              <a:pPr eaLnBrk="1" hangingPunct="1"/>
              <a:t>4</a:t>
            </a:fld>
            <a:endParaRPr lang="en-US" altLang="en-US" sz="2000">
              <a:latin typeface="Arial" panose="020B0604020202020204" pitchFamily="34" charset="0"/>
            </a:endParaRPr>
          </a:p>
        </p:txBody>
      </p:sp>
      <p:sp>
        <p:nvSpPr>
          <p:cNvPr id="553986" name="Rectangle 2"/>
          <p:cNvSpPr>
            <a:spLocks noGrp="1" noChangeArrowheads="1"/>
          </p:cNvSpPr>
          <p:nvPr>
            <p:ph type="title"/>
          </p:nvPr>
        </p:nvSpPr>
        <p:spPr/>
        <p:txBody>
          <a:bodyPr/>
          <a:lstStyle/>
          <a:p>
            <a:pPr eaLnBrk="1" hangingPunct="1">
              <a:defRPr/>
            </a:pPr>
            <a:r>
              <a:rPr lang="en-US" dirty="0">
                <a:ea typeface="+mj-ea"/>
              </a:rPr>
              <a:t>The Role of Computers in Crime (cont.)</a:t>
            </a:r>
          </a:p>
        </p:txBody>
      </p:sp>
      <p:sp>
        <p:nvSpPr>
          <p:cNvPr id="553987" name="Rectangle 3"/>
          <p:cNvSpPr>
            <a:spLocks noGrp="1" noChangeArrowheads="1"/>
          </p:cNvSpPr>
          <p:nvPr>
            <p:ph type="body" idx="1"/>
          </p:nvPr>
        </p:nvSpPr>
        <p:spPr/>
        <p:txBody>
          <a:bodyPr/>
          <a:lstStyle/>
          <a:p>
            <a:pPr eaLnBrk="1" hangingPunct="1">
              <a:defRPr/>
            </a:pPr>
            <a:r>
              <a:rPr lang="en-US" dirty="0"/>
              <a:t>Instrument</a:t>
            </a:r>
          </a:p>
          <a:p>
            <a:pPr lvl="1" eaLnBrk="1" hangingPunct="1">
              <a:defRPr/>
            </a:pPr>
            <a:r>
              <a:rPr lang="en-US" dirty="0">
                <a:ea typeface="+mn-ea"/>
              </a:rPr>
              <a:t>Data theft and vandalism</a:t>
            </a:r>
          </a:p>
          <a:p>
            <a:pPr lvl="1" eaLnBrk="1" hangingPunct="1">
              <a:defRPr/>
            </a:pPr>
            <a:r>
              <a:rPr lang="en-US" dirty="0">
                <a:ea typeface="+mn-ea"/>
              </a:rPr>
              <a:t>Trespass</a:t>
            </a:r>
          </a:p>
          <a:p>
            <a:pPr lvl="1" eaLnBrk="1" hangingPunct="1">
              <a:defRPr/>
            </a:pPr>
            <a:r>
              <a:rPr lang="en-US" dirty="0">
                <a:ea typeface="+mn-ea"/>
              </a:rPr>
              <a:t>Harassment</a:t>
            </a:r>
          </a:p>
          <a:p>
            <a:pPr lvl="1" eaLnBrk="1" hangingPunct="1">
              <a:defRPr/>
            </a:pPr>
            <a:r>
              <a:rPr lang="en-US" dirty="0">
                <a:ea typeface="+mn-ea"/>
              </a:rPr>
              <a:t>Spam</a:t>
            </a:r>
          </a:p>
          <a:p>
            <a:pPr lvl="1" eaLnBrk="1" hangingPunct="1">
              <a:defRPr/>
            </a:pPr>
            <a:r>
              <a:rPr lang="en-US" dirty="0">
                <a:ea typeface="+mn-ea"/>
              </a:rPr>
              <a:t>Fraud</a:t>
            </a:r>
          </a:p>
          <a:p>
            <a:pPr lvl="1" eaLnBrk="1" hangingPunct="1">
              <a:defRPr/>
            </a:pPr>
            <a:r>
              <a:rPr lang="en-US" dirty="0">
                <a:ea typeface="+mn-ea"/>
              </a:rPr>
              <a:t>Eavesdrop</a:t>
            </a:r>
          </a:p>
          <a:p>
            <a:pPr lvl="1" eaLnBrk="1" hangingPunct="1">
              <a:defRPr/>
            </a:pPr>
            <a:r>
              <a:rPr lang="en-US" dirty="0">
                <a:ea typeface="+mn-ea"/>
              </a:rPr>
              <a:t>Espionage</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426228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EC9FD5CD-5A8F-44DF-9F34-F180365F52D2}" type="slidenum">
              <a:rPr lang="en-US" altLang="en-US" sz="2000">
                <a:latin typeface="Arial" panose="020B0604020202020204" pitchFamily="34" charset="0"/>
              </a:rPr>
              <a:pPr eaLnBrk="1" hangingPunct="1"/>
              <a:t>5</a:t>
            </a:fld>
            <a:endParaRPr lang="en-US" altLang="en-US" sz="2000">
              <a:latin typeface="Arial" panose="020B0604020202020204" pitchFamily="34" charset="0"/>
            </a:endParaRPr>
          </a:p>
        </p:txBody>
      </p:sp>
      <p:sp>
        <p:nvSpPr>
          <p:cNvPr id="555010" name="Rectangle 2"/>
          <p:cNvSpPr>
            <a:spLocks noGrp="1" noChangeArrowheads="1"/>
          </p:cNvSpPr>
          <p:nvPr>
            <p:ph type="title"/>
          </p:nvPr>
        </p:nvSpPr>
        <p:spPr/>
        <p:txBody>
          <a:bodyPr/>
          <a:lstStyle/>
          <a:p>
            <a:pPr eaLnBrk="1" hangingPunct="1">
              <a:defRPr/>
            </a:pPr>
            <a:r>
              <a:rPr lang="en-US" dirty="0">
                <a:ea typeface="+mj-ea"/>
              </a:rPr>
              <a:t>The Role of Computers in Crime (cont.)</a:t>
            </a:r>
          </a:p>
        </p:txBody>
      </p:sp>
      <p:sp>
        <p:nvSpPr>
          <p:cNvPr id="555011" name="Rectangle 3"/>
          <p:cNvSpPr>
            <a:spLocks noGrp="1" noChangeArrowheads="1"/>
          </p:cNvSpPr>
          <p:nvPr>
            <p:ph type="body" idx="1"/>
          </p:nvPr>
        </p:nvSpPr>
        <p:spPr/>
        <p:txBody>
          <a:bodyPr/>
          <a:lstStyle/>
          <a:p>
            <a:pPr eaLnBrk="1" hangingPunct="1">
              <a:defRPr/>
            </a:pPr>
            <a:r>
              <a:rPr lang="en-US" dirty="0">
                <a:ea typeface="+mn-ea"/>
              </a:rPr>
              <a:t>Support</a:t>
            </a:r>
          </a:p>
          <a:p>
            <a:pPr lvl="1" eaLnBrk="1" hangingPunct="1">
              <a:defRPr/>
            </a:pPr>
            <a:r>
              <a:rPr lang="en-US" b="1" dirty="0">
                <a:ea typeface="+mn-ea"/>
              </a:rPr>
              <a:t>Recordkeeping.</a:t>
            </a:r>
            <a:r>
              <a:rPr lang="en-US" dirty="0">
                <a:ea typeface="+mn-ea"/>
              </a:rPr>
              <a:t>  A criminal may use a computer to track or support criminal activities.</a:t>
            </a:r>
            <a:endParaRPr lang="en-US" b="1" dirty="0">
              <a:ea typeface="+mn-ea"/>
            </a:endParaRPr>
          </a:p>
          <a:p>
            <a:pPr lvl="1" eaLnBrk="1" hangingPunct="1">
              <a:defRPr/>
            </a:pPr>
            <a:r>
              <a:rPr lang="en-US" b="1" dirty="0">
                <a:ea typeface="+mn-ea"/>
              </a:rPr>
              <a:t>Conspiracy.</a:t>
            </a:r>
            <a:r>
              <a:rPr lang="en-US" dirty="0">
                <a:ea typeface="+mn-ea"/>
              </a:rPr>
              <a:t>  Two or more individuals may conspire to commit a crime, using computers as the means to communicate and plan the crime.</a:t>
            </a:r>
            <a:endParaRPr lang="en-US" b="1" dirty="0">
              <a:ea typeface="+mn-ea"/>
            </a:endParaRPr>
          </a:p>
          <a:p>
            <a:pPr lvl="1" eaLnBrk="1" hangingPunct="1">
              <a:defRPr/>
            </a:pPr>
            <a:r>
              <a:rPr lang="en-US" b="1" dirty="0">
                <a:ea typeface="+mn-ea"/>
              </a:rPr>
              <a:t>Aid and abet.</a:t>
            </a:r>
            <a:r>
              <a:rPr lang="en-US" dirty="0">
                <a:ea typeface="+mn-ea"/>
              </a:rPr>
              <a:t>  A party may aid and abet criminals through the use of a computer, for instance by providing information via e-mail or sending funds via e-mail or an online service.</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428878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0BD4488B-A7B7-4FAC-8F2A-1089F3BD831E}" type="slidenum">
              <a:rPr lang="en-US" altLang="en-US" sz="2000">
                <a:latin typeface="Arial" panose="020B0604020202020204" pitchFamily="34" charset="0"/>
              </a:rPr>
              <a:pPr eaLnBrk="1" hangingPunct="1"/>
              <a:t>6</a:t>
            </a:fld>
            <a:endParaRPr lang="en-US" altLang="en-US" sz="2000">
              <a:latin typeface="Arial" panose="020B0604020202020204" pitchFamily="34" charset="0"/>
            </a:endParaRPr>
          </a:p>
        </p:txBody>
      </p:sp>
      <p:sp>
        <p:nvSpPr>
          <p:cNvPr id="513026" name="Rectangle 2"/>
          <p:cNvSpPr>
            <a:spLocks noGrp="1" noChangeArrowheads="1"/>
          </p:cNvSpPr>
          <p:nvPr>
            <p:ph type="title"/>
          </p:nvPr>
        </p:nvSpPr>
        <p:spPr/>
        <p:txBody>
          <a:bodyPr/>
          <a:lstStyle/>
          <a:p>
            <a:pPr eaLnBrk="1" hangingPunct="1">
              <a:defRPr/>
            </a:pPr>
            <a:r>
              <a:rPr lang="en-US" dirty="0">
                <a:ea typeface="+mj-ea"/>
              </a:rPr>
              <a:t>Categories of Computer Crimes</a:t>
            </a:r>
          </a:p>
        </p:txBody>
      </p:sp>
      <p:sp>
        <p:nvSpPr>
          <p:cNvPr id="513027" name="Rectangle 3"/>
          <p:cNvSpPr>
            <a:spLocks noGrp="1" noChangeArrowheads="1"/>
          </p:cNvSpPr>
          <p:nvPr>
            <p:ph type="body" idx="1"/>
          </p:nvPr>
        </p:nvSpPr>
        <p:spPr/>
        <p:txBody>
          <a:bodyPr/>
          <a:lstStyle/>
          <a:p>
            <a:pPr eaLnBrk="1" hangingPunct="1">
              <a:defRPr/>
            </a:pPr>
            <a:r>
              <a:rPr lang="en-US" dirty="0">
                <a:ea typeface="+mn-ea"/>
              </a:rPr>
              <a:t>Political espionage and cyber-warfare</a:t>
            </a:r>
          </a:p>
          <a:p>
            <a:pPr eaLnBrk="1" hangingPunct="1">
              <a:defRPr/>
            </a:pPr>
            <a:r>
              <a:rPr lang="en-US" dirty="0">
                <a:ea typeface="+mn-ea"/>
              </a:rPr>
              <a:t>Terrorism</a:t>
            </a:r>
          </a:p>
          <a:p>
            <a:pPr eaLnBrk="1" hangingPunct="1">
              <a:defRPr/>
            </a:pPr>
            <a:r>
              <a:rPr lang="en-US" dirty="0">
                <a:ea typeface="+mn-ea"/>
              </a:rPr>
              <a:t>Theft and fraud</a:t>
            </a:r>
          </a:p>
          <a:p>
            <a:pPr eaLnBrk="1" hangingPunct="1">
              <a:defRPr/>
            </a:pPr>
            <a:r>
              <a:rPr lang="en-US" dirty="0">
                <a:ea typeface="+mn-ea"/>
              </a:rPr>
              <a:t>Commercial espionage</a:t>
            </a:r>
          </a:p>
          <a:p>
            <a:pPr eaLnBrk="1" hangingPunct="1">
              <a:defRPr/>
            </a:pPr>
            <a:r>
              <a:rPr lang="en-US" dirty="0">
                <a:ea typeface="+mn-ea"/>
              </a:rPr>
              <a:t>Harassment</a:t>
            </a:r>
          </a:p>
          <a:p>
            <a:pPr eaLnBrk="1" hangingPunct="1">
              <a:defRPr/>
            </a:pPr>
            <a:r>
              <a:rPr lang="en-US" dirty="0">
                <a:ea typeface="+mn-ea"/>
              </a:rPr>
              <a:t>Hacktivism</a:t>
            </a:r>
          </a:p>
          <a:p>
            <a:pPr eaLnBrk="1" hangingPunct="1">
              <a:defRPr/>
            </a:pPr>
            <a:r>
              <a:rPr lang="en-US" dirty="0">
                <a:ea typeface="+mn-ea"/>
              </a:rPr>
              <a:t>Cybervandalism</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91685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Political Espionage and Cyber-warfare</a:t>
            </a:r>
          </a:p>
        </p:txBody>
      </p:sp>
      <p:sp>
        <p:nvSpPr>
          <p:cNvPr id="3" name="Content Placeholder 2"/>
          <p:cNvSpPr>
            <a:spLocks noGrp="1"/>
          </p:cNvSpPr>
          <p:nvPr>
            <p:ph idx="1"/>
          </p:nvPr>
        </p:nvSpPr>
        <p:spPr/>
        <p:txBody>
          <a:bodyPr/>
          <a:lstStyle/>
          <a:p>
            <a:pPr eaLnBrk="1" hangingPunct="1">
              <a:defRPr/>
            </a:pPr>
            <a:r>
              <a:rPr lang="en-US" dirty="0">
                <a:ea typeface="+mn-ea"/>
              </a:rPr>
              <a:t>Cyberspace now a theater of war (in addition to land, sea, air, and space)</a:t>
            </a:r>
          </a:p>
          <a:p>
            <a:pPr eaLnBrk="1" hangingPunct="1">
              <a:defRPr/>
            </a:pPr>
            <a:r>
              <a:rPr lang="en-US" dirty="0">
                <a:ea typeface="+mn-ea"/>
              </a:rPr>
              <a:t>Operations to obtain military and political intelligence</a:t>
            </a:r>
          </a:p>
          <a:p>
            <a:pPr eaLnBrk="1" hangingPunct="1">
              <a:defRPr/>
            </a:pPr>
            <a:r>
              <a:rPr lang="en-US" dirty="0">
                <a:ea typeface="+mn-ea"/>
              </a:rPr>
              <a:t>Operations to harm government, military, and civilian targets</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CE6AA254-6D4D-4C5C-A5AF-23B20AE5ED76}" type="slidenum">
              <a:rPr lang="en-US" altLang="en-US" sz="2000">
                <a:latin typeface="Arial" panose="020B0604020202020204" pitchFamily="34" charset="0"/>
              </a:rPr>
              <a:pPr eaLnBrk="1" hangingPunct="1"/>
              <a:t>7</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001819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5D2C7CFB-18DF-422B-82D3-FD7A0F474EB6}" type="slidenum">
              <a:rPr lang="en-US" altLang="en-US" sz="2000">
                <a:latin typeface="Arial" panose="020B0604020202020204" pitchFamily="34" charset="0"/>
              </a:rPr>
              <a:pPr eaLnBrk="1" hangingPunct="1"/>
              <a:t>8</a:t>
            </a:fld>
            <a:endParaRPr lang="en-US" altLang="en-US" sz="2000">
              <a:latin typeface="Arial" panose="020B0604020202020204" pitchFamily="34" charset="0"/>
            </a:endParaRPr>
          </a:p>
        </p:txBody>
      </p:sp>
      <p:sp>
        <p:nvSpPr>
          <p:cNvPr id="518146" name="Rectangle 2"/>
          <p:cNvSpPr>
            <a:spLocks noGrp="1" noChangeArrowheads="1"/>
          </p:cNvSpPr>
          <p:nvPr>
            <p:ph type="title"/>
          </p:nvPr>
        </p:nvSpPr>
        <p:spPr/>
        <p:txBody>
          <a:bodyPr/>
          <a:lstStyle/>
          <a:p>
            <a:pPr eaLnBrk="1" hangingPunct="1">
              <a:defRPr/>
            </a:pPr>
            <a:r>
              <a:rPr lang="en-US" dirty="0">
                <a:ea typeface="+mj-ea"/>
              </a:rPr>
              <a:t>Terrorism</a:t>
            </a:r>
          </a:p>
        </p:txBody>
      </p:sp>
      <p:sp>
        <p:nvSpPr>
          <p:cNvPr id="518147" name="Rectangle 3"/>
          <p:cNvSpPr>
            <a:spLocks noGrp="1" noChangeArrowheads="1"/>
          </p:cNvSpPr>
          <p:nvPr>
            <p:ph type="body" idx="1"/>
          </p:nvPr>
        </p:nvSpPr>
        <p:spPr/>
        <p:txBody>
          <a:bodyPr/>
          <a:lstStyle/>
          <a:p>
            <a:pPr eaLnBrk="1" hangingPunct="1"/>
            <a:r>
              <a:rPr lang="en-US" altLang="en-US"/>
              <a:t>Terrorism: the unlawful use of force or violence against persons or property to intimidate or coerce a government, the civilian population, or any segment thereof, in furtherance of political or social objectives</a:t>
            </a:r>
          </a:p>
          <a:p>
            <a:pPr eaLnBrk="1" hangingPunct="1"/>
            <a:r>
              <a:rPr lang="en-US" altLang="en-US"/>
              <a:t>Targets: governments, military, public utilities, public health, communications and media, transportation, financial, </a:t>
            </a:r>
            <a:r>
              <a:rPr lang="ja-JP" altLang="en-US"/>
              <a:t>“</a:t>
            </a:r>
            <a:r>
              <a:rPr lang="en-US" altLang="ja-JP"/>
              <a:t>icons</a:t>
            </a:r>
            <a:r>
              <a:rPr lang="ja-JP" altLang="en-US"/>
              <a:t>”</a:t>
            </a:r>
            <a:endParaRPr lang="en-US" altLang="en-US"/>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751157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Theft and Fraud</a:t>
            </a:r>
          </a:p>
        </p:txBody>
      </p:sp>
      <p:sp>
        <p:nvSpPr>
          <p:cNvPr id="3" name="Content Placeholder 2"/>
          <p:cNvSpPr>
            <a:spLocks noGrp="1"/>
          </p:cNvSpPr>
          <p:nvPr>
            <p:ph idx="1"/>
          </p:nvPr>
        </p:nvSpPr>
        <p:spPr/>
        <p:txBody>
          <a:bodyPr/>
          <a:lstStyle/>
          <a:p>
            <a:pPr eaLnBrk="1" hangingPunct="1">
              <a:defRPr/>
            </a:pPr>
            <a:r>
              <a:rPr lang="en-US" dirty="0">
                <a:ea typeface="+mn-ea"/>
              </a:rPr>
              <a:t>Direct attacks to illegally obtain funds or information</a:t>
            </a:r>
          </a:p>
          <a:p>
            <a:pPr eaLnBrk="1" hangingPunct="1">
              <a:defRPr/>
            </a:pPr>
            <a:r>
              <a:rPr lang="en-US" dirty="0">
                <a:ea typeface="+mn-ea"/>
              </a:rPr>
              <a:t>Embezzlement</a:t>
            </a:r>
          </a:p>
          <a:p>
            <a:pPr eaLnBrk="1" hangingPunct="1">
              <a:defRPr/>
            </a:pPr>
            <a:r>
              <a:rPr lang="en-US" dirty="0">
                <a:ea typeface="+mn-ea"/>
              </a:rPr>
              <a:t>Extortion and blackmail</a:t>
            </a:r>
          </a:p>
          <a:p>
            <a:pPr eaLnBrk="1" hangingPunct="1">
              <a:defRPr/>
            </a:pPr>
            <a:r>
              <a:rPr lang="en-US" dirty="0">
                <a:ea typeface="+mn-ea"/>
              </a:rPr>
              <a:t>Identity theft</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AF5B4744-0C56-4FCC-955C-970AA7C06A52}" type="slidenum">
              <a:rPr lang="en-US" altLang="en-US" sz="2000">
                <a:latin typeface="Arial" panose="020B0604020202020204" pitchFamily="34" charset="0"/>
              </a:rPr>
              <a:pPr eaLnBrk="1" hangingPunct="1"/>
              <a:t>9</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538734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Commercial Espionage</a:t>
            </a:r>
          </a:p>
        </p:txBody>
      </p:sp>
      <p:sp>
        <p:nvSpPr>
          <p:cNvPr id="3" name="Content Placeholder 2"/>
          <p:cNvSpPr>
            <a:spLocks noGrp="1"/>
          </p:cNvSpPr>
          <p:nvPr>
            <p:ph idx="1"/>
          </p:nvPr>
        </p:nvSpPr>
        <p:spPr/>
        <p:txBody>
          <a:bodyPr/>
          <a:lstStyle/>
          <a:p>
            <a:pPr eaLnBrk="1" hangingPunct="1">
              <a:defRPr/>
            </a:pPr>
            <a:r>
              <a:rPr lang="en-US" dirty="0">
                <a:ea typeface="+mn-ea"/>
              </a:rPr>
              <a:t>Competitive intelligence</a:t>
            </a:r>
          </a:p>
          <a:p>
            <a:pPr eaLnBrk="1" hangingPunct="1">
              <a:defRPr/>
            </a:pPr>
            <a:r>
              <a:rPr lang="en-US" dirty="0">
                <a:ea typeface="+mn-ea"/>
              </a:rPr>
              <a:t>Financial gain</a:t>
            </a:r>
          </a:p>
          <a:p>
            <a:pPr eaLnBrk="1" hangingPunct="1">
              <a:defRPr/>
            </a:pPr>
            <a:r>
              <a:rPr lang="en-US" dirty="0">
                <a:ea typeface="+mn-ea"/>
              </a:rPr>
              <a:t>Denial of service</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846F8A4C-3835-4762-BF39-AA456D0A515B}" type="slidenum">
              <a:rPr lang="en-US" altLang="en-US" sz="2000">
                <a:latin typeface="Arial" panose="020B0604020202020204" pitchFamily="34" charset="0"/>
              </a:rPr>
              <a:pPr eaLnBrk="1" hangingPunct="1"/>
              <a:t>10</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512122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Harassment</a:t>
            </a:r>
          </a:p>
        </p:txBody>
      </p:sp>
      <p:sp>
        <p:nvSpPr>
          <p:cNvPr id="3" name="Content Placeholder 2"/>
          <p:cNvSpPr>
            <a:spLocks noGrp="1"/>
          </p:cNvSpPr>
          <p:nvPr>
            <p:ph idx="1"/>
          </p:nvPr>
        </p:nvSpPr>
        <p:spPr/>
        <p:txBody>
          <a:bodyPr/>
          <a:lstStyle/>
          <a:p>
            <a:pPr eaLnBrk="1" hangingPunct="1">
              <a:defRPr/>
            </a:pPr>
            <a:r>
              <a:rPr lang="en-US" dirty="0">
                <a:ea typeface="+mn-ea"/>
              </a:rPr>
              <a:t>Bullying</a:t>
            </a:r>
          </a:p>
          <a:p>
            <a:pPr eaLnBrk="1" hangingPunct="1">
              <a:defRPr/>
            </a:pPr>
            <a:r>
              <a:rPr lang="en-US" dirty="0">
                <a:ea typeface="+mn-ea"/>
              </a:rPr>
              <a:t>Cyberstalking</a:t>
            </a:r>
          </a:p>
          <a:p>
            <a:pPr eaLnBrk="1" hangingPunct="1">
              <a:defRPr/>
            </a:pPr>
            <a:r>
              <a:rPr lang="en-US" dirty="0">
                <a:ea typeface="+mn-ea"/>
              </a:rPr>
              <a:t>Defamation</a:t>
            </a:r>
          </a:p>
          <a:p>
            <a:pPr eaLnBrk="1" hangingPunct="1">
              <a:defRPr/>
            </a:pPr>
            <a:r>
              <a:rPr lang="en-US" dirty="0">
                <a:ea typeface="+mn-ea"/>
              </a:rPr>
              <a:t>Libel</a:t>
            </a:r>
          </a:p>
          <a:p>
            <a:pPr eaLnBrk="1" hangingPunct="1">
              <a:defRPr/>
            </a:pPr>
            <a:r>
              <a:rPr lang="en-US" dirty="0">
                <a:ea typeface="+mn-ea"/>
              </a:rPr>
              <a:t>Slander</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19D8931E-BD69-4A6B-A90C-F3BACD13E3F5}" type="slidenum">
              <a:rPr lang="en-US" altLang="en-US" sz="2000">
                <a:latin typeface="Arial" panose="020B0604020202020204" pitchFamily="34" charset="0"/>
              </a:rPr>
              <a:pPr eaLnBrk="1" hangingPunct="1"/>
              <a:t>11</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620825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Hacktivism</a:t>
            </a:r>
          </a:p>
        </p:txBody>
      </p:sp>
      <p:sp>
        <p:nvSpPr>
          <p:cNvPr id="3" name="Content Placeholder 2"/>
          <p:cNvSpPr>
            <a:spLocks noGrp="1"/>
          </p:cNvSpPr>
          <p:nvPr>
            <p:ph idx="1"/>
          </p:nvPr>
        </p:nvSpPr>
        <p:spPr/>
        <p:txBody>
          <a:bodyPr/>
          <a:lstStyle/>
          <a:p>
            <a:pPr eaLnBrk="1" hangingPunct="1">
              <a:defRPr/>
            </a:pPr>
            <a:r>
              <a:rPr lang="en-US" dirty="0">
                <a:ea typeface="+mn-ea"/>
              </a:rPr>
              <a:t>Actions against governments and organizations</a:t>
            </a:r>
          </a:p>
          <a:p>
            <a:pPr eaLnBrk="1" hangingPunct="1">
              <a:defRPr/>
            </a:pPr>
            <a:r>
              <a:rPr lang="en-US" dirty="0">
                <a:ea typeface="+mn-ea"/>
              </a:rPr>
              <a:t>Sociopolitical motivation</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43E77A9A-36F2-4CD9-8A48-0212BE1F5BC6}" type="slidenum">
              <a:rPr lang="en-US" altLang="en-US" sz="2000">
                <a:latin typeface="Arial" panose="020B0604020202020204" pitchFamily="34" charset="0"/>
              </a:rPr>
              <a:pPr eaLnBrk="1" hangingPunct="1"/>
              <a:t>12</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226344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Cybervandalism</a:t>
            </a:r>
          </a:p>
        </p:txBody>
      </p:sp>
      <p:sp>
        <p:nvSpPr>
          <p:cNvPr id="3" name="Content Placeholder 2"/>
          <p:cNvSpPr>
            <a:spLocks noGrp="1"/>
          </p:cNvSpPr>
          <p:nvPr>
            <p:ph idx="1"/>
          </p:nvPr>
        </p:nvSpPr>
        <p:spPr/>
        <p:txBody>
          <a:bodyPr/>
          <a:lstStyle/>
          <a:p>
            <a:pPr eaLnBrk="1" hangingPunct="1">
              <a:defRPr/>
            </a:pPr>
            <a:r>
              <a:rPr lang="en-US" dirty="0">
                <a:ea typeface="+mn-ea"/>
              </a:rPr>
              <a:t>Defacement</a:t>
            </a:r>
          </a:p>
          <a:p>
            <a:pPr eaLnBrk="1" hangingPunct="1">
              <a:defRPr/>
            </a:pPr>
            <a:r>
              <a:rPr lang="en-US" dirty="0">
                <a:ea typeface="+mn-ea"/>
              </a:rPr>
              <a:t>Compromise with malware</a:t>
            </a:r>
          </a:p>
          <a:p>
            <a:pPr lvl="1" eaLnBrk="1" hangingPunct="1">
              <a:defRPr/>
            </a:pPr>
            <a:r>
              <a:rPr lang="en-US" dirty="0">
                <a:ea typeface="+mn-ea"/>
              </a:rPr>
              <a:t>Drive-by attacks on future visitors</a:t>
            </a:r>
          </a:p>
          <a:p>
            <a:pPr eaLnBrk="1" hangingPunct="1">
              <a:defRPr/>
            </a:pPr>
            <a:r>
              <a:rPr lang="en-US" dirty="0">
                <a:ea typeface="+mn-ea"/>
              </a:rPr>
              <a:t>Denial of service</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DEC8B9FC-CE75-498F-8353-8F136483A03A}" type="slidenum">
              <a:rPr lang="en-US" altLang="en-US" sz="2000">
                <a:latin typeface="Arial" panose="020B0604020202020204" pitchFamily="34" charset="0"/>
              </a:rPr>
              <a:pPr eaLnBrk="1" hangingPunct="1"/>
              <a:t>13</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887533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BBCA834F-AA33-4FA0-A81F-F530EBDA83AC}" type="slidenum">
              <a:rPr lang="en-US" altLang="en-US" sz="2000">
                <a:latin typeface="Arial" panose="020B0604020202020204" pitchFamily="34" charset="0"/>
              </a:rPr>
              <a:pPr eaLnBrk="1" hangingPunct="1"/>
              <a:t>14</a:t>
            </a:fld>
            <a:endParaRPr lang="en-US" altLang="en-US" sz="2000">
              <a:latin typeface="Arial" panose="020B0604020202020204" pitchFamily="34" charset="0"/>
            </a:endParaRPr>
          </a:p>
        </p:txBody>
      </p:sp>
      <p:sp>
        <p:nvSpPr>
          <p:cNvPr id="520194" name="Rectangle 2"/>
          <p:cNvSpPr>
            <a:spLocks noGrp="1" noChangeArrowheads="1"/>
          </p:cNvSpPr>
          <p:nvPr>
            <p:ph type="title"/>
          </p:nvPr>
        </p:nvSpPr>
        <p:spPr/>
        <p:txBody>
          <a:bodyPr/>
          <a:lstStyle/>
          <a:p>
            <a:pPr eaLnBrk="1" hangingPunct="1">
              <a:defRPr/>
            </a:pPr>
            <a:r>
              <a:rPr lang="en-US" dirty="0">
                <a:ea typeface="+mj-ea"/>
              </a:rPr>
              <a:t>Categories of U.S. Laws</a:t>
            </a:r>
          </a:p>
        </p:txBody>
      </p:sp>
      <p:sp>
        <p:nvSpPr>
          <p:cNvPr id="520195" name="Rectangle 3"/>
          <p:cNvSpPr>
            <a:spLocks noGrp="1" noChangeArrowheads="1"/>
          </p:cNvSpPr>
          <p:nvPr>
            <p:ph type="body" idx="1"/>
          </p:nvPr>
        </p:nvSpPr>
        <p:spPr/>
        <p:txBody>
          <a:bodyPr/>
          <a:lstStyle/>
          <a:p>
            <a:pPr eaLnBrk="1" hangingPunct="1">
              <a:lnSpc>
                <a:spcPct val="80000"/>
              </a:lnSpc>
            </a:pPr>
            <a:r>
              <a:rPr lang="en-US" altLang="en-US" sz="2400" b="1" dirty="0"/>
              <a:t>Criminal law.</a:t>
            </a:r>
            <a:r>
              <a:rPr lang="en-US" altLang="en-US" sz="2400" dirty="0"/>
              <a:t>  This includes laws of public order against crimes such as assault, arson, theft, burglary, deception, obstruction of justice, bribery, and perjury.  Law enforcement agencies are responsible for enforcing criminal laws.  Criminal laws in the U.S. are published in the United States Code (U.S.C.).</a:t>
            </a:r>
            <a:endParaRPr lang="en-US" altLang="en-US" sz="2400" b="1" dirty="0"/>
          </a:p>
          <a:p>
            <a:pPr eaLnBrk="1" hangingPunct="1">
              <a:lnSpc>
                <a:spcPct val="80000"/>
              </a:lnSpc>
            </a:pPr>
            <a:r>
              <a:rPr lang="en-US" altLang="en-US" sz="2400" b="1" dirty="0"/>
              <a:t>Civil law.</a:t>
            </a:r>
            <a:r>
              <a:rPr lang="en-US" altLang="en-US" sz="2400" dirty="0"/>
              <a:t>  This includes contract law, tort law, property law, employment law, and corporate law.  Civil law is the branch of laws that generally involve two parties that have a grievance that needs to be settled.  Law enforcement agencies generally have little to do with civil laws.  Civil laws in the U.S. are published in the United States Code (U.S.C.).</a:t>
            </a:r>
            <a:endParaRPr lang="en-US" altLang="en-US" sz="2400" b="1" dirty="0"/>
          </a:p>
          <a:p>
            <a:pPr eaLnBrk="1" hangingPunct="1">
              <a:lnSpc>
                <a:spcPct val="80000"/>
              </a:lnSpc>
            </a:pPr>
            <a:r>
              <a:rPr lang="en-US" altLang="en-US" sz="2400" b="1" dirty="0"/>
              <a:t>Administrative law.</a:t>
            </a:r>
            <a:r>
              <a:rPr lang="en-US" altLang="en-US" sz="2400" dirty="0"/>
              <a:t>  These laws form the framework for the operation of U.S. government agencies such as the Federal Trade Commission, the Department of Agriculture, and the Federal Communications Commission.  Administrative law in the United States in the U.S. Code of Federal Regulations, commonly known as the C.F.R.</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711478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6"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036A6467-D293-414E-8B5A-31A4F5DCF41D}" type="slidenum">
              <a:rPr lang="en-US" altLang="en-US" sz="2000">
                <a:latin typeface="Arial" panose="020B0604020202020204" pitchFamily="34" charset="0"/>
              </a:rPr>
              <a:pPr eaLnBrk="1" hangingPunct="1"/>
              <a:t>15</a:t>
            </a:fld>
            <a:endParaRPr lang="en-US" altLang="en-US" sz="2000">
              <a:latin typeface="Arial" panose="020B0604020202020204" pitchFamily="34" charset="0"/>
            </a:endParaRPr>
          </a:p>
        </p:txBody>
      </p:sp>
      <p:sp>
        <p:nvSpPr>
          <p:cNvPr id="521218" name="Rectangle 2"/>
          <p:cNvSpPr>
            <a:spLocks noGrp="1" noChangeArrowheads="1"/>
          </p:cNvSpPr>
          <p:nvPr>
            <p:ph type="title"/>
          </p:nvPr>
        </p:nvSpPr>
        <p:spPr/>
        <p:txBody>
          <a:bodyPr/>
          <a:lstStyle/>
          <a:p>
            <a:pPr eaLnBrk="1" hangingPunct="1">
              <a:defRPr/>
            </a:pPr>
            <a:r>
              <a:rPr lang="en-US" dirty="0">
                <a:ea typeface="+mj-ea"/>
              </a:rPr>
              <a:t>U.S. Computer Crime Laws</a:t>
            </a:r>
          </a:p>
        </p:txBody>
      </p:sp>
      <p:sp>
        <p:nvSpPr>
          <p:cNvPr id="521219" name="Rectangle 3"/>
          <p:cNvSpPr>
            <a:spLocks noGrp="1" noChangeArrowheads="1"/>
          </p:cNvSpPr>
          <p:nvPr>
            <p:ph type="body" idx="1"/>
          </p:nvPr>
        </p:nvSpPr>
        <p:spPr/>
        <p:txBody>
          <a:bodyPr/>
          <a:lstStyle/>
          <a:p>
            <a:pPr eaLnBrk="1" hangingPunct="1"/>
            <a:r>
              <a:rPr lang="en-US" altLang="en-US" dirty="0"/>
              <a:t>Intellectual property types</a:t>
            </a:r>
          </a:p>
          <a:p>
            <a:pPr lvl="1" eaLnBrk="1" hangingPunct="1"/>
            <a:r>
              <a:rPr lang="en-US" altLang="en-US" dirty="0"/>
              <a:t>Copyrights </a:t>
            </a:r>
            <a:r>
              <a:rPr lang="en-US" altLang="en-US" dirty="0">
                <a:cs typeface="Arial" panose="020B0604020202020204" pitchFamily="34" charset="0"/>
              </a:rPr>
              <a:t>©</a:t>
            </a:r>
            <a:r>
              <a:rPr lang="en-US" altLang="en-US" dirty="0"/>
              <a:t>. Exclusive rights for literary works, movies, dances, musical compositions, audio recordings, etc.</a:t>
            </a:r>
          </a:p>
          <a:p>
            <a:pPr lvl="1" eaLnBrk="1" hangingPunct="1"/>
            <a:r>
              <a:rPr lang="en-US" altLang="en-US" dirty="0"/>
              <a:t>Patents. Designs of machinery, processes, software.</a:t>
            </a:r>
          </a:p>
          <a:p>
            <a:pPr lvl="1" eaLnBrk="1" hangingPunct="1"/>
            <a:r>
              <a:rPr lang="en-US" altLang="en-US" dirty="0"/>
              <a:t>Trademarks™ and ® service marks </a:t>
            </a:r>
            <a:r>
              <a:rPr lang="en-US" altLang="en-US" sz="2000" b="1" baseline="30000" dirty="0"/>
              <a:t>SM</a:t>
            </a:r>
            <a:r>
              <a:rPr lang="en-US" altLang="en-US" dirty="0"/>
              <a:t>. Names, slogans, logos for products and services.</a:t>
            </a:r>
          </a:p>
          <a:p>
            <a:pPr lvl="1" eaLnBrk="1" hangingPunct="1"/>
            <a:r>
              <a:rPr lang="en-US" altLang="en-US" dirty="0"/>
              <a:t>Trade secrets. Unregistered information.  </a:t>
            </a:r>
          </a:p>
        </p:txBody>
      </p:sp>
      <p:pic>
        <p:nvPicPr>
          <p:cNvPr id="17413" name="Picture 4" descr="coke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58199" y="4556760"/>
            <a:ext cx="2875873" cy="1096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337133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2E4CBE93-3883-4256-90A7-EB3BB36D7948}" type="slidenum">
              <a:rPr lang="en-US" altLang="en-US" sz="2000">
                <a:latin typeface="Arial" panose="020B0604020202020204" pitchFamily="34" charset="0"/>
              </a:rPr>
              <a:pPr eaLnBrk="1" hangingPunct="1"/>
              <a:t>16</a:t>
            </a:fld>
            <a:endParaRPr lang="en-US" altLang="en-US" sz="2000">
              <a:latin typeface="Arial" panose="020B0604020202020204" pitchFamily="34" charset="0"/>
            </a:endParaRPr>
          </a:p>
        </p:txBody>
      </p:sp>
      <p:sp>
        <p:nvSpPr>
          <p:cNvPr id="522242" name="Rectangle 2"/>
          <p:cNvSpPr>
            <a:spLocks noGrp="1" noChangeArrowheads="1"/>
          </p:cNvSpPr>
          <p:nvPr>
            <p:ph type="title"/>
          </p:nvPr>
        </p:nvSpPr>
        <p:spPr/>
        <p:txBody>
          <a:bodyPr/>
          <a:lstStyle/>
          <a:p>
            <a:pPr eaLnBrk="1" hangingPunct="1">
              <a:defRPr/>
            </a:pPr>
            <a:r>
              <a:rPr lang="en-US" dirty="0">
                <a:ea typeface="+mj-ea"/>
              </a:rPr>
              <a:t>U.S. Computer Crime Laws (cont.)</a:t>
            </a:r>
          </a:p>
        </p:txBody>
      </p:sp>
      <p:sp>
        <p:nvSpPr>
          <p:cNvPr id="522243" name="Rectangle 3"/>
          <p:cNvSpPr>
            <a:spLocks noGrp="1" noChangeArrowheads="1"/>
          </p:cNvSpPr>
          <p:nvPr>
            <p:ph type="body" idx="1"/>
          </p:nvPr>
        </p:nvSpPr>
        <p:spPr/>
        <p:txBody>
          <a:bodyPr/>
          <a:lstStyle/>
          <a:p>
            <a:pPr eaLnBrk="1" hangingPunct="1">
              <a:defRPr/>
            </a:pPr>
            <a:r>
              <a:rPr lang="en-US" dirty="0">
                <a:ea typeface="+mn-ea"/>
              </a:rPr>
              <a:t>Noteworthy intellectual property laws</a:t>
            </a:r>
          </a:p>
          <a:p>
            <a:pPr lvl="1" eaLnBrk="1" hangingPunct="1">
              <a:defRPr/>
            </a:pPr>
            <a:r>
              <a:rPr lang="en-US" dirty="0">
                <a:ea typeface="+mn-ea"/>
              </a:rPr>
              <a:t>Economic Espionage Act of 1996</a:t>
            </a:r>
          </a:p>
          <a:p>
            <a:pPr lvl="1" eaLnBrk="1" hangingPunct="1">
              <a:defRPr/>
            </a:pPr>
            <a:r>
              <a:rPr lang="en-US" dirty="0">
                <a:ea typeface="+mn-ea"/>
              </a:rPr>
              <a:t>Digital Millennium Copyright Act (DMCA) of 1998</a:t>
            </a:r>
          </a:p>
          <a:p>
            <a:pPr lvl="1" eaLnBrk="1" hangingPunct="1">
              <a:defRPr/>
            </a:pPr>
            <a:r>
              <a:rPr lang="en-US" dirty="0">
                <a:ea typeface="+mn-ea"/>
              </a:rPr>
              <a:t>No Electronic Theft (NET) Act</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496531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F2A3BFAA-BF52-4ACC-8BE0-38DC39615F54}" type="slidenum">
              <a:rPr lang="en-US" altLang="en-US" sz="2000">
                <a:latin typeface="Arial" panose="020B0604020202020204" pitchFamily="34" charset="0"/>
              </a:rPr>
              <a:pPr eaLnBrk="1" hangingPunct="1"/>
              <a:t>17</a:t>
            </a:fld>
            <a:endParaRPr lang="en-US" altLang="en-US" sz="2000">
              <a:latin typeface="Arial" panose="020B0604020202020204" pitchFamily="34" charset="0"/>
            </a:endParaRPr>
          </a:p>
        </p:txBody>
      </p:sp>
      <p:sp>
        <p:nvSpPr>
          <p:cNvPr id="523266" name="Rectangle 2"/>
          <p:cNvSpPr>
            <a:spLocks noGrp="1" noChangeArrowheads="1"/>
          </p:cNvSpPr>
          <p:nvPr>
            <p:ph type="title"/>
          </p:nvPr>
        </p:nvSpPr>
        <p:spPr/>
        <p:txBody>
          <a:bodyPr/>
          <a:lstStyle/>
          <a:p>
            <a:pPr eaLnBrk="1" hangingPunct="1">
              <a:defRPr/>
            </a:pPr>
            <a:r>
              <a:rPr lang="en-US" dirty="0">
                <a:ea typeface="+mj-ea"/>
              </a:rPr>
              <a:t>U.S. Privacy </a:t>
            </a:r>
            <a:r>
              <a:rPr lang="en-US" dirty="0"/>
              <a:t>L</a:t>
            </a:r>
            <a:r>
              <a:rPr lang="en-US" dirty="0">
                <a:ea typeface="+mj-ea"/>
              </a:rPr>
              <a:t>aws</a:t>
            </a:r>
          </a:p>
        </p:txBody>
      </p:sp>
      <p:sp>
        <p:nvSpPr>
          <p:cNvPr id="523267" name="Rectangle 3"/>
          <p:cNvSpPr>
            <a:spLocks noGrp="1" noChangeArrowheads="1"/>
          </p:cNvSpPr>
          <p:nvPr>
            <p:ph type="body" idx="1"/>
          </p:nvPr>
        </p:nvSpPr>
        <p:spPr/>
        <p:txBody>
          <a:bodyPr/>
          <a:lstStyle/>
          <a:p>
            <a:pPr eaLnBrk="1" hangingPunct="1">
              <a:lnSpc>
                <a:spcPct val="90000"/>
              </a:lnSpc>
              <a:defRPr/>
            </a:pPr>
            <a:r>
              <a:rPr lang="en-US" dirty="0">
                <a:ea typeface="+mn-ea"/>
              </a:rPr>
              <a:t>Fourth Amendment</a:t>
            </a:r>
          </a:p>
          <a:p>
            <a:pPr eaLnBrk="1" hangingPunct="1">
              <a:lnSpc>
                <a:spcPct val="90000"/>
              </a:lnSpc>
              <a:defRPr/>
            </a:pPr>
            <a:r>
              <a:rPr lang="en-US" dirty="0">
                <a:ea typeface="+mn-ea"/>
              </a:rPr>
              <a:t>Privacy Act of 1974</a:t>
            </a:r>
          </a:p>
          <a:p>
            <a:pPr eaLnBrk="1" hangingPunct="1">
              <a:lnSpc>
                <a:spcPct val="90000"/>
              </a:lnSpc>
              <a:defRPr/>
            </a:pPr>
            <a:r>
              <a:rPr lang="en-US" dirty="0">
                <a:ea typeface="+mn-ea"/>
              </a:rPr>
              <a:t>Electronic Communications Act of 1986</a:t>
            </a:r>
          </a:p>
          <a:p>
            <a:pPr eaLnBrk="1" hangingPunct="1">
              <a:lnSpc>
                <a:spcPct val="90000"/>
              </a:lnSpc>
              <a:defRPr/>
            </a:pPr>
            <a:r>
              <a:rPr lang="en-US" dirty="0">
                <a:ea typeface="+mn-ea"/>
              </a:rPr>
              <a:t>Electronic Communications Privacy Act (ECPA) of 1986</a:t>
            </a:r>
          </a:p>
          <a:p>
            <a:pPr eaLnBrk="1" hangingPunct="1">
              <a:lnSpc>
                <a:spcPct val="90000"/>
              </a:lnSpc>
              <a:defRPr/>
            </a:pPr>
            <a:r>
              <a:rPr lang="en-US" dirty="0">
                <a:ea typeface="+mn-ea"/>
              </a:rPr>
              <a:t>Computer Matching and Privacy Protection Act of 1988</a:t>
            </a:r>
          </a:p>
          <a:p>
            <a:pPr eaLnBrk="1" hangingPunct="1">
              <a:lnSpc>
                <a:spcPct val="90000"/>
              </a:lnSpc>
              <a:defRPr/>
            </a:pPr>
            <a:r>
              <a:rPr lang="en-US" dirty="0">
                <a:ea typeface="+mn-ea"/>
              </a:rPr>
              <a:t>Communications Assistance for Law Enforcement Act (CALEA) of 1994</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60751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433DE467-68E4-4A5B-863E-789313EF8877}" type="slidenum">
              <a:rPr lang="en-US" altLang="en-US" sz="2000">
                <a:latin typeface="Arial" panose="020B0604020202020204" pitchFamily="34" charset="0"/>
              </a:rPr>
              <a:pPr eaLnBrk="1" hangingPunct="1"/>
              <a:t>18</a:t>
            </a:fld>
            <a:endParaRPr lang="en-US" altLang="en-US" sz="2000">
              <a:latin typeface="Arial" panose="020B0604020202020204" pitchFamily="34" charset="0"/>
            </a:endParaRPr>
          </a:p>
        </p:txBody>
      </p:sp>
      <p:sp>
        <p:nvSpPr>
          <p:cNvPr id="524290" name="Rectangle 2"/>
          <p:cNvSpPr>
            <a:spLocks noGrp="1" noChangeArrowheads="1"/>
          </p:cNvSpPr>
          <p:nvPr>
            <p:ph type="title"/>
          </p:nvPr>
        </p:nvSpPr>
        <p:spPr/>
        <p:txBody>
          <a:bodyPr/>
          <a:lstStyle/>
          <a:p>
            <a:pPr eaLnBrk="1" hangingPunct="1">
              <a:defRPr/>
            </a:pPr>
            <a:r>
              <a:rPr lang="en-US" dirty="0">
                <a:ea typeface="+mj-ea"/>
              </a:rPr>
              <a:t>U.S. Privacy Laws (cont.)</a:t>
            </a:r>
          </a:p>
        </p:txBody>
      </p:sp>
      <p:sp>
        <p:nvSpPr>
          <p:cNvPr id="524291" name="Rectangle 3"/>
          <p:cNvSpPr>
            <a:spLocks noGrp="1" noChangeArrowheads="1"/>
          </p:cNvSpPr>
          <p:nvPr>
            <p:ph type="body" idx="1"/>
          </p:nvPr>
        </p:nvSpPr>
        <p:spPr/>
        <p:txBody>
          <a:bodyPr/>
          <a:lstStyle/>
          <a:p>
            <a:pPr eaLnBrk="1" hangingPunct="1"/>
            <a:r>
              <a:rPr lang="en-US" altLang="en-US" dirty="0"/>
              <a:t>Economic and Protection of Proprietary Information Act of 1996</a:t>
            </a:r>
          </a:p>
          <a:p>
            <a:pPr eaLnBrk="1" hangingPunct="1"/>
            <a:r>
              <a:rPr lang="en-US" altLang="en-US" dirty="0"/>
              <a:t>Health Insurance Portability and Accountability Act (HIPAA) of 1996</a:t>
            </a:r>
          </a:p>
          <a:p>
            <a:pPr eaLnBrk="1" hangingPunct="1"/>
            <a:r>
              <a:rPr lang="en-US" altLang="en-US" dirty="0"/>
              <a:t>Children</a:t>
            </a:r>
            <a:r>
              <a:rPr lang="ja-JP" altLang="en-US" dirty="0"/>
              <a:t>’</a:t>
            </a:r>
            <a:r>
              <a:rPr lang="en-US" altLang="ja-JP" dirty="0"/>
              <a:t>s Online Privacy Protection Act (COPPA) of 1998</a:t>
            </a:r>
          </a:p>
          <a:p>
            <a:pPr eaLnBrk="1" hangingPunct="1"/>
            <a:r>
              <a:rPr lang="en-US" altLang="en-US" dirty="0"/>
              <a:t>Identity Theft and Assumption Deterrence Act of 1998</a:t>
            </a:r>
          </a:p>
          <a:p>
            <a:pPr eaLnBrk="1" hangingPunct="1"/>
            <a:r>
              <a:rPr lang="en-US" altLang="en-US" dirty="0"/>
              <a:t>Gramm-Leach-Bliley Act (GLBA) of 1999</a:t>
            </a:r>
          </a:p>
          <a:p>
            <a:pPr eaLnBrk="1" hangingPunct="1"/>
            <a:r>
              <a:rPr lang="en-US" altLang="en-US" dirty="0"/>
              <a:t>Provide Appropriate Tools Required to Intercept and Obstruct Terrorism (PATRIOT) Act of 2001</a:t>
            </a:r>
          </a:p>
          <a:p>
            <a:pPr eaLnBrk="1" hangingPunct="1"/>
            <a:r>
              <a:rPr lang="en-US" altLang="en-US" dirty="0"/>
              <a:t>Health Information Technology for Economic and Clinical Health Act (HITECH) of 2009</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352934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B06967DE-5D84-482E-B47B-43CE52B2DAE6}" type="slidenum">
              <a:rPr lang="en-US" altLang="en-US" sz="2000">
                <a:latin typeface="Arial" panose="020B0604020202020204" pitchFamily="34" charset="0"/>
              </a:rPr>
              <a:pPr eaLnBrk="1" hangingPunct="1"/>
              <a:t>19</a:t>
            </a:fld>
            <a:endParaRPr lang="en-US" altLang="en-US" sz="2000">
              <a:latin typeface="Arial" panose="020B0604020202020204" pitchFamily="34" charset="0"/>
            </a:endParaRPr>
          </a:p>
        </p:txBody>
      </p:sp>
      <p:sp>
        <p:nvSpPr>
          <p:cNvPr id="525314" name="Rectangle 2"/>
          <p:cNvSpPr>
            <a:spLocks noGrp="1" noChangeArrowheads="1"/>
          </p:cNvSpPr>
          <p:nvPr>
            <p:ph type="title"/>
          </p:nvPr>
        </p:nvSpPr>
        <p:spPr/>
        <p:txBody>
          <a:bodyPr/>
          <a:lstStyle/>
          <a:p>
            <a:pPr eaLnBrk="1" hangingPunct="1">
              <a:defRPr/>
            </a:pPr>
            <a:r>
              <a:rPr lang="en-US" dirty="0">
                <a:ea typeface="+mj-ea"/>
              </a:rPr>
              <a:t>U.S. Computer Crime Laws</a:t>
            </a:r>
          </a:p>
        </p:txBody>
      </p:sp>
      <p:sp>
        <p:nvSpPr>
          <p:cNvPr id="525315" name="Rectangle 3"/>
          <p:cNvSpPr>
            <a:spLocks noGrp="1" noChangeArrowheads="1"/>
          </p:cNvSpPr>
          <p:nvPr>
            <p:ph type="body" idx="1"/>
          </p:nvPr>
        </p:nvSpPr>
        <p:spPr/>
        <p:txBody>
          <a:bodyPr>
            <a:noAutofit/>
          </a:bodyPr>
          <a:lstStyle/>
          <a:p>
            <a:pPr eaLnBrk="1" hangingPunct="1">
              <a:defRPr/>
            </a:pPr>
            <a:r>
              <a:rPr lang="en-US" dirty="0"/>
              <a:t>Access Device Fraud, 1984</a:t>
            </a:r>
          </a:p>
          <a:p>
            <a:pPr eaLnBrk="1" hangingPunct="1">
              <a:defRPr/>
            </a:pPr>
            <a:r>
              <a:rPr lang="en-US" dirty="0"/>
              <a:t>Computer Fraud and Abuse Act of 1984</a:t>
            </a:r>
          </a:p>
          <a:p>
            <a:pPr eaLnBrk="1" hangingPunct="1">
              <a:defRPr/>
            </a:pPr>
            <a:r>
              <a:rPr lang="en-US" dirty="0"/>
              <a:t>Computer Security Act of 1987</a:t>
            </a:r>
          </a:p>
          <a:p>
            <a:pPr eaLnBrk="1" hangingPunct="1">
              <a:defRPr/>
            </a:pPr>
            <a:r>
              <a:rPr lang="en-US" dirty="0"/>
              <a:t>National Information Infrastructure Protection Act of 1996</a:t>
            </a:r>
          </a:p>
          <a:p>
            <a:pPr eaLnBrk="1" hangingPunct="1">
              <a:defRPr/>
            </a:pPr>
            <a:r>
              <a:rPr lang="en-US" dirty="0"/>
              <a:t>Sarbanes-Oxley Act of 2002</a:t>
            </a:r>
          </a:p>
          <a:p>
            <a:pPr eaLnBrk="1" hangingPunct="1">
              <a:defRPr/>
            </a:pPr>
            <a:r>
              <a:rPr lang="en-US" dirty="0"/>
              <a:t>Federal Information Security Management Act of 2002 (FISMA)</a:t>
            </a:r>
          </a:p>
          <a:p>
            <a:pPr eaLnBrk="1" hangingPunct="1">
              <a:defRPr/>
            </a:pPr>
            <a:r>
              <a:rPr lang="en-US" dirty="0"/>
              <a:t>Controlling The Assault of Non-Solicited Pornography and Marketing (CAN-SPAM) Act of 2003</a:t>
            </a:r>
          </a:p>
          <a:p>
            <a:pPr eaLnBrk="1" hangingPunct="1">
              <a:defRPr/>
            </a:pPr>
            <a:r>
              <a:rPr lang="en-US" dirty="0"/>
              <a:t>Identity Theft and Assumption Deterrence Act of 2003</a:t>
            </a:r>
          </a:p>
          <a:p>
            <a:pPr eaLnBrk="1" hangingPunct="1">
              <a:defRPr/>
            </a:pPr>
            <a:r>
              <a:rPr lang="en-US" dirty="0"/>
              <a:t>U.S. state laws on electronic privacy and breach notification</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88032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7176871A-43F9-46E8-8BF2-0B889C35C924}" type="slidenum">
              <a:rPr lang="en-US" altLang="en-US" sz="2000">
                <a:latin typeface="Arial" panose="020B0604020202020204" pitchFamily="34" charset="0"/>
              </a:rPr>
              <a:pPr eaLnBrk="1" hangingPunct="1"/>
              <a:t>20</a:t>
            </a:fld>
            <a:endParaRPr lang="en-US" altLang="en-US" sz="2000">
              <a:latin typeface="Arial" panose="020B0604020202020204" pitchFamily="34" charset="0"/>
            </a:endParaRPr>
          </a:p>
        </p:txBody>
      </p:sp>
      <p:sp>
        <p:nvSpPr>
          <p:cNvPr id="526338" name="Rectangle 2"/>
          <p:cNvSpPr>
            <a:spLocks noGrp="1" noChangeArrowheads="1"/>
          </p:cNvSpPr>
          <p:nvPr>
            <p:ph type="title"/>
          </p:nvPr>
        </p:nvSpPr>
        <p:spPr/>
        <p:txBody>
          <a:bodyPr/>
          <a:lstStyle/>
          <a:p>
            <a:pPr eaLnBrk="1" hangingPunct="1">
              <a:defRPr/>
            </a:pPr>
            <a:r>
              <a:rPr lang="en-US" dirty="0">
                <a:ea typeface="+mj-ea"/>
              </a:rPr>
              <a:t>Canadian Computer Crime Laws</a:t>
            </a:r>
          </a:p>
        </p:txBody>
      </p:sp>
      <p:sp>
        <p:nvSpPr>
          <p:cNvPr id="526339" name="Rectangle 3"/>
          <p:cNvSpPr>
            <a:spLocks noGrp="1" noChangeArrowheads="1"/>
          </p:cNvSpPr>
          <p:nvPr>
            <p:ph type="body" idx="1"/>
          </p:nvPr>
        </p:nvSpPr>
        <p:spPr/>
        <p:txBody>
          <a:bodyPr/>
          <a:lstStyle/>
          <a:p>
            <a:pPr eaLnBrk="1" hangingPunct="1"/>
            <a:r>
              <a:rPr lang="en-US" altLang="en-US" dirty="0"/>
              <a:t>Interception of Communications (Criminal Code of Canada, § 184)</a:t>
            </a:r>
          </a:p>
          <a:p>
            <a:pPr eaLnBrk="1" hangingPunct="1"/>
            <a:r>
              <a:rPr lang="en-US" altLang="en-US" dirty="0"/>
              <a:t>Unauthorized User of Computer (Criminal Code of Canada, § 342.1)</a:t>
            </a:r>
          </a:p>
          <a:p>
            <a:pPr eaLnBrk="1" hangingPunct="1"/>
            <a:r>
              <a:rPr lang="en-US" altLang="en-US" dirty="0"/>
              <a:t>Privacy Act, 1983</a:t>
            </a:r>
          </a:p>
          <a:p>
            <a:pPr eaLnBrk="1" hangingPunct="1"/>
            <a:r>
              <a:rPr lang="en-US" altLang="en-US" dirty="0"/>
              <a:t>Personal Information Protection and Electronic Documents Act (PIPEDA)</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408458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8E5C3D92-A2A4-4AC5-AECD-3080628458C7}" type="slidenum">
              <a:rPr lang="en-US" altLang="en-US" sz="2000">
                <a:latin typeface="Arial" panose="020B0604020202020204" pitchFamily="34" charset="0"/>
              </a:rPr>
              <a:pPr eaLnBrk="1" hangingPunct="1"/>
              <a:t>21</a:t>
            </a:fld>
            <a:endParaRPr lang="en-US" altLang="en-US" sz="2000">
              <a:latin typeface="Arial" panose="020B0604020202020204" pitchFamily="34" charset="0"/>
            </a:endParaRPr>
          </a:p>
        </p:txBody>
      </p:sp>
      <p:sp>
        <p:nvSpPr>
          <p:cNvPr id="527362" name="Rectangle 2"/>
          <p:cNvSpPr>
            <a:spLocks noGrp="1" noChangeArrowheads="1"/>
          </p:cNvSpPr>
          <p:nvPr>
            <p:ph type="title"/>
          </p:nvPr>
        </p:nvSpPr>
        <p:spPr/>
        <p:txBody>
          <a:bodyPr/>
          <a:lstStyle/>
          <a:p>
            <a:pPr eaLnBrk="1" hangingPunct="1">
              <a:defRPr/>
            </a:pPr>
            <a:r>
              <a:rPr lang="en-US" dirty="0">
                <a:ea typeface="+mj-ea"/>
              </a:rPr>
              <a:t>European Computer Crime Laws</a:t>
            </a:r>
          </a:p>
        </p:txBody>
      </p:sp>
      <p:sp>
        <p:nvSpPr>
          <p:cNvPr id="527363" name="Rectangle 3"/>
          <p:cNvSpPr>
            <a:spLocks noGrp="1" noChangeArrowheads="1"/>
          </p:cNvSpPr>
          <p:nvPr>
            <p:ph type="body" idx="1"/>
          </p:nvPr>
        </p:nvSpPr>
        <p:spPr/>
        <p:txBody>
          <a:bodyPr/>
          <a:lstStyle/>
          <a:p>
            <a:pPr eaLnBrk="1" hangingPunct="1">
              <a:lnSpc>
                <a:spcPct val="90000"/>
              </a:lnSpc>
              <a:defRPr/>
            </a:pPr>
            <a:r>
              <a:rPr lang="en-US" dirty="0"/>
              <a:t>Computer Misuse Act 1990 (CMA)</a:t>
            </a:r>
          </a:p>
          <a:p>
            <a:pPr eaLnBrk="1" hangingPunct="1">
              <a:lnSpc>
                <a:spcPct val="90000"/>
              </a:lnSpc>
              <a:defRPr/>
            </a:pPr>
            <a:r>
              <a:rPr lang="en-US" dirty="0"/>
              <a:t>The Regulation of Investigatory Powers Act 2000</a:t>
            </a:r>
          </a:p>
          <a:p>
            <a:pPr eaLnBrk="1" hangingPunct="1">
              <a:lnSpc>
                <a:spcPct val="90000"/>
              </a:lnSpc>
              <a:defRPr/>
            </a:pPr>
            <a:r>
              <a:rPr lang="en-US" dirty="0"/>
              <a:t>Anti-terrorism, Crime and Security Act 2001</a:t>
            </a:r>
          </a:p>
          <a:p>
            <a:pPr eaLnBrk="1" hangingPunct="1">
              <a:lnSpc>
                <a:spcPct val="90000"/>
              </a:lnSpc>
              <a:defRPr/>
            </a:pPr>
            <a:r>
              <a:rPr lang="en-US" dirty="0"/>
              <a:t>Data Protection Act 1998 (DPA)</a:t>
            </a:r>
          </a:p>
          <a:p>
            <a:pPr eaLnBrk="1" hangingPunct="1">
              <a:lnSpc>
                <a:spcPct val="90000"/>
              </a:lnSpc>
              <a:defRPr/>
            </a:pPr>
            <a:r>
              <a:rPr lang="en-US" dirty="0"/>
              <a:t>Privacy and Electronic Communications Regulations 2003</a:t>
            </a:r>
          </a:p>
          <a:p>
            <a:pPr eaLnBrk="1" hangingPunct="1">
              <a:lnSpc>
                <a:spcPct val="90000"/>
              </a:lnSpc>
              <a:defRPr/>
            </a:pPr>
            <a:r>
              <a:rPr lang="en-US" dirty="0"/>
              <a:t>Fraud Act 2006</a:t>
            </a:r>
          </a:p>
          <a:p>
            <a:pPr eaLnBrk="1" hangingPunct="1">
              <a:lnSpc>
                <a:spcPct val="90000"/>
              </a:lnSpc>
              <a:defRPr/>
            </a:pPr>
            <a:r>
              <a:rPr lang="en-US" dirty="0"/>
              <a:t>Police and Justice Act 2006</a:t>
            </a:r>
          </a:p>
          <a:p>
            <a:pPr eaLnBrk="1" hangingPunct="1">
              <a:lnSpc>
                <a:spcPct val="90000"/>
              </a:lnSpc>
              <a:defRPr/>
            </a:pPr>
            <a:r>
              <a:rPr lang="en-US" dirty="0"/>
              <a:t>Convention for the Protection of Individuals with regard to Automatic Processing of Personal Data</a:t>
            </a:r>
          </a:p>
          <a:p>
            <a:pPr eaLnBrk="1" hangingPunct="1">
              <a:lnSpc>
                <a:spcPct val="90000"/>
              </a:lnSpc>
              <a:defRPr/>
            </a:pPr>
            <a:r>
              <a:rPr lang="en-US" dirty="0"/>
              <a:t>Directive on the Protection of Personal Data (95/46/EC)</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941636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07D8664D-9E4C-4F1A-BF86-4ADA96B94401}" type="slidenum">
              <a:rPr lang="en-US" altLang="en-US" sz="2000">
                <a:latin typeface="Arial" panose="020B0604020202020204" pitchFamily="34" charset="0"/>
              </a:rPr>
              <a:pPr eaLnBrk="1" hangingPunct="1"/>
              <a:t>22</a:t>
            </a:fld>
            <a:endParaRPr lang="en-US" altLang="en-US" sz="2000">
              <a:latin typeface="Arial" panose="020B0604020202020204" pitchFamily="34" charset="0"/>
            </a:endParaRPr>
          </a:p>
        </p:txBody>
      </p:sp>
      <p:sp>
        <p:nvSpPr>
          <p:cNvPr id="528386" name="Rectangle 2"/>
          <p:cNvSpPr>
            <a:spLocks noGrp="1" noChangeArrowheads="1"/>
          </p:cNvSpPr>
          <p:nvPr>
            <p:ph type="title"/>
          </p:nvPr>
        </p:nvSpPr>
        <p:spPr/>
        <p:txBody>
          <a:bodyPr/>
          <a:lstStyle/>
          <a:p>
            <a:pPr eaLnBrk="1" hangingPunct="1">
              <a:defRPr/>
            </a:pPr>
            <a:r>
              <a:rPr lang="en-US" dirty="0">
                <a:ea typeface="+mj-ea"/>
              </a:rPr>
              <a:t>Laws in Other Countries</a:t>
            </a:r>
          </a:p>
        </p:txBody>
      </p:sp>
      <p:sp>
        <p:nvSpPr>
          <p:cNvPr id="528387" name="Rectangle 3"/>
          <p:cNvSpPr>
            <a:spLocks noGrp="1" noChangeArrowheads="1"/>
          </p:cNvSpPr>
          <p:nvPr>
            <p:ph type="body" idx="1"/>
          </p:nvPr>
        </p:nvSpPr>
        <p:spPr/>
        <p:txBody>
          <a:bodyPr/>
          <a:lstStyle/>
          <a:p>
            <a:pPr eaLnBrk="1" hangingPunct="1">
              <a:defRPr/>
            </a:pPr>
            <a:r>
              <a:rPr lang="en-US" dirty="0">
                <a:ea typeface="+mn-ea"/>
              </a:rPr>
              <a:t>Two categories</a:t>
            </a:r>
          </a:p>
          <a:p>
            <a:pPr lvl="1" eaLnBrk="1" hangingPunct="1">
              <a:defRPr/>
            </a:pPr>
            <a:r>
              <a:rPr lang="en-US" b="1" dirty="0">
                <a:ea typeface="+mn-ea"/>
              </a:rPr>
              <a:t>Unauthorized entry.</a:t>
            </a:r>
            <a:r>
              <a:rPr lang="en-US" dirty="0">
                <a:ea typeface="+mn-ea"/>
              </a:rPr>
              <a:t>  In many countries it is now a crime to access a computer when one is not authorized to do so.</a:t>
            </a:r>
          </a:p>
          <a:p>
            <a:pPr lvl="1" eaLnBrk="1" hangingPunct="1">
              <a:defRPr/>
            </a:pPr>
            <a:r>
              <a:rPr lang="en-US" b="1" dirty="0">
                <a:ea typeface="+mn-ea"/>
              </a:rPr>
              <a:t>Creation or distribution of malware.</a:t>
            </a:r>
            <a:r>
              <a:rPr lang="en-US" dirty="0">
                <a:ea typeface="+mn-ea"/>
              </a:rPr>
              <a:t>  Many countries now make it illegal to create, release, or distribute malware.</a:t>
            </a:r>
          </a:p>
          <a:p>
            <a:pPr lvl="1" eaLnBrk="1" hangingPunct="1">
              <a:defRPr/>
            </a:pPr>
            <a:endParaRPr lang="en-US" dirty="0">
              <a:ea typeface="+mn-ea"/>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879487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Managing Compliance</a:t>
            </a:r>
          </a:p>
        </p:txBody>
      </p:sp>
      <p:sp>
        <p:nvSpPr>
          <p:cNvPr id="3" name="Content Placeholder 2"/>
          <p:cNvSpPr>
            <a:spLocks noGrp="1"/>
          </p:cNvSpPr>
          <p:nvPr>
            <p:ph idx="1"/>
          </p:nvPr>
        </p:nvSpPr>
        <p:spPr/>
        <p:txBody>
          <a:bodyPr>
            <a:normAutofit/>
          </a:bodyPr>
          <a:lstStyle/>
          <a:p>
            <a:pPr eaLnBrk="1" hangingPunct="1">
              <a:defRPr/>
            </a:pPr>
            <a:r>
              <a:rPr lang="en-US" dirty="0">
                <a:ea typeface="+mn-ea"/>
              </a:rPr>
              <a:t>Organizations in many countries required to comply with laws and regulations related to data protection</a:t>
            </a:r>
          </a:p>
          <a:p>
            <a:pPr eaLnBrk="1" hangingPunct="1">
              <a:defRPr/>
            </a:pPr>
            <a:r>
              <a:rPr lang="en-US" dirty="0">
                <a:ea typeface="+mn-ea"/>
              </a:rPr>
              <a:t>Organizations frequently adopt a framework of controls to manage compliance (and security):</a:t>
            </a:r>
          </a:p>
          <a:p>
            <a:pPr lvl="1" eaLnBrk="1" hangingPunct="1">
              <a:defRPr/>
            </a:pPr>
            <a:r>
              <a:rPr lang="en-US" dirty="0">
                <a:ea typeface="+mn-ea"/>
              </a:rPr>
              <a:t>COBIT (Control Objectives for Information and Related Technology)</a:t>
            </a:r>
          </a:p>
          <a:p>
            <a:pPr lvl="1" eaLnBrk="1" hangingPunct="1">
              <a:defRPr/>
            </a:pPr>
            <a:r>
              <a:rPr lang="en-US" dirty="0">
                <a:ea typeface="+mn-ea"/>
              </a:rPr>
              <a:t>COSO (Committee of Sponsoring Organizations of the Treadway Commission)</a:t>
            </a:r>
          </a:p>
          <a:p>
            <a:pPr lvl="1" eaLnBrk="1" hangingPunct="1">
              <a:defRPr/>
            </a:pPr>
            <a:r>
              <a:rPr lang="en-US" dirty="0">
                <a:ea typeface="+mn-ea"/>
              </a:rPr>
              <a:t>ISO 27002 (Code of Practice for Information Security Management)</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E67FBF07-5B1D-451D-8E49-D12F0632D675}" type="slidenum">
              <a:rPr lang="en-US" altLang="en-US" sz="2000">
                <a:latin typeface="Arial" panose="020B0604020202020204" pitchFamily="34" charset="0"/>
              </a:rPr>
              <a:pPr eaLnBrk="1" hangingPunct="1"/>
              <a:t>23</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042584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50ACC3BF-E994-432B-AF7B-F08F4A5F733C}" type="slidenum">
              <a:rPr lang="en-US" altLang="en-US" sz="2000">
                <a:latin typeface="Arial" panose="020B0604020202020204" pitchFamily="34" charset="0"/>
              </a:rPr>
              <a:pPr eaLnBrk="1" hangingPunct="1"/>
              <a:t>24</a:t>
            </a:fld>
            <a:endParaRPr lang="en-US" altLang="en-US" sz="2000">
              <a:latin typeface="Arial" panose="020B0604020202020204" pitchFamily="34" charset="0"/>
            </a:endParaRPr>
          </a:p>
        </p:txBody>
      </p:sp>
      <p:sp>
        <p:nvSpPr>
          <p:cNvPr id="529410" name="Rectangle 2"/>
          <p:cNvSpPr>
            <a:spLocks noGrp="1" noChangeArrowheads="1"/>
          </p:cNvSpPr>
          <p:nvPr>
            <p:ph type="title"/>
          </p:nvPr>
        </p:nvSpPr>
        <p:spPr/>
        <p:txBody>
          <a:bodyPr/>
          <a:lstStyle/>
          <a:p>
            <a:pPr eaLnBrk="1" hangingPunct="1">
              <a:defRPr/>
            </a:pPr>
            <a:r>
              <a:rPr lang="en-US" dirty="0">
                <a:ea typeface="+mj-ea"/>
              </a:rPr>
              <a:t>Security Incident Response</a:t>
            </a:r>
          </a:p>
        </p:txBody>
      </p:sp>
      <p:sp>
        <p:nvSpPr>
          <p:cNvPr id="529411" name="Rectangle 3"/>
          <p:cNvSpPr>
            <a:spLocks noGrp="1" noChangeArrowheads="1"/>
          </p:cNvSpPr>
          <p:nvPr>
            <p:ph type="body" idx="1"/>
          </p:nvPr>
        </p:nvSpPr>
        <p:spPr/>
        <p:txBody>
          <a:bodyPr/>
          <a:lstStyle/>
          <a:p>
            <a:pPr eaLnBrk="1" hangingPunct="1">
              <a:defRPr/>
            </a:pPr>
            <a:r>
              <a:rPr lang="en-US" dirty="0">
                <a:ea typeface="+mn-ea"/>
              </a:rPr>
              <a:t>Incident declaration</a:t>
            </a:r>
          </a:p>
          <a:p>
            <a:pPr eaLnBrk="1" hangingPunct="1">
              <a:defRPr/>
            </a:pPr>
            <a:r>
              <a:rPr lang="en-US" dirty="0">
                <a:ea typeface="+mn-ea"/>
              </a:rPr>
              <a:t>Triage</a:t>
            </a:r>
          </a:p>
          <a:p>
            <a:pPr eaLnBrk="1" hangingPunct="1">
              <a:defRPr/>
            </a:pPr>
            <a:r>
              <a:rPr lang="en-US" dirty="0">
                <a:ea typeface="+mn-ea"/>
              </a:rPr>
              <a:t>Investigation</a:t>
            </a:r>
          </a:p>
          <a:p>
            <a:pPr eaLnBrk="1" hangingPunct="1">
              <a:defRPr/>
            </a:pPr>
            <a:r>
              <a:rPr lang="en-US" dirty="0">
                <a:ea typeface="+mn-ea"/>
              </a:rPr>
              <a:t>Analysis</a:t>
            </a:r>
          </a:p>
          <a:p>
            <a:pPr eaLnBrk="1" hangingPunct="1">
              <a:defRPr/>
            </a:pPr>
            <a:r>
              <a:rPr lang="en-US" dirty="0">
                <a:ea typeface="+mn-ea"/>
              </a:rPr>
              <a:t>Containment</a:t>
            </a:r>
          </a:p>
          <a:p>
            <a:pPr eaLnBrk="1" hangingPunct="1">
              <a:defRPr/>
            </a:pPr>
            <a:r>
              <a:rPr lang="en-US" dirty="0">
                <a:ea typeface="+mn-ea"/>
              </a:rPr>
              <a:t>Recovery</a:t>
            </a:r>
          </a:p>
          <a:p>
            <a:pPr eaLnBrk="1" hangingPunct="1">
              <a:defRPr/>
            </a:pPr>
            <a:r>
              <a:rPr lang="en-US" dirty="0">
                <a:ea typeface="+mn-ea"/>
              </a:rPr>
              <a:t>Debriefing</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777375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07149F8A-0D0D-4B37-811F-01F5A27D4C09}" type="slidenum">
              <a:rPr lang="en-US" altLang="en-US" sz="2000">
                <a:latin typeface="Arial" panose="020B0604020202020204" pitchFamily="34" charset="0"/>
              </a:rPr>
              <a:pPr eaLnBrk="1" hangingPunct="1"/>
              <a:t>25</a:t>
            </a:fld>
            <a:endParaRPr lang="en-US" altLang="en-US" sz="2000">
              <a:latin typeface="Arial" panose="020B0604020202020204" pitchFamily="34" charset="0"/>
            </a:endParaRPr>
          </a:p>
        </p:txBody>
      </p:sp>
      <p:sp>
        <p:nvSpPr>
          <p:cNvPr id="530434" name="Rectangle 2"/>
          <p:cNvSpPr>
            <a:spLocks noGrp="1" noChangeArrowheads="1"/>
          </p:cNvSpPr>
          <p:nvPr>
            <p:ph type="title"/>
          </p:nvPr>
        </p:nvSpPr>
        <p:spPr/>
        <p:txBody>
          <a:bodyPr/>
          <a:lstStyle/>
          <a:p>
            <a:pPr eaLnBrk="1" hangingPunct="1">
              <a:defRPr/>
            </a:pPr>
            <a:r>
              <a:rPr lang="en-US" dirty="0">
                <a:ea typeface="+mj-ea"/>
              </a:rPr>
              <a:t>Incident Declaration</a:t>
            </a:r>
          </a:p>
        </p:txBody>
      </p:sp>
      <p:sp>
        <p:nvSpPr>
          <p:cNvPr id="530435" name="Rectangle 3"/>
          <p:cNvSpPr>
            <a:spLocks noGrp="1" noChangeArrowheads="1"/>
          </p:cNvSpPr>
          <p:nvPr>
            <p:ph type="body" idx="1"/>
          </p:nvPr>
        </p:nvSpPr>
        <p:spPr/>
        <p:txBody>
          <a:bodyPr/>
          <a:lstStyle/>
          <a:p>
            <a:pPr eaLnBrk="1" hangingPunct="1">
              <a:defRPr/>
            </a:pPr>
            <a:r>
              <a:rPr lang="en-US" dirty="0">
                <a:ea typeface="+mn-ea"/>
              </a:rPr>
              <a:t>Triggers</a:t>
            </a:r>
          </a:p>
          <a:p>
            <a:pPr lvl="1" eaLnBrk="1" hangingPunct="1">
              <a:defRPr/>
            </a:pPr>
            <a:r>
              <a:rPr lang="en-US" dirty="0">
                <a:ea typeface="+mn-ea"/>
              </a:rPr>
              <a:t>Malfunctions and outages</a:t>
            </a:r>
          </a:p>
          <a:p>
            <a:pPr lvl="1" eaLnBrk="1" hangingPunct="1">
              <a:defRPr/>
            </a:pPr>
            <a:r>
              <a:rPr lang="en-US" dirty="0">
                <a:ea typeface="+mn-ea"/>
              </a:rPr>
              <a:t>Threat or vulnerability alerts</a:t>
            </a:r>
          </a:p>
          <a:p>
            <a:pPr lvl="1" eaLnBrk="1" hangingPunct="1">
              <a:defRPr/>
            </a:pPr>
            <a:r>
              <a:rPr lang="en-US" dirty="0">
                <a:ea typeface="+mn-ea"/>
              </a:rPr>
              <a:t>News media</a:t>
            </a:r>
          </a:p>
          <a:p>
            <a:pPr lvl="1" eaLnBrk="1" hangingPunct="1">
              <a:defRPr/>
            </a:pPr>
            <a:r>
              <a:rPr lang="en-US" dirty="0">
                <a:ea typeface="+mn-ea"/>
              </a:rPr>
              <a:t>Customer notification</a:t>
            </a:r>
          </a:p>
          <a:p>
            <a:pPr lvl="1" eaLnBrk="1" hangingPunct="1">
              <a:defRPr/>
            </a:pPr>
            <a:r>
              <a:rPr lang="en-US" dirty="0">
                <a:ea typeface="+mn-ea"/>
              </a:rPr>
              <a:t>Internal staff</a:t>
            </a:r>
          </a:p>
          <a:p>
            <a:pPr eaLnBrk="1" hangingPunct="1">
              <a:defRPr/>
            </a:pPr>
            <a:r>
              <a:rPr lang="en-US" dirty="0">
                <a:ea typeface="+mn-ea"/>
              </a:rPr>
              <a:t>Declaration triggers response operations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296832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A8D03252-CF2D-44CB-8F55-58C2427FCD47}" type="slidenum">
              <a:rPr lang="en-US" altLang="en-US" sz="2000">
                <a:latin typeface="Arial" panose="020B0604020202020204" pitchFamily="34" charset="0"/>
              </a:rPr>
              <a:pPr eaLnBrk="1" hangingPunct="1"/>
              <a:t>26</a:t>
            </a:fld>
            <a:endParaRPr lang="en-US" altLang="en-US" sz="2000">
              <a:latin typeface="Arial" panose="020B0604020202020204" pitchFamily="34" charset="0"/>
            </a:endParaRPr>
          </a:p>
        </p:txBody>
      </p:sp>
      <p:sp>
        <p:nvSpPr>
          <p:cNvPr id="531458" name="Rectangle 2"/>
          <p:cNvSpPr>
            <a:spLocks noGrp="1" noChangeArrowheads="1"/>
          </p:cNvSpPr>
          <p:nvPr>
            <p:ph type="title"/>
          </p:nvPr>
        </p:nvSpPr>
        <p:spPr/>
        <p:txBody>
          <a:bodyPr/>
          <a:lstStyle/>
          <a:p>
            <a:pPr eaLnBrk="1" hangingPunct="1">
              <a:defRPr/>
            </a:pPr>
            <a:r>
              <a:rPr lang="en-US" dirty="0">
                <a:ea typeface="+mj-ea"/>
              </a:rPr>
              <a:t>Triage, Investigation, Analysis</a:t>
            </a:r>
          </a:p>
        </p:txBody>
      </p:sp>
      <p:sp>
        <p:nvSpPr>
          <p:cNvPr id="531459" name="Rectangle 3"/>
          <p:cNvSpPr>
            <a:spLocks noGrp="1" noChangeArrowheads="1"/>
          </p:cNvSpPr>
          <p:nvPr>
            <p:ph type="body" idx="1"/>
          </p:nvPr>
        </p:nvSpPr>
        <p:spPr/>
        <p:txBody>
          <a:bodyPr/>
          <a:lstStyle/>
          <a:p>
            <a:pPr eaLnBrk="1" hangingPunct="1">
              <a:defRPr/>
            </a:pPr>
            <a:r>
              <a:rPr lang="en-US" dirty="0">
                <a:ea typeface="+mn-ea"/>
              </a:rPr>
              <a:t>Identification and analysis of information</a:t>
            </a:r>
          </a:p>
          <a:p>
            <a:pPr eaLnBrk="1" hangingPunct="1">
              <a:defRPr/>
            </a:pPr>
            <a:r>
              <a:rPr lang="en-US" dirty="0">
                <a:ea typeface="+mn-ea"/>
              </a:rPr>
              <a:t>Search for root cause</a:t>
            </a:r>
          </a:p>
          <a:p>
            <a:pPr eaLnBrk="1" hangingPunct="1">
              <a:defRPr/>
            </a:pPr>
            <a:r>
              <a:rPr lang="en-US" dirty="0">
                <a:ea typeface="+mn-ea"/>
              </a:rPr>
              <a:t>Assignment of experts</a:t>
            </a:r>
          </a:p>
          <a:p>
            <a:pPr eaLnBrk="1" hangingPunct="1">
              <a:defRPr/>
            </a:pPr>
            <a:r>
              <a:rPr lang="en-US" dirty="0">
                <a:ea typeface="+mn-ea"/>
              </a:rPr>
              <a:t>Analysis</a:t>
            </a:r>
          </a:p>
          <a:p>
            <a:pPr lvl="1" eaLnBrk="1" hangingPunct="1">
              <a:defRPr/>
            </a:pPr>
            <a:r>
              <a:rPr lang="en-US" dirty="0">
                <a:ea typeface="+mn-ea"/>
              </a:rPr>
              <a:t>What happened?</a:t>
            </a:r>
          </a:p>
          <a:p>
            <a:pPr lvl="1" eaLnBrk="1" hangingPunct="1">
              <a:defRPr/>
            </a:pPr>
            <a:r>
              <a:rPr lang="en-US" dirty="0">
                <a:ea typeface="+mn-ea"/>
              </a:rPr>
              <a:t>How did it happen?</a:t>
            </a:r>
          </a:p>
          <a:p>
            <a:pPr lvl="1" eaLnBrk="1" hangingPunct="1">
              <a:defRPr/>
            </a:pPr>
            <a:r>
              <a:rPr lang="en-US" dirty="0">
                <a:ea typeface="+mn-ea"/>
              </a:rPr>
              <a:t>What is the scope?</a:t>
            </a:r>
          </a:p>
          <a:p>
            <a:pPr lvl="1" eaLnBrk="1" hangingPunct="1">
              <a:defRPr/>
            </a:pPr>
            <a:r>
              <a:rPr lang="en-US" dirty="0">
                <a:ea typeface="+mn-ea"/>
              </a:rPr>
              <a:t>How can it be contained?</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8072629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0C47AF22-0F77-4208-8708-1AFE8CB42460}" type="slidenum">
              <a:rPr lang="en-US" altLang="en-US" sz="2000">
                <a:latin typeface="Arial" panose="020B0604020202020204" pitchFamily="34" charset="0"/>
              </a:rPr>
              <a:pPr eaLnBrk="1" hangingPunct="1"/>
              <a:t>27</a:t>
            </a:fld>
            <a:endParaRPr lang="en-US" altLang="en-US" sz="2000">
              <a:latin typeface="Arial" panose="020B0604020202020204" pitchFamily="34" charset="0"/>
            </a:endParaRPr>
          </a:p>
        </p:txBody>
      </p:sp>
      <p:sp>
        <p:nvSpPr>
          <p:cNvPr id="534530" name="Rectangle 2"/>
          <p:cNvSpPr>
            <a:spLocks noGrp="1" noChangeArrowheads="1"/>
          </p:cNvSpPr>
          <p:nvPr>
            <p:ph type="title"/>
          </p:nvPr>
        </p:nvSpPr>
        <p:spPr/>
        <p:txBody>
          <a:bodyPr/>
          <a:lstStyle/>
          <a:p>
            <a:pPr eaLnBrk="1" hangingPunct="1">
              <a:defRPr/>
            </a:pPr>
            <a:r>
              <a:rPr lang="en-US">
                <a:ea typeface="+mj-ea"/>
              </a:rPr>
              <a:t>Containment</a:t>
            </a:r>
          </a:p>
        </p:txBody>
      </p:sp>
      <p:sp>
        <p:nvSpPr>
          <p:cNvPr id="534531" name="Rectangle 3"/>
          <p:cNvSpPr>
            <a:spLocks noGrp="1" noChangeArrowheads="1"/>
          </p:cNvSpPr>
          <p:nvPr>
            <p:ph type="body" idx="1"/>
          </p:nvPr>
        </p:nvSpPr>
        <p:spPr/>
        <p:txBody>
          <a:bodyPr/>
          <a:lstStyle/>
          <a:p>
            <a:pPr eaLnBrk="1" hangingPunct="1"/>
            <a:r>
              <a:rPr lang="en-US" altLang="en-US"/>
              <a:t>Halt the incident</a:t>
            </a:r>
          </a:p>
          <a:p>
            <a:pPr eaLnBrk="1" hangingPunct="1"/>
            <a:r>
              <a:rPr lang="en-US" altLang="en-US"/>
              <a:t>Prevent further spread or damage</a:t>
            </a:r>
          </a:p>
          <a:p>
            <a:pPr eaLnBrk="1" hangingPunct="1"/>
            <a:r>
              <a:rPr lang="en-US" altLang="en-US"/>
              <a:t>Prevent its recurrence</a:t>
            </a:r>
          </a:p>
          <a:p>
            <a:pPr eaLnBrk="1" hangingPunct="1"/>
            <a:r>
              <a:rPr lang="ja-JP" altLang="en-US"/>
              <a:t>“</a:t>
            </a:r>
            <a:r>
              <a:rPr lang="en-US" altLang="ja-JP"/>
              <a:t>Put out the fire</a:t>
            </a:r>
            <a:r>
              <a:rPr lang="ja-JP" altLang="en-US"/>
              <a:t>”</a:t>
            </a:r>
            <a:endParaRPr lang="en-US" altLang="en-US"/>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497498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5D70726A-AFC6-48B2-82B5-95EF88CFED27}" type="slidenum">
              <a:rPr lang="en-US" altLang="en-US" sz="2000">
                <a:latin typeface="Arial" panose="020B0604020202020204" pitchFamily="34" charset="0"/>
              </a:rPr>
              <a:pPr eaLnBrk="1" hangingPunct="1"/>
              <a:t>28</a:t>
            </a:fld>
            <a:endParaRPr lang="en-US" altLang="en-US" sz="2000">
              <a:latin typeface="Arial" panose="020B0604020202020204" pitchFamily="34" charset="0"/>
            </a:endParaRPr>
          </a:p>
        </p:txBody>
      </p:sp>
      <p:sp>
        <p:nvSpPr>
          <p:cNvPr id="535554" name="Rectangle 2"/>
          <p:cNvSpPr>
            <a:spLocks noGrp="1" noChangeArrowheads="1"/>
          </p:cNvSpPr>
          <p:nvPr>
            <p:ph type="title"/>
          </p:nvPr>
        </p:nvSpPr>
        <p:spPr/>
        <p:txBody>
          <a:bodyPr/>
          <a:lstStyle/>
          <a:p>
            <a:pPr eaLnBrk="1" hangingPunct="1">
              <a:defRPr/>
            </a:pPr>
            <a:r>
              <a:rPr lang="en-US">
                <a:ea typeface="+mj-ea"/>
              </a:rPr>
              <a:t>Recovery</a:t>
            </a:r>
          </a:p>
        </p:txBody>
      </p:sp>
      <p:sp>
        <p:nvSpPr>
          <p:cNvPr id="535555" name="Rectangle 3"/>
          <p:cNvSpPr>
            <a:spLocks noGrp="1" noChangeArrowheads="1"/>
          </p:cNvSpPr>
          <p:nvPr>
            <p:ph type="body" idx="1"/>
          </p:nvPr>
        </p:nvSpPr>
        <p:spPr/>
        <p:txBody>
          <a:bodyPr/>
          <a:lstStyle/>
          <a:p>
            <a:pPr eaLnBrk="1" hangingPunct="1">
              <a:defRPr/>
            </a:pPr>
            <a:r>
              <a:rPr lang="en-US" dirty="0">
                <a:ea typeface="+mn-ea"/>
              </a:rPr>
              <a:t>Restoration to pre-incident condition</a:t>
            </a:r>
          </a:p>
          <a:p>
            <a:pPr lvl="1" eaLnBrk="1" hangingPunct="1">
              <a:defRPr/>
            </a:pPr>
            <a:r>
              <a:rPr lang="en-US" dirty="0">
                <a:ea typeface="+mn-ea"/>
              </a:rPr>
              <a:t>Repair / replace hardware</a:t>
            </a:r>
          </a:p>
          <a:p>
            <a:pPr lvl="1" eaLnBrk="1" hangingPunct="1">
              <a:defRPr/>
            </a:pPr>
            <a:r>
              <a:rPr lang="en-US" dirty="0">
                <a:ea typeface="+mn-ea"/>
              </a:rPr>
              <a:t>Reinstall OS or application software</a:t>
            </a:r>
          </a:p>
          <a:p>
            <a:pPr lvl="1" eaLnBrk="1" hangingPunct="1">
              <a:defRPr/>
            </a:pPr>
            <a:r>
              <a:rPr lang="en-US" dirty="0">
                <a:ea typeface="+mn-ea"/>
              </a:rPr>
              <a:t>Remove unwanted programs and data</a:t>
            </a:r>
          </a:p>
          <a:p>
            <a:pPr lvl="1" eaLnBrk="1" hangingPunct="1">
              <a:defRPr/>
            </a:pPr>
            <a:r>
              <a:rPr lang="en-US" dirty="0">
                <a:ea typeface="+mn-ea"/>
              </a:rPr>
              <a:t>Restore damaged / missing data</a:t>
            </a:r>
          </a:p>
          <a:p>
            <a:pPr lvl="1" eaLnBrk="1" hangingPunct="1">
              <a:defRPr/>
            </a:pPr>
            <a:r>
              <a:rPr lang="en-US" dirty="0">
                <a:ea typeface="+mn-ea"/>
              </a:rPr>
              <a:t>Include measures to prevent recurrence</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551511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3921DBA6-48DD-4790-9F0D-DA61163472FE}" type="slidenum">
              <a:rPr lang="en-US" altLang="en-US" sz="2000">
                <a:latin typeface="Arial" panose="020B0604020202020204" pitchFamily="34" charset="0"/>
              </a:rPr>
              <a:pPr eaLnBrk="1" hangingPunct="1"/>
              <a:t>29</a:t>
            </a:fld>
            <a:endParaRPr lang="en-US" altLang="en-US" sz="2000">
              <a:latin typeface="Arial" panose="020B0604020202020204" pitchFamily="34" charset="0"/>
            </a:endParaRPr>
          </a:p>
        </p:txBody>
      </p:sp>
      <p:sp>
        <p:nvSpPr>
          <p:cNvPr id="536578" name="Rectangle 2"/>
          <p:cNvSpPr>
            <a:spLocks noGrp="1" noChangeArrowheads="1"/>
          </p:cNvSpPr>
          <p:nvPr>
            <p:ph type="title"/>
          </p:nvPr>
        </p:nvSpPr>
        <p:spPr/>
        <p:txBody>
          <a:bodyPr/>
          <a:lstStyle/>
          <a:p>
            <a:pPr eaLnBrk="1" hangingPunct="1">
              <a:defRPr/>
            </a:pPr>
            <a:r>
              <a:rPr lang="en-US">
                <a:ea typeface="+mj-ea"/>
              </a:rPr>
              <a:t>Debriefing</a:t>
            </a:r>
          </a:p>
        </p:txBody>
      </p:sp>
      <p:sp>
        <p:nvSpPr>
          <p:cNvPr id="536579" name="Rectangle 3"/>
          <p:cNvSpPr>
            <a:spLocks noGrp="1" noChangeArrowheads="1"/>
          </p:cNvSpPr>
          <p:nvPr>
            <p:ph type="body" idx="1"/>
          </p:nvPr>
        </p:nvSpPr>
        <p:spPr/>
        <p:txBody>
          <a:bodyPr/>
          <a:lstStyle/>
          <a:p>
            <a:pPr eaLnBrk="1" hangingPunct="1">
              <a:defRPr/>
            </a:pPr>
            <a:r>
              <a:rPr lang="en-US">
                <a:ea typeface="+mn-ea"/>
              </a:rPr>
              <a:t>Reflect on what happened and on its response</a:t>
            </a:r>
          </a:p>
          <a:p>
            <a:pPr eaLnBrk="1" hangingPunct="1">
              <a:defRPr/>
            </a:pPr>
            <a:r>
              <a:rPr lang="en-US">
                <a:ea typeface="+mn-ea"/>
              </a:rPr>
              <a:t>Propose improvements</a:t>
            </a:r>
          </a:p>
          <a:p>
            <a:pPr lvl="1" eaLnBrk="1" hangingPunct="1">
              <a:defRPr/>
            </a:pPr>
            <a:r>
              <a:rPr lang="en-US">
                <a:ea typeface="+mn-ea"/>
              </a:rPr>
              <a:t>Technical architecture</a:t>
            </a:r>
          </a:p>
          <a:p>
            <a:pPr lvl="1" eaLnBrk="1" hangingPunct="1">
              <a:defRPr/>
            </a:pPr>
            <a:r>
              <a:rPr lang="en-US">
                <a:ea typeface="+mn-ea"/>
              </a:rPr>
              <a:t>Technical controls</a:t>
            </a:r>
          </a:p>
          <a:p>
            <a:pPr lvl="1" eaLnBrk="1" hangingPunct="1">
              <a:defRPr/>
            </a:pPr>
            <a:r>
              <a:rPr lang="en-US">
                <a:ea typeface="+mn-ea"/>
              </a:rPr>
              <a:t>Processes and procedures</a:t>
            </a:r>
          </a:p>
          <a:p>
            <a:pPr lvl="1" eaLnBrk="1" hangingPunct="1">
              <a:defRPr/>
            </a:pPr>
            <a:r>
              <a:rPr lang="en-US">
                <a:ea typeface="+mn-ea"/>
              </a:rPr>
              <a:t>Security incident response</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231367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Assumption of Breach</a:t>
            </a:r>
          </a:p>
        </p:txBody>
      </p:sp>
      <p:sp>
        <p:nvSpPr>
          <p:cNvPr id="3" name="Content Placeholder 2"/>
          <p:cNvSpPr>
            <a:spLocks noGrp="1"/>
          </p:cNvSpPr>
          <p:nvPr>
            <p:ph idx="1"/>
          </p:nvPr>
        </p:nvSpPr>
        <p:spPr/>
        <p:txBody>
          <a:bodyPr/>
          <a:lstStyle/>
          <a:p>
            <a:pPr eaLnBrk="1" hangingPunct="1">
              <a:defRPr/>
            </a:pPr>
            <a:r>
              <a:rPr lang="en-US" dirty="0">
                <a:ea typeface="+mn-ea"/>
              </a:rPr>
              <a:t>Old way of thinking: breach prevention, and no news is good news</a:t>
            </a:r>
          </a:p>
          <a:p>
            <a:pPr eaLnBrk="1" hangingPunct="1">
              <a:defRPr/>
            </a:pPr>
            <a:r>
              <a:rPr lang="en-US" dirty="0">
                <a:ea typeface="+mn-ea"/>
              </a:rPr>
              <a:t>New mindset: one or more breaches may have already occurred, whether discovered or not</a:t>
            </a:r>
          </a:p>
          <a:p>
            <a:pPr eaLnBrk="1" hangingPunct="1">
              <a:defRPr/>
            </a:pPr>
            <a:r>
              <a:rPr lang="en-US" dirty="0">
                <a:ea typeface="+mn-ea"/>
              </a:rPr>
              <a:t>Blended investment in breach prevention and breach response</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8B28C21D-8CFA-43FA-870A-2E496AEB3FC9}" type="slidenum">
              <a:rPr lang="en-US" altLang="en-US" sz="2000">
                <a:latin typeface="Arial" panose="020B0604020202020204" pitchFamily="34" charset="0"/>
              </a:rPr>
              <a:pPr eaLnBrk="1" hangingPunct="1"/>
              <a:t>30</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753807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CEF3FFFC-DE60-4532-B92F-08DF76DA2028}" type="slidenum">
              <a:rPr lang="en-US" altLang="en-US" sz="2000">
                <a:latin typeface="Arial" panose="020B0604020202020204" pitchFamily="34" charset="0"/>
              </a:rPr>
              <a:pPr eaLnBrk="1" hangingPunct="1"/>
              <a:t>31</a:t>
            </a:fld>
            <a:endParaRPr lang="en-US" altLang="en-US" sz="2000">
              <a:latin typeface="Arial" panose="020B0604020202020204" pitchFamily="34" charset="0"/>
            </a:endParaRPr>
          </a:p>
        </p:txBody>
      </p:sp>
      <p:sp>
        <p:nvSpPr>
          <p:cNvPr id="537602" name="Rectangle 2"/>
          <p:cNvSpPr>
            <a:spLocks noGrp="1" noChangeArrowheads="1"/>
          </p:cNvSpPr>
          <p:nvPr>
            <p:ph type="title"/>
          </p:nvPr>
        </p:nvSpPr>
        <p:spPr/>
        <p:txBody>
          <a:bodyPr/>
          <a:lstStyle/>
          <a:p>
            <a:pPr eaLnBrk="1" hangingPunct="1">
              <a:defRPr/>
            </a:pPr>
            <a:r>
              <a:rPr lang="en-US" dirty="0">
                <a:ea typeface="+mj-ea"/>
              </a:rPr>
              <a:t>Incident Management Preventive Measures</a:t>
            </a:r>
          </a:p>
        </p:txBody>
      </p:sp>
      <p:sp>
        <p:nvSpPr>
          <p:cNvPr id="537603" name="Rectangle 3"/>
          <p:cNvSpPr>
            <a:spLocks noGrp="1" noChangeArrowheads="1"/>
          </p:cNvSpPr>
          <p:nvPr>
            <p:ph type="body" idx="1"/>
          </p:nvPr>
        </p:nvSpPr>
        <p:spPr/>
        <p:txBody>
          <a:bodyPr/>
          <a:lstStyle/>
          <a:p>
            <a:pPr eaLnBrk="1" hangingPunct="1">
              <a:defRPr/>
            </a:pPr>
            <a:r>
              <a:rPr lang="en-US" dirty="0">
                <a:ea typeface="+mn-ea"/>
              </a:rPr>
              <a:t>Creation of a vulnerability and threat awareness capability</a:t>
            </a:r>
          </a:p>
          <a:p>
            <a:pPr lvl="1" eaLnBrk="1" hangingPunct="1">
              <a:defRPr/>
            </a:pPr>
            <a:r>
              <a:rPr lang="en-US" dirty="0">
                <a:ea typeface="+mn-ea"/>
              </a:rPr>
              <a:t>Security alerts from U.S. Cert, Secunia, SANS, etc.</a:t>
            </a:r>
          </a:p>
          <a:p>
            <a:pPr lvl="1" eaLnBrk="1" hangingPunct="1">
              <a:defRPr/>
            </a:pPr>
            <a:r>
              <a:rPr lang="en-US" dirty="0">
                <a:ea typeface="+mn-ea"/>
              </a:rPr>
              <a:t>Organization internal events such as terminations</a:t>
            </a:r>
          </a:p>
          <a:p>
            <a:pPr lvl="1" eaLnBrk="1" hangingPunct="1">
              <a:defRPr/>
            </a:pPr>
            <a:r>
              <a:rPr lang="en-US" dirty="0">
                <a:ea typeface="+mn-ea"/>
              </a:rPr>
              <a:t>Events detected by firewalls, intrusion prevention systems, data leakage prevention systems, </a:t>
            </a:r>
            <a:r>
              <a:rPr lang="en-US" dirty="0" err="1">
                <a:ea typeface="+mn-ea"/>
              </a:rPr>
              <a:t>netflow</a:t>
            </a:r>
            <a:endParaRPr lang="en-US" dirty="0">
              <a:ea typeface="+mn-ea"/>
            </a:endParaRPr>
          </a:p>
          <a:p>
            <a:pPr eaLnBrk="1" hangingPunct="1">
              <a:defRPr/>
            </a:pPr>
            <a:r>
              <a:rPr lang="en-US" dirty="0">
                <a:ea typeface="+mn-ea"/>
              </a:rPr>
              <a:t>Implementation of a defense in depth strategy to protect assets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197644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41C79427-2F2C-483C-BF8A-6564745E40B1}" type="slidenum">
              <a:rPr lang="en-US" altLang="en-US" sz="2000">
                <a:latin typeface="Arial" panose="020B0604020202020204" pitchFamily="34" charset="0"/>
              </a:rPr>
              <a:pPr eaLnBrk="1" hangingPunct="1"/>
              <a:t>32</a:t>
            </a:fld>
            <a:endParaRPr lang="en-US" altLang="en-US" sz="2000">
              <a:latin typeface="Arial" panose="020B0604020202020204" pitchFamily="34" charset="0"/>
            </a:endParaRPr>
          </a:p>
        </p:txBody>
      </p:sp>
      <p:sp>
        <p:nvSpPr>
          <p:cNvPr id="538626" name="Rectangle 2"/>
          <p:cNvSpPr>
            <a:spLocks noGrp="1" noChangeArrowheads="1"/>
          </p:cNvSpPr>
          <p:nvPr>
            <p:ph type="title"/>
          </p:nvPr>
        </p:nvSpPr>
        <p:spPr/>
        <p:txBody>
          <a:bodyPr/>
          <a:lstStyle/>
          <a:p>
            <a:pPr eaLnBrk="1" hangingPunct="1">
              <a:defRPr/>
            </a:pPr>
            <a:r>
              <a:rPr lang="en-US" dirty="0">
                <a:ea typeface="+mj-ea"/>
              </a:rPr>
              <a:t>Incident Response Training, Testing, and Maintenance</a:t>
            </a:r>
          </a:p>
        </p:txBody>
      </p:sp>
      <p:sp>
        <p:nvSpPr>
          <p:cNvPr id="538627" name="Rectangle 3"/>
          <p:cNvSpPr>
            <a:spLocks noGrp="1" noChangeArrowheads="1"/>
          </p:cNvSpPr>
          <p:nvPr>
            <p:ph type="body" idx="1"/>
          </p:nvPr>
        </p:nvSpPr>
        <p:spPr/>
        <p:txBody>
          <a:bodyPr/>
          <a:lstStyle/>
          <a:p>
            <a:pPr eaLnBrk="1" hangingPunct="1">
              <a:defRPr/>
            </a:pPr>
            <a:r>
              <a:rPr lang="en-US" dirty="0">
                <a:ea typeface="+mn-ea"/>
              </a:rPr>
              <a:t>Four types of tests</a:t>
            </a:r>
          </a:p>
          <a:p>
            <a:pPr lvl="1" eaLnBrk="1" hangingPunct="1">
              <a:defRPr/>
            </a:pPr>
            <a:r>
              <a:rPr lang="en-US" dirty="0">
                <a:ea typeface="+mn-ea"/>
              </a:rPr>
              <a:t>Procedure review</a:t>
            </a:r>
          </a:p>
          <a:p>
            <a:pPr lvl="1" eaLnBrk="1" hangingPunct="1">
              <a:defRPr/>
            </a:pPr>
            <a:r>
              <a:rPr lang="en-US" dirty="0">
                <a:ea typeface="+mn-ea"/>
              </a:rPr>
              <a:t>Formal training</a:t>
            </a:r>
          </a:p>
          <a:p>
            <a:pPr lvl="1" eaLnBrk="1" hangingPunct="1">
              <a:defRPr/>
            </a:pPr>
            <a:r>
              <a:rPr lang="en-US" dirty="0">
                <a:ea typeface="+mn-ea"/>
              </a:rPr>
              <a:t>Incident walkthrough</a:t>
            </a:r>
          </a:p>
          <a:p>
            <a:pPr lvl="1" eaLnBrk="1" hangingPunct="1">
              <a:defRPr/>
            </a:pPr>
            <a:r>
              <a:rPr lang="en-US" dirty="0">
                <a:ea typeface="+mn-ea"/>
              </a:rPr>
              <a:t>Incident simulation</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636620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29C6A030-7B61-4CAE-B733-6987C3A769F4}" type="slidenum">
              <a:rPr lang="en-US" altLang="en-US" sz="2000">
                <a:latin typeface="Arial" panose="020B0604020202020204" pitchFamily="34" charset="0"/>
              </a:rPr>
              <a:pPr eaLnBrk="1" hangingPunct="1"/>
              <a:t>33</a:t>
            </a:fld>
            <a:endParaRPr lang="en-US" altLang="en-US" sz="2000">
              <a:latin typeface="Arial" panose="020B0604020202020204" pitchFamily="34" charset="0"/>
            </a:endParaRPr>
          </a:p>
        </p:txBody>
      </p:sp>
      <p:sp>
        <p:nvSpPr>
          <p:cNvPr id="539650" name="Rectangle 2"/>
          <p:cNvSpPr>
            <a:spLocks noGrp="1" noChangeArrowheads="1"/>
          </p:cNvSpPr>
          <p:nvPr>
            <p:ph type="title"/>
          </p:nvPr>
        </p:nvSpPr>
        <p:spPr/>
        <p:txBody>
          <a:bodyPr/>
          <a:lstStyle/>
          <a:p>
            <a:pPr eaLnBrk="1" hangingPunct="1">
              <a:defRPr/>
            </a:pPr>
            <a:r>
              <a:rPr lang="en-US" dirty="0">
                <a:ea typeface="+mj-ea"/>
              </a:rPr>
              <a:t>Incident Response Models</a:t>
            </a:r>
          </a:p>
        </p:txBody>
      </p:sp>
      <p:sp>
        <p:nvSpPr>
          <p:cNvPr id="539651" name="Rectangle 3"/>
          <p:cNvSpPr>
            <a:spLocks noGrp="1" noChangeArrowheads="1"/>
          </p:cNvSpPr>
          <p:nvPr>
            <p:ph type="body" idx="1"/>
          </p:nvPr>
        </p:nvSpPr>
        <p:spPr/>
        <p:txBody>
          <a:bodyPr/>
          <a:lstStyle/>
          <a:p>
            <a:pPr eaLnBrk="1" hangingPunct="1">
              <a:defRPr/>
            </a:pPr>
            <a:r>
              <a:rPr lang="en-US">
                <a:ea typeface="+mn-ea"/>
              </a:rPr>
              <a:t>CERT Coordination Center (CERT/CC).  Formed in 1988 after the Morris Worm Incident. www.cert.org/csirts/.</a:t>
            </a:r>
          </a:p>
          <a:p>
            <a:pPr eaLnBrk="1" hangingPunct="1">
              <a:defRPr/>
            </a:pPr>
            <a:r>
              <a:rPr lang="en-US">
                <a:ea typeface="+mn-ea"/>
              </a:rPr>
              <a:t>Forum of Incident Response and Security Teams (FIRST). www.first.org.</a:t>
            </a:r>
          </a:p>
          <a:p>
            <a:pPr eaLnBrk="1" hangingPunct="1">
              <a:defRPr/>
            </a:pPr>
            <a:r>
              <a:rPr lang="en-US">
                <a:ea typeface="+mn-ea"/>
              </a:rPr>
              <a:t>National Institute of Standards and Technology (NIST) special publication 800-61, Computer Security Incident Handling Guide. www.nist.gov.</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238433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rPr>
              <a:t>Types of Investigations</a:t>
            </a:r>
          </a:p>
        </p:txBody>
      </p:sp>
      <p:sp>
        <p:nvSpPr>
          <p:cNvPr id="3" name="Content Placeholder 2"/>
          <p:cNvSpPr>
            <a:spLocks noGrp="1"/>
          </p:cNvSpPr>
          <p:nvPr>
            <p:ph idx="1"/>
          </p:nvPr>
        </p:nvSpPr>
        <p:spPr/>
        <p:txBody>
          <a:bodyPr/>
          <a:lstStyle/>
          <a:p>
            <a:pPr eaLnBrk="1" hangingPunct="1">
              <a:defRPr/>
            </a:pPr>
            <a:r>
              <a:rPr lang="en-US" dirty="0">
                <a:ea typeface="+mn-ea"/>
              </a:rPr>
              <a:t>Employee misconduct</a:t>
            </a:r>
          </a:p>
          <a:p>
            <a:pPr eaLnBrk="1" hangingPunct="1">
              <a:defRPr/>
            </a:pPr>
            <a:r>
              <a:rPr lang="en-US" dirty="0">
                <a:ea typeface="+mn-ea"/>
              </a:rPr>
              <a:t>Malware</a:t>
            </a:r>
          </a:p>
          <a:p>
            <a:pPr eaLnBrk="1" hangingPunct="1">
              <a:defRPr/>
            </a:pPr>
            <a:r>
              <a:rPr lang="en-US" dirty="0">
                <a:ea typeface="+mn-ea"/>
              </a:rPr>
              <a:t>Stolen asset</a:t>
            </a:r>
          </a:p>
          <a:p>
            <a:pPr eaLnBrk="1" hangingPunct="1">
              <a:defRPr/>
            </a:pPr>
            <a:r>
              <a:rPr lang="en-US" dirty="0">
                <a:ea typeface="+mn-ea"/>
              </a:rPr>
              <a:t>Violation of acceptable use policy</a:t>
            </a:r>
          </a:p>
        </p:txBody>
      </p:sp>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D92DDD0C-3CCC-432A-BA9F-404F92A0E81B}" type="slidenum">
              <a:rPr lang="en-US" altLang="en-US" sz="2000">
                <a:latin typeface="Arial" panose="020B0604020202020204" pitchFamily="34" charset="0"/>
              </a:rPr>
              <a:pPr eaLnBrk="1" hangingPunct="1"/>
              <a:t>34</a:t>
            </a:fld>
            <a:endParaRPr lang="en-US" altLang="en-US" sz="2000">
              <a:latin typeface="Arial" panose="020B0604020202020204" pitchFamily="34" charset="0"/>
            </a:endParaRP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689878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CA69F4D5-00A9-4BF1-A0A1-D76557863B90}" type="slidenum">
              <a:rPr lang="en-US" altLang="en-US" sz="2000">
                <a:latin typeface="Arial" panose="020B0604020202020204" pitchFamily="34" charset="0"/>
              </a:rPr>
              <a:pPr eaLnBrk="1" hangingPunct="1"/>
              <a:t>35</a:t>
            </a:fld>
            <a:endParaRPr lang="en-US" altLang="en-US" sz="2000">
              <a:latin typeface="Arial" panose="020B0604020202020204" pitchFamily="34" charset="0"/>
            </a:endParaRPr>
          </a:p>
        </p:txBody>
      </p:sp>
      <p:sp>
        <p:nvSpPr>
          <p:cNvPr id="541698" name="Rectangle 2"/>
          <p:cNvSpPr>
            <a:spLocks noGrp="1" noChangeArrowheads="1"/>
          </p:cNvSpPr>
          <p:nvPr>
            <p:ph type="title"/>
          </p:nvPr>
        </p:nvSpPr>
        <p:spPr/>
        <p:txBody>
          <a:bodyPr/>
          <a:lstStyle/>
          <a:p>
            <a:pPr eaLnBrk="1" hangingPunct="1">
              <a:defRPr/>
            </a:pPr>
            <a:r>
              <a:rPr lang="en-US" dirty="0">
                <a:ea typeface="+mj-ea"/>
              </a:rPr>
              <a:t>Involving Law Enforcement</a:t>
            </a:r>
          </a:p>
        </p:txBody>
      </p:sp>
      <p:sp>
        <p:nvSpPr>
          <p:cNvPr id="541699" name="Rectangle 3"/>
          <p:cNvSpPr>
            <a:spLocks noGrp="1" noChangeArrowheads="1"/>
          </p:cNvSpPr>
          <p:nvPr>
            <p:ph type="body" idx="1"/>
          </p:nvPr>
        </p:nvSpPr>
        <p:spPr/>
        <p:txBody>
          <a:bodyPr/>
          <a:lstStyle/>
          <a:p>
            <a:pPr eaLnBrk="1" hangingPunct="1">
              <a:defRPr/>
            </a:pPr>
            <a:r>
              <a:rPr lang="en-US" dirty="0">
                <a:ea typeface="+mn-ea"/>
              </a:rPr>
              <a:t>Many companies reluctant</a:t>
            </a:r>
          </a:p>
          <a:p>
            <a:pPr eaLnBrk="1" hangingPunct="1">
              <a:defRPr/>
            </a:pPr>
            <a:r>
              <a:rPr lang="en-US" dirty="0">
                <a:ea typeface="+mn-ea"/>
              </a:rPr>
              <a:t>Pros</a:t>
            </a:r>
          </a:p>
          <a:p>
            <a:pPr lvl="1" eaLnBrk="1" hangingPunct="1">
              <a:defRPr/>
            </a:pPr>
            <a:r>
              <a:rPr lang="en-US" dirty="0">
                <a:ea typeface="+mn-ea"/>
              </a:rPr>
              <a:t>Punishment for the guilty</a:t>
            </a:r>
          </a:p>
          <a:p>
            <a:pPr lvl="1" eaLnBrk="1" hangingPunct="1">
              <a:defRPr/>
            </a:pPr>
            <a:r>
              <a:rPr lang="en-US" dirty="0">
                <a:ea typeface="+mn-ea"/>
              </a:rPr>
              <a:t>Restitution</a:t>
            </a:r>
          </a:p>
          <a:p>
            <a:pPr eaLnBrk="1" hangingPunct="1">
              <a:defRPr/>
            </a:pPr>
            <a:r>
              <a:rPr lang="en-US" dirty="0">
                <a:ea typeface="+mn-ea"/>
              </a:rPr>
              <a:t>Cons</a:t>
            </a:r>
          </a:p>
          <a:p>
            <a:pPr lvl="1" eaLnBrk="1" hangingPunct="1">
              <a:defRPr/>
            </a:pPr>
            <a:r>
              <a:rPr lang="en-US" dirty="0">
                <a:ea typeface="+mn-ea"/>
              </a:rPr>
              <a:t>Negative publicity</a:t>
            </a:r>
          </a:p>
          <a:p>
            <a:pPr lvl="1" eaLnBrk="1" hangingPunct="1">
              <a:defRPr/>
            </a:pPr>
            <a:r>
              <a:rPr lang="en-US" dirty="0">
                <a:ea typeface="+mn-ea"/>
              </a:rPr>
              <a:t>Details of the business a part of the public record</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801020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70B92BE0-9B68-4A21-A259-9870918A6C0F}" type="slidenum">
              <a:rPr lang="en-US" altLang="en-US" sz="2000">
                <a:latin typeface="Arial" panose="020B0604020202020204" pitchFamily="34" charset="0"/>
              </a:rPr>
              <a:pPr eaLnBrk="1" hangingPunct="1"/>
              <a:t>36</a:t>
            </a:fld>
            <a:endParaRPr lang="en-US" altLang="en-US" sz="2000">
              <a:latin typeface="Arial" panose="020B0604020202020204" pitchFamily="34" charset="0"/>
            </a:endParaRPr>
          </a:p>
        </p:txBody>
      </p:sp>
      <p:sp>
        <p:nvSpPr>
          <p:cNvPr id="542722" name="Rectangle 2"/>
          <p:cNvSpPr>
            <a:spLocks noGrp="1" noChangeArrowheads="1"/>
          </p:cNvSpPr>
          <p:nvPr>
            <p:ph type="title"/>
          </p:nvPr>
        </p:nvSpPr>
        <p:spPr/>
        <p:txBody>
          <a:bodyPr/>
          <a:lstStyle/>
          <a:p>
            <a:pPr eaLnBrk="1" hangingPunct="1">
              <a:defRPr/>
            </a:pPr>
            <a:r>
              <a:rPr lang="en-US" dirty="0">
                <a:ea typeface="+mj-ea"/>
              </a:rPr>
              <a:t>Forensic Techniques and Procedures</a:t>
            </a:r>
          </a:p>
        </p:txBody>
      </p:sp>
      <p:sp>
        <p:nvSpPr>
          <p:cNvPr id="542723" name="Rectangle 3"/>
          <p:cNvSpPr>
            <a:spLocks noGrp="1" noChangeArrowheads="1"/>
          </p:cNvSpPr>
          <p:nvPr>
            <p:ph type="body" idx="1"/>
          </p:nvPr>
        </p:nvSpPr>
        <p:spPr/>
        <p:txBody>
          <a:bodyPr/>
          <a:lstStyle/>
          <a:p>
            <a:pPr eaLnBrk="1" hangingPunct="1">
              <a:defRPr/>
            </a:pPr>
            <a:r>
              <a:rPr lang="en-US" dirty="0">
                <a:ea typeface="+mn-ea"/>
              </a:rPr>
              <a:t>Primary activities </a:t>
            </a:r>
          </a:p>
          <a:p>
            <a:pPr lvl="1" eaLnBrk="1" hangingPunct="1">
              <a:defRPr/>
            </a:pPr>
            <a:r>
              <a:rPr lang="en-US" dirty="0">
                <a:ea typeface="+mn-ea"/>
              </a:rPr>
              <a:t>Identify and gather evidence</a:t>
            </a:r>
          </a:p>
          <a:p>
            <a:pPr lvl="1" eaLnBrk="1" hangingPunct="1">
              <a:defRPr/>
            </a:pPr>
            <a:r>
              <a:rPr lang="en-US" dirty="0">
                <a:ea typeface="+mn-ea"/>
              </a:rPr>
              <a:t>Preserve evidence</a:t>
            </a:r>
          </a:p>
          <a:p>
            <a:pPr lvl="1" eaLnBrk="1" hangingPunct="1">
              <a:defRPr/>
            </a:pPr>
            <a:r>
              <a:rPr lang="en-US" dirty="0">
                <a:ea typeface="+mn-ea"/>
              </a:rPr>
              <a:t>Establish a chain of custody</a:t>
            </a:r>
          </a:p>
          <a:p>
            <a:pPr lvl="1" eaLnBrk="1" hangingPunct="1">
              <a:defRPr/>
            </a:pPr>
            <a:r>
              <a:rPr lang="en-US" dirty="0">
                <a:ea typeface="+mn-ea"/>
              </a:rPr>
              <a:t>Present findings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544733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BFCCD311-6699-4C51-8AB5-CA313D985DAA}" type="slidenum">
              <a:rPr lang="en-US" altLang="en-US" sz="2000">
                <a:latin typeface="Arial" panose="020B0604020202020204" pitchFamily="34" charset="0"/>
              </a:rPr>
              <a:pPr eaLnBrk="1" hangingPunct="1"/>
              <a:t>37</a:t>
            </a:fld>
            <a:endParaRPr lang="en-US" altLang="en-US" sz="2000">
              <a:latin typeface="Arial" panose="020B0604020202020204" pitchFamily="34" charset="0"/>
            </a:endParaRPr>
          </a:p>
        </p:txBody>
      </p:sp>
      <p:sp>
        <p:nvSpPr>
          <p:cNvPr id="543746" name="Rectangle 2"/>
          <p:cNvSpPr>
            <a:spLocks noGrp="1" noChangeArrowheads="1"/>
          </p:cNvSpPr>
          <p:nvPr>
            <p:ph type="title"/>
          </p:nvPr>
        </p:nvSpPr>
        <p:spPr/>
        <p:txBody>
          <a:bodyPr/>
          <a:lstStyle/>
          <a:p>
            <a:pPr>
              <a:defRPr/>
            </a:pPr>
            <a:r>
              <a:rPr lang="en-US" dirty="0">
                <a:ea typeface="+mj-ea"/>
              </a:rPr>
              <a:t>Forensics </a:t>
            </a:r>
            <a:r>
              <a:rPr lang="en-US" dirty="0"/>
              <a:t>Techniques and Procedures (</a:t>
            </a:r>
            <a:r>
              <a:rPr lang="en-US" dirty="0">
                <a:ea typeface="+mj-ea"/>
              </a:rPr>
              <a:t>cont.)</a:t>
            </a:r>
          </a:p>
        </p:txBody>
      </p:sp>
      <p:sp>
        <p:nvSpPr>
          <p:cNvPr id="543747" name="Rectangle 3"/>
          <p:cNvSpPr>
            <a:spLocks noGrp="1" noChangeArrowheads="1"/>
          </p:cNvSpPr>
          <p:nvPr>
            <p:ph type="body" idx="1"/>
          </p:nvPr>
        </p:nvSpPr>
        <p:spPr/>
        <p:txBody>
          <a:bodyPr/>
          <a:lstStyle/>
          <a:p>
            <a:pPr eaLnBrk="1" hangingPunct="1">
              <a:defRPr/>
            </a:pPr>
            <a:r>
              <a:rPr lang="en-US" dirty="0">
                <a:ea typeface="+mn-ea"/>
              </a:rPr>
              <a:t>NIST Documents</a:t>
            </a:r>
          </a:p>
          <a:p>
            <a:pPr lvl="1" eaLnBrk="1" hangingPunct="1">
              <a:defRPr/>
            </a:pPr>
            <a:r>
              <a:rPr lang="en-US" dirty="0">
                <a:ea typeface="+mn-ea"/>
              </a:rPr>
              <a:t>Special Publication 800-72, Guidelines on PDA Forensics</a:t>
            </a:r>
          </a:p>
          <a:p>
            <a:pPr lvl="1" eaLnBrk="1" hangingPunct="1">
              <a:defRPr/>
            </a:pPr>
            <a:r>
              <a:rPr lang="en-US" dirty="0">
                <a:ea typeface="+mn-ea"/>
              </a:rPr>
              <a:t>Special Publication 800-86, Guide to Integrating Forensic Techniques into Incident Response</a:t>
            </a:r>
          </a:p>
          <a:p>
            <a:pPr lvl="1" eaLnBrk="1" hangingPunct="1">
              <a:defRPr/>
            </a:pPr>
            <a:r>
              <a:rPr lang="en-US" dirty="0">
                <a:ea typeface="+mn-ea"/>
              </a:rPr>
              <a:t>Special Publication 800-101, Guidelines on Cell Phone Forensics</a:t>
            </a:r>
          </a:p>
          <a:p>
            <a:pPr lvl="1" eaLnBrk="1" hangingPunct="1">
              <a:defRPr/>
            </a:pPr>
            <a:r>
              <a:rPr lang="en-US" dirty="0">
                <a:ea typeface="+mn-ea"/>
              </a:rPr>
              <a:t>Bulletin 11-01, Computer Forensics Guidance</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6150147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CA4FC7BD-4CCE-4ED8-A2EF-F02D52C76718}" type="slidenum">
              <a:rPr lang="en-US" altLang="en-US" sz="2000">
                <a:latin typeface="Arial" panose="020B0604020202020204" pitchFamily="34" charset="0"/>
              </a:rPr>
              <a:pPr eaLnBrk="1" hangingPunct="1"/>
              <a:t>38</a:t>
            </a:fld>
            <a:endParaRPr lang="en-US" altLang="en-US" sz="2000">
              <a:latin typeface="Arial" panose="020B0604020202020204" pitchFamily="34" charset="0"/>
            </a:endParaRPr>
          </a:p>
        </p:txBody>
      </p:sp>
      <p:sp>
        <p:nvSpPr>
          <p:cNvPr id="544770" name="Rectangle 2"/>
          <p:cNvSpPr>
            <a:spLocks noGrp="1" noChangeArrowheads="1"/>
          </p:cNvSpPr>
          <p:nvPr>
            <p:ph type="title"/>
          </p:nvPr>
        </p:nvSpPr>
        <p:spPr/>
        <p:txBody>
          <a:bodyPr/>
          <a:lstStyle/>
          <a:p>
            <a:pPr eaLnBrk="1" hangingPunct="1">
              <a:defRPr/>
            </a:pPr>
            <a:r>
              <a:rPr lang="en-US" dirty="0">
                <a:ea typeface="+mj-ea"/>
              </a:rPr>
              <a:t>Identifying and Gathering Evidence</a:t>
            </a:r>
          </a:p>
        </p:txBody>
      </p:sp>
      <p:sp>
        <p:nvSpPr>
          <p:cNvPr id="544771" name="Rectangle 3"/>
          <p:cNvSpPr>
            <a:spLocks noGrp="1" noChangeArrowheads="1"/>
          </p:cNvSpPr>
          <p:nvPr>
            <p:ph type="body" idx="1"/>
          </p:nvPr>
        </p:nvSpPr>
        <p:spPr/>
        <p:txBody>
          <a:bodyPr/>
          <a:lstStyle/>
          <a:p>
            <a:pPr eaLnBrk="1" hangingPunct="1">
              <a:defRPr/>
            </a:pPr>
            <a:r>
              <a:rPr lang="en-US" dirty="0">
                <a:ea typeface="+mn-ea"/>
              </a:rPr>
              <a:t>Size of storage a big challenge (lots of data to examine)</a:t>
            </a:r>
          </a:p>
          <a:p>
            <a:pPr eaLnBrk="1" hangingPunct="1">
              <a:defRPr/>
            </a:pPr>
            <a:r>
              <a:rPr lang="en-US" dirty="0">
                <a:ea typeface="+mn-ea"/>
              </a:rPr>
              <a:t>Starting points in an investigation</a:t>
            </a:r>
          </a:p>
          <a:p>
            <a:pPr lvl="1" eaLnBrk="1" hangingPunct="1">
              <a:defRPr/>
            </a:pPr>
            <a:r>
              <a:rPr lang="en-US" dirty="0">
                <a:ea typeface="+mn-ea"/>
              </a:rPr>
              <a:t>E-mail</a:t>
            </a:r>
          </a:p>
          <a:p>
            <a:pPr lvl="1" eaLnBrk="1" hangingPunct="1">
              <a:defRPr/>
            </a:pPr>
            <a:r>
              <a:rPr lang="en-US" dirty="0">
                <a:ea typeface="+mn-ea"/>
              </a:rPr>
              <a:t>Web access</a:t>
            </a:r>
          </a:p>
          <a:p>
            <a:pPr lvl="1" eaLnBrk="1" hangingPunct="1">
              <a:defRPr/>
            </a:pPr>
            <a:r>
              <a:rPr lang="en-US" dirty="0">
                <a:ea typeface="+mn-ea"/>
              </a:rPr>
              <a:t>Stored data</a:t>
            </a:r>
          </a:p>
          <a:p>
            <a:pPr lvl="1" eaLnBrk="1" hangingPunct="1">
              <a:defRPr/>
            </a:pPr>
            <a:r>
              <a:rPr lang="en-US" dirty="0">
                <a:ea typeface="+mn-ea"/>
              </a:rPr>
              <a:t>Inappropriate access</a:t>
            </a:r>
          </a:p>
          <a:p>
            <a:pPr eaLnBrk="1" hangingPunct="1">
              <a:defRPr/>
            </a:pPr>
            <a:r>
              <a:rPr lang="en-US" dirty="0">
                <a:ea typeface="+mn-ea"/>
              </a:rPr>
              <a:t>Look for leads, follow the trail</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36770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AF98C34B-F2DC-4B84-A5E5-40B700BC1A76}" type="slidenum">
              <a:rPr lang="en-US" altLang="en-US" sz="2000">
                <a:latin typeface="Arial" panose="020B0604020202020204" pitchFamily="34" charset="0"/>
              </a:rPr>
              <a:pPr eaLnBrk="1" hangingPunct="1"/>
              <a:t>39</a:t>
            </a:fld>
            <a:endParaRPr lang="en-US" altLang="en-US" sz="2000">
              <a:latin typeface="Arial" panose="020B0604020202020204" pitchFamily="34" charset="0"/>
            </a:endParaRPr>
          </a:p>
        </p:txBody>
      </p:sp>
      <p:sp>
        <p:nvSpPr>
          <p:cNvPr id="545794" name="Rectangle 2"/>
          <p:cNvSpPr>
            <a:spLocks noGrp="1" noChangeArrowheads="1"/>
          </p:cNvSpPr>
          <p:nvPr>
            <p:ph type="title"/>
          </p:nvPr>
        </p:nvSpPr>
        <p:spPr/>
        <p:txBody>
          <a:bodyPr/>
          <a:lstStyle/>
          <a:p>
            <a:pPr eaLnBrk="1" hangingPunct="1">
              <a:defRPr/>
            </a:pPr>
            <a:r>
              <a:rPr lang="en-US" dirty="0">
                <a:ea typeface="+mj-ea"/>
              </a:rPr>
              <a:t>Evidence Collection Techniques </a:t>
            </a:r>
          </a:p>
        </p:txBody>
      </p:sp>
      <p:sp>
        <p:nvSpPr>
          <p:cNvPr id="545795" name="Rectangle 3"/>
          <p:cNvSpPr>
            <a:spLocks noGrp="1" noChangeArrowheads="1"/>
          </p:cNvSpPr>
          <p:nvPr>
            <p:ph type="body" idx="1"/>
          </p:nvPr>
        </p:nvSpPr>
        <p:spPr/>
        <p:txBody>
          <a:bodyPr/>
          <a:lstStyle/>
          <a:p>
            <a:pPr eaLnBrk="1" hangingPunct="1">
              <a:defRPr/>
            </a:pPr>
            <a:r>
              <a:rPr lang="en-US" dirty="0">
                <a:ea typeface="+mn-ea"/>
              </a:rPr>
              <a:t>Examination of surroundings</a:t>
            </a:r>
          </a:p>
          <a:p>
            <a:pPr eaLnBrk="1" hangingPunct="1">
              <a:defRPr/>
            </a:pPr>
            <a:r>
              <a:rPr lang="en-US" dirty="0">
                <a:ea typeface="+mn-ea"/>
              </a:rPr>
              <a:t>Live system forensics</a:t>
            </a:r>
          </a:p>
          <a:p>
            <a:pPr eaLnBrk="1" hangingPunct="1">
              <a:defRPr/>
            </a:pPr>
            <a:r>
              <a:rPr lang="en-US" dirty="0">
                <a:ea typeface="+mn-ea"/>
              </a:rPr>
              <a:t>Static system forensics</a:t>
            </a:r>
          </a:p>
          <a:p>
            <a:pPr eaLnBrk="1" hangingPunct="1">
              <a:defRPr/>
            </a:pPr>
            <a:r>
              <a:rPr lang="en-US" dirty="0">
                <a:ea typeface="+mn-ea"/>
              </a:rPr>
              <a:t>Physical examination</a:t>
            </a:r>
          </a:p>
          <a:p>
            <a:pPr eaLnBrk="1" hangingPunct="1">
              <a:defRPr/>
            </a:pPr>
            <a:r>
              <a:rPr lang="en-US" dirty="0">
                <a:ea typeface="+mn-ea"/>
              </a:rPr>
              <a:t>Examination of storage</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3170619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F31D22BD-CF46-42AC-B48B-38CFB154657A}" type="slidenum">
              <a:rPr lang="en-US" altLang="en-US" sz="2000">
                <a:latin typeface="Arial" panose="020B0604020202020204" pitchFamily="34" charset="0"/>
              </a:rPr>
              <a:pPr eaLnBrk="1" hangingPunct="1"/>
              <a:t>40</a:t>
            </a:fld>
            <a:endParaRPr lang="en-US" altLang="en-US" sz="2000">
              <a:latin typeface="Arial" panose="020B0604020202020204" pitchFamily="34" charset="0"/>
            </a:endParaRPr>
          </a:p>
        </p:txBody>
      </p:sp>
      <p:sp>
        <p:nvSpPr>
          <p:cNvPr id="546818" name="Rectangle 2"/>
          <p:cNvSpPr>
            <a:spLocks noGrp="1" noChangeArrowheads="1"/>
          </p:cNvSpPr>
          <p:nvPr>
            <p:ph type="title"/>
          </p:nvPr>
        </p:nvSpPr>
        <p:spPr/>
        <p:txBody>
          <a:bodyPr/>
          <a:lstStyle/>
          <a:p>
            <a:pPr eaLnBrk="1" hangingPunct="1">
              <a:defRPr/>
            </a:pPr>
            <a:r>
              <a:rPr lang="en-US" dirty="0">
                <a:ea typeface="+mj-ea"/>
              </a:rPr>
              <a:t>Preserving Evidence</a:t>
            </a:r>
          </a:p>
        </p:txBody>
      </p:sp>
      <p:sp>
        <p:nvSpPr>
          <p:cNvPr id="546819" name="Rectangle 3"/>
          <p:cNvSpPr>
            <a:spLocks noGrp="1" noChangeArrowheads="1"/>
          </p:cNvSpPr>
          <p:nvPr>
            <p:ph type="body" idx="1"/>
          </p:nvPr>
        </p:nvSpPr>
        <p:spPr/>
        <p:txBody>
          <a:bodyPr/>
          <a:lstStyle/>
          <a:p>
            <a:pPr eaLnBrk="1" hangingPunct="1">
              <a:defRPr/>
            </a:pPr>
            <a:r>
              <a:rPr lang="en-US" dirty="0">
                <a:ea typeface="+mn-ea"/>
              </a:rPr>
              <a:t>Collection</a:t>
            </a:r>
          </a:p>
          <a:p>
            <a:pPr eaLnBrk="1" hangingPunct="1">
              <a:defRPr/>
            </a:pPr>
            <a:r>
              <a:rPr lang="en-US" dirty="0">
                <a:ea typeface="+mn-ea"/>
              </a:rPr>
              <a:t>Recordkeeping</a:t>
            </a:r>
          </a:p>
          <a:p>
            <a:pPr eaLnBrk="1" hangingPunct="1">
              <a:defRPr/>
            </a:pPr>
            <a:r>
              <a:rPr lang="en-US" dirty="0">
                <a:ea typeface="+mn-ea"/>
              </a:rPr>
              <a:t>Use of reliable tools</a:t>
            </a:r>
          </a:p>
          <a:p>
            <a:pPr eaLnBrk="1" hangingPunct="1">
              <a:defRPr/>
            </a:pPr>
            <a:r>
              <a:rPr lang="en-US" dirty="0">
                <a:ea typeface="+mn-ea"/>
              </a:rPr>
              <a:t>Evidence safekeeping</a:t>
            </a:r>
          </a:p>
          <a:p>
            <a:pPr eaLnBrk="1" hangingPunct="1">
              <a:defRPr/>
            </a:pPr>
            <a:r>
              <a:rPr lang="en-US" dirty="0">
                <a:ea typeface="+mn-ea"/>
              </a:rPr>
              <a:t>Work in isolation</a:t>
            </a:r>
          </a:p>
          <a:p>
            <a:pPr eaLnBrk="1" hangingPunct="1">
              <a:defRPr/>
            </a:pPr>
            <a:r>
              <a:rPr lang="en-US" dirty="0">
                <a:ea typeface="+mn-ea"/>
              </a:rPr>
              <a:t>Chain of custody</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6658231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A97F3BD8-A68E-4B8C-BCCB-8628175E4B22}" type="slidenum">
              <a:rPr lang="en-US" altLang="en-US" sz="2000">
                <a:latin typeface="Arial" panose="020B0604020202020204" pitchFamily="34" charset="0"/>
              </a:rPr>
              <a:pPr eaLnBrk="1" hangingPunct="1"/>
              <a:t>41</a:t>
            </a:fld>
            <a:endParaRPr lang="en-US" altLang="en-US" sz="2000">
              <a:latin typeface="Arial" panose="020B0604020202020204" pitchFamily="34" charset="0"/>
            </a:endParaRPr>
          </a:p>
        </p:txBody>
      </p:sp>
      <p:sp>
        <p:nvSpPr>
          <p:cNvPr id="547842" name="Rectangle 2"/>
          <p:cNvSpPr>
            <a:spLocks noGrp="1" noChangeArrowheads="1"/>
          </p:cNvSpPr>
          <p:nvPr>
            <p:ph type="title"/>
          </p:nvPr>
        </p:nvSpPr>
        <p:spPr/>
        <p:txBody>
          <a:bodyPr/>
          <a:lstStyle/>
          <a:p>
            <a:pPr eaLnBrk="1" hangingPunct="1">
              <a:defRPr/>
            </a:pPr>
            <a:r>
              <a:rPr lang="en-US" dirty="0">
                <a:ea typeface="+mj-ea"/>
              </a:rPr>
              <a:t>Presentation of Findings</a:t>
            </a:r>
          </a:p>
        </p:txBody>
      </p:sp>
      <p:sp>
        <p:nvSpPr>
          <p:cNvPr id="547843" name="Rectangle 3"/>
          <p:cNvSpPr>
            <a:spLocks noGrp="1" noChangeArrowheads="1"/>
          </p:cNvSpPr>
          <p:nvPr>
            <p:ph type="body" idx="1"/>
          </p:nvPr>
        </p:nvSpPr>
        <p:spPr/>
        <p:txBody>
          <a:bodyPr/>
          <a:lstStyle/>
          <a:p>
            <a:pPr eaLnBrk="1" hangingPunct="1">
              <a:defRPr/>
            </a:pPr>
            <a:r>
              <a:rPr lang="en-US" dirty="0">
                <a:ea typeface="+mn-ea"/>
              </a:rPr>
              <a:t>Formal report</a:t>
            </a:r>
          </a:p>
          <a:p>
            <a:pPr lvl="1" eaLnBrk="1" hangingPunct="1">
              <a:defRPr/>
            </a:pPr>
            <a:r>
              <a:rPr lang="en-US" dirty="0">
                <a:ea typeface="+mn-ea"/>
              </a:rPr>
              <a:t>Explains the reason for the investigation</a:t>
            </a:r>
          </a:p>
          <a:p>
            <a:pPr lvl="1" eaLnBrk="1" hangingPunct="1">
              <a:defRPr/>
            </a:pPr>
            <a:r>
              <a:rPr lang="en-US" dirty="0">
                <a:ea typeface="+mn-ea"/>
              </a:rPr>
              <a:t>Shows the chain of evidence</a:t>
            </a:r>
          </a:p>
          <a:p>
            <a:pPr lvl="1" eaLnBrk="1" hangingPunct="1">
              <a:defRPr/>
            </a:pPr>
            <a:r>
              <a:rPr lang="en-US" dirty="0">
                <a:ea typeface="+mn-ea"/>
              </a:rPr>
              <a:t>Details on data that is found, and what it means</a:t>
            </a:r>
          </a:p>
          <a:p>
            <a:pPr lvl="1" eaLnBrk="1" hangingPunct="1">
              <a:defRPr/>
            </a:pPr>
            <a:r>
              <a:rPr lang="en-US" dirty="0">
                <a:ea typeface="+mn-ea"/>
              </a:rPr>
              <a:t>Contains only the facts, no speculation or anything about motives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1063755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1CCCE857-6172-4840-BDBD-230680FE2EA1}" type="slidenum">
              <a:rPr lang="en-US" altLang="en-US" sz="2000">
                <a:latin typeface="Arial" panose="020B0604020202020204" pitchFamily="34" charset="0"/>
              </a:rPr>
              <a:pPr eaLnBrk="1" hangingPunct="1"/>
              <a:t>42</a:t>
            </a:fld>
            <a:endParaRPr lang="en-US" altLang="en-US" sz="2000">
              <a:latin typeface="Arial" panose="020B0604020202020204" pitchFamily="34" charset="0"/>
            </a:endParaRPr>
          </a:p>
        </p:txBody>
      </p:sp>
      <p:sp>
        <p:nvSpPr>
          <p:cNvPr id="549890" name="Rectangle 2"/>
          <p:cNvSpPr>
            <a:spLocks noGrp="1" noChangeArrowheads="1"/>
          </p:cNvSpPr>
          <p:nvPr>
            <p:ph type="title"/>
          </p:nvPr>
        </p:nvSpPr>
        <p:spPr/>
        <p:txBody>
          <a:bodyPr/>
          <a:lstStyle/>
          <a:p>
            <a:pPr eaLnBrk="1" hangingPunct="1">
              <a:defRPr/>
            </a:pPr>
            <a:r>
              <a:rPr lang="en-US" dirty="0">
                <a:ea typeface="+mj-ea"/>
              </a:rPr>
              <a:t>Codes of Conduct</a:t>
            </a:r>
          </a:p>
        </p:txBody>
      </p:sp>
      <p:sp>
        <p:nvSpPr>
          <p:cNvPr id="549891" name="Rectangle 3"/>
          <p:cNvSpPr>
            <a:spLocks noGrp="1" noChangeArrowheads="1"/>
          </p:cNvSpPr>
          <p:nvPr>
            <p:ph type="body" idx="1"/>
          </p:nvPr>
        </p:nvSpPr>
        <p:spPr/>
        <p:txBody>
          <a:bodyPr/>
          <a:lstStyle/>
          <a:p>
            <a:pPr eaLnBrk="1" hangingPunct="1">
              <a:defRPr/>
            </a:pPr>
            <a:r>
              <a:rPr lang="en-US" dirty="0">
                <a:ea typeface="+mn-ea"/>
              </a:rPr>
              <a:t>Formal corporate statements that define acceptable behavior</a:t>
            </a:r>
          </a:p>
          <a:p>
            <a:pPr lvl="1" eaLnBrk="1" hangingPunct="1">
              <a:defRPr/>
            </a:pPr>
            <a:r>
              <a:rPr lang="en-US" sz="2000" dirty="0">
                <a:ea typeface="+mn-ea"/>
              </a:rPr>
              <a:t>Obey all laws</a:t>
            </a:r>
          </a:p>
          <a:p>
            <a:pPr lvl="1" eaLnBrk="1" hangingPunct="1">
              <a:defRPr/>
            </a:pPr>
            <a:r>
              <a:rPr lang="en-US" sz="2000" dirty="0">
                <a:ea typeface="+mn-ea"/>
              </a:rPr>
              <a:t>Always dress and act professionally</a:t>
            </a:r>
          </a:p>
          <a:p>
            <a:pPr lvl="1" eaLnBrk="1" hangingPunct="1">
              <a:defRPr/>
            </a:pPr>
            <a:r>
              <a:rPr lang="en-US" sz="2000" dirty="0">
                <a:ea typeface="+mn-ea"/>
              </a:rPr>
              <a:t>Avoid conflicts of interest</a:t>
            </a:r>
          </a:p>
          <a:p>
            <a:pPr lvl="1" eaLnBrk="1" hangingPunct="1">
              <a:defRPr/>
            </a:pPr>
            <a:r>
              <a:rPr lang="en-US" sz="2000" dirty="0">
                <a:ea typeface="+mn-ea"/>
              </a:rPr>
              <a:t>Avoid outside employment</a:t>
            </a:r>
          </a:p>
          <a:p>
            <a:pPr lvl="1" eaLnBrk="1" hangingPunct="1">
              <a:defRPr/>
            </a:pPr>
            <a:r>
              <a:rPr lang="en-US" sz="2000" dirty="0">
                <a:ea typeface="+mn-ea"/>
              </a:rPr>
              <a:t>Engage in good public relations through community activities</a:t>
            </a:r>
          </a:p>
          <a:p>
            <a:pPr lvl="1" eaLnBrk="1" hangingPunct="1">
              <a:defRPr/>
            </a:pPr>
            <a:r>
              <a:rPr lang="en-US" sz="2000" dirty="0">
                <a:ea typeface="+mn-ea"/>
              </a:rPr>
              <a:t>Avoid activities with customers or suppliers that would raise suspicion of favoritism or activities that result in personal gain</a:t>
            </a:r>
          </a:p>
          <a:p>
            <a:pPr lvl="1" eaLnBrk="1" hangingPunct="1">
              <a:defRPr/>
            </a:pPr>
            <a:r>
              <a:rPr lang="en-US" sz="2000" dirty="0">
                <a:ea typeface="+mn-ea"/>
              </a:rPr>
              <a:t>Use organizational resources and funds for business purposes only</a:t>
            </a:r>
          </a:p>
          <a:p>
            <a:pPr lvl="1" eaLnBrk="1" hangingPunct="1">
              <a:defRPr/>
            </a:pPr>
            <a:r>
              <a:rPr lang="en-US" sz="2000" dirty="0">
                <a:ea typeface="+mn-ea"/>
              </a:rPr>
              <a:t>Always maintain accuracy in all books, records and communications</a:t>
            </a:r>
          </a:p>
          <a:p>
            <a:pPr lvl="1" eaLnBrk="1" hangingPunct="1">
              <a:defRPr/>
            </a:pPr>
            <a:r>
              <a:rPr lang="en-US" sz="2000" dirty="0">
                <a:ea typeface="+mn-ea"/>
              </a:rPr>
              <a:t>Separate personal activities from business activities</a:t>
            </a:r>
          </a:p>
          <a:p>
            <a:pPr lvl="1" eaLnBrk="1" hangingPunct="1">
              <a:defRPr/>
            </a:pPr>
            <a:r>
              <a:rPr lang="en-US" sz="2000" dirty="0">
                <a:ea typeface="+mn-ea"/>
              </a:rPr>
              <a:t>Maintain privacy and confidentiality of all business related information</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422334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A4643EDC-4617-4189-BFD4-443876F335B0}" type="slidenum">
              <a:rPr lang="en-US" altLang="en-US" sz="2000">
                <a:latin typeface="Arial" panose="020B0604020202020204" pitchFamily="34" charset="0"/>
              </a:rPr>
              <a:pPr eaLnBrk="1" hangingPunct="1"/>
              <a:t>43</a:t>
            </a:fld>
            <a:endParaRPr lang="en-US" altLang="en-US" sz="2000">
              <a:latin typeface="Arial" panose="020B0604020202020204" pitchFamily="34" charset="0"/>
            </a:endParaRPr>
          </a:p>
        </p:txBody>
      </p:sp>
      <p:sp>
        <p:nvSpPr>
          <p:cNvPr id="550914" name="Rectangle 2"/>
          <p:cNvSpPr>
            <a:spLocks noGrp="1" noChangeArrowheads="1"/>
          </p:cNvSpPr>
          <p:nvPr>
            <p:ph type="title"/>
          </p:nvPr>
        </p:nvSpPr>
        <p:spPr/>
        <p:txBody>
          <a:bodyPr/>
          <a:lstStyle/>
          <a:p>
            <a:pPr eaLnBrk="1" hangingPunct="1">
              <a:defRPr/>
            </a:pPr>
            <a:r>
              <a:rPr lang="en-US" dirty="0">
                <a:ea typeface="+mj-ea"/>
              </a:rPr>
              <a:t>RFC 1087: Ethics and the Internet</a:t>
            </a:r>
          </a:p>
        </p:txBody>
      </p:sp>
      <p:sp>
        <p:nvSpPr>
          <p:cNvPr id="550915" name="Rectangle 3"/>
          <p:cNvSpPr>
            <a:spLocks noGrp="1" noChangeArrowheads="1"/>
          </p:cNvSpPr>
          <p:nvPr>
            <p:ph type="body" idx="1"/>
          </p:nvPr>
        </p:nvSpPr>
        <p:spPr/>
        <p:txBody>
          <a:bodyPr/>
          <a:lstStyle/>
          <a:p>
            <a:pPr eaLnBrk="1" hangingPunct="1">
              <a:defRPr/>
            </a:pPr>
            <a:r>
              <a:rPr lang="en-US" dirty="0">
                <a:ea typeface="+mn-ea"/>
              </a:rPr>
              <a:t>Unethical and unacceptable activities which purposely:</a:t>
            </a:r>
          </a:p>
          <a:p>
            <a:pPr lvl="1" eaLnBrk="1" hangingPunct="1">
              <a:defRPr/>
            </a:pPr>
            <a:r>
              <a:rPr lang="en-US" dirty="0">
                <a:ea typeface="+mn-ea"/>
              </a:rPr>
              <a:t>seeks to gain unauthorized access to the resources of the Internet,</a:t>
            </a:r>
          </a:p>
          <a:p>
            <a:pPr lvl="1" eaLnBrk="1" hangingPunct="1">
              <a:defRPr/>
            </a:pPr>
            <a:r>
              <a:rPr lang="en-US" dirty="0">
                <a:ea typeface="+mn-ea"/>
              </a:rPr>
              <a:t>disrupts the intended use of the Internet,</a:t>
            </a:r>
          </a:p>
          <a:p>
            <a:pPr lvl="1" eaLnBrk="1" hangingPunct="1">
              <a:defRPr/>
            </a:pPr>
            <a:r>
              <a:rPr lang="en-US" dirty="0">
                <a:ea typeface="+mn-ea"/>
              </a:rPr>
              <a:t>wastes resources (people, capacity, computer) through such actions,</a:t>
            </a:r>
          </a:p>
          <a:p>
            <a:pPr lvl="1" eaLnBrk="1" hangingPunct="1">
              <a:defRPr/>
            </a:pPr>
            <a:r>
              <a:rPr lang="en-US" dirty="0">
                <a:ea typeface="+mn-ea"/>
              </a:rPr>
              <a:t>destroys the integrity of computer-based information,</a:t>
            </a:r>
          </a:p>
          <a:p>
            <a:pPr lvl="1" eaLnBrk="1" hangingPunct="1">
              <a:defRPr/>
            </a:pPr>
            <a:r>
              <a:rPr lang="en-US" dirty="0">
                <a:ea typeface="+mn-ea"/>
              </a:rPr>
              <a:t>compromises the privacy of users.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784616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6B41B9B4-6E84-4862-AFF3-B3BC05637251}" type="slidenum">
              <a:rPr lang="en-US" altLang="en-US" sz="2000">
                <a:latin typeface="Arial" panose="020B0604020202020204" pitchFamily="34" charset="0"/>
              </a:rPr>
              <a:pPr eaLnBrk="1" hangingPunct="1"/>
              <a:t>44</a:t>
            </a:fld>
            <a:endParaRPr lang="en-US" altLang="en-US" sz="2000">
              <a:latin typeface="Arial" panose="020B0604020202020204" pitchFamily="34" charset="0"/>
            </a:endParaRPr>
          </a:p>
        </p:txBody>
      </p:sp>
      <p:sp>
        <p:nvSpPr>
          <p:cNvPr id="552962" name="Rectangle 2"/>
          <p:cNvSpPr>
            <a:spLocks noGrp="1" noChangeArrowheads="1"/>
          </p:cNvSpPr>
          <p:nvPr>
            <p:ph type="title"/>
          </p:nvPr>
        </p:nvSpPr>
        <p:spPr/>
        <p:txBody>
          <a:bodyPr/>
          <a:lstStyle/>
          <a:p>
            <a:pPr eaLnBrk="1" hangingPunct="1">
              <a:defRPr/>
            </a:pPr>
            <a:r>
              <a:rPr lang="en-US" dirty="0">
                <a:ea typeface="+mj-ea"/>
              </a:rPr>
              <a:t>Guidance on Ethical Behavior</a:t>
            </a:r>
          </a:p>
        </p:txBody>
      </p:sp>
      <p:sp>
        <p:nvSpPr>
          <p:cNvPr id="552963" name="Rectangle 3"/>
          <p:cNvSpPr>
            <a:spLocks noGrp="1" noChangeArrowheads="1"/>
          </p:cNvSpPr>
          <p:nvPr>
            <p:ph type="body" idx="1"/>
          </p:nvPr>
        </p:nvSpPr>
        <p:spPr/>
        <p:txBody>
          <a:bodyPr/>
          <a:lstStyle/>
          <a:p>
            <a:pPr eaLnBrk="1" hangingPunct="1">
              <a:lnSpc>
                <a:spcPct val="90000"/>
              </a:lnSpc>
              <a:defRPr/>
            </a:pPr>
            <a:r>
              <a:rPr lang="en-US">
                <a:ea typeface="+mn-ea"/>
              </a:rPr>
              <a:t>Behave transparently</a:t>
            </a:r>
          </a:p>
          <a:p>
            <a:pPr eaLnBrk="1" hangingPunct="1">
              <a:lnSpc>
                <a:spcPct val="90000"/>
              </a:lnSpc>
              <a:defRPr/>
            </a:pPr>
            <a:r>
              <a:rPr lang="en-US">
                <a:ea typeface="+mn-ea"/>
              </a:rPr>
              <a:t>Make decisions openly</a:t>
            </a:r>
          </a:p>
          <a:p>
            <a:pPr eaLnBrk="1" hangingPunct="1">
              <a:lnSpc>
                <a:spcPct val="90000"/>
              </a:lnSpc>
              <a:defRPr/>
            </a:pPr>
            <a:r>
              <a:rPr lang="en-US">
                <a:ea typeface="+mn-ea"/>
              </a:rPr>
              <a:t>Shun politics</a:t>
            </a:r>
          </a:p>
          <a:p>
            <a:pPr eaLnBrk="1" hangingPunct="1">
              <a:lnSpc>
                <a:spcPct val="90000"/>
              </a:lnSpc>
              <a:defRPr/>
            </a:pPr>
            <a:r>
              <a:rPr lang="en-US">
                <a:ea typeface="+mn-ea"/>
              </a:rPr>
              <a:t>Show no favoritism or self-interest</a:t>
            </a:r>
          </a:p>
          <a:p>
            <a:pPr eaLnBrk="1" hangingPunct="1">
              <a:lnSpc>
                <a:spcPct val="90000"/>
              </a:lnSpc>
              <a:defRPr/>
            </a:pPr>
            <a:r>
              <a:rPr lang="en-US">
                <a:ea typeface="+mn-ea"/>
              </a:rPr>
              <a:t>Respect the privacy and dignity of others</a:t>
            </a:r>
          </a:p>
          <a:p>
            <a:pPr eaLnBrk="1" hangingPunct="1">
              <a:lnSpc>
                <a:spcPct val="90000"/>
              </a:lnSpc>
              <a:defRPr/>
            </a:pPr>
            <a:r>
              <a:rPr lang="en-US">
                <a:ea typeface="+mn-ea"/>
              </a:rPr>
              <a:t>Keep your commitments</a:t>
            </a:r>
          </a:p>
          <a:p>
            <a:pPr eaLnBrk="1" hangingPunct="1">
              <a:lnSpc>
                <a:spcPct val="90000"/>
              </a:lnSpc>
              <a:defRPr/>
            </a:pPr>
            <a:r>
              <a:rPr lang="en-US">
                <a:ea typeface="+mn-ea"/>
              </a:rPr>
              <a:t>Promote accountability and responsibility</a:t>
            </a:r>
          </a:p>
          <a:p>
            <a:pPr eaLnBrk="1" hangingPunct="1">
              <a:lnSpc>
                <a:spcPct val="90000"/>
              </a:lnSpc>
              <a:defRPr/>
            </a:pPr>
            <a:r>
              <a:rPr lang="en-US">
                <a:ea typeface="+mn-ea"/>
              </a:rPr>
              <a:t>Document your actions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37198198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20CD7F4E-8F80-4C2F-8923-3790C15C68A0}" type="slidenum">
              <a:rPr lang="en-US" altLang="en-US" sz="2000">
                <a:latin typeface="Arial" panose="020B0604020202020204" pitchFamily="34" charset="0"/>
              </a:rPr>
              <a:pPr eaLnBrk="1" hangingPunct="1"/>
              <a:t>45</a:t>
            </a:fld>
            <a:endParaRPr lang="en-US" altLang="en-US" sz="2000">
              <a:latin typeface="Arial" panose="020B0604020202020204" pitchFamily="34" charset="0"/>
            </a:endParaRPr>
          </a:p>
        </p:txBody>
      </p:sp>
      <p:sp>
        <p:nvSpPr>
          <p:cNvPr id="450562" name="Rectangle 2"/>
          <p:cNvSpPr>
            <a:spLocks noGrp="1" noChangeArrowheads="1"/>
          </p:cNvSpPr>
          <p:nvPr>
            <p:ph type="title"/>
          </p:nvPr>
        </p:nvSpPr>
        <p:spPr/>
        <p:txBody>
          <a:bodyPr/>
          <a:lstStyle/>
          <a:p>
            <a:pPr eaLnBrk="1" hangingPunct="1">
              <a:defRPr/>
            </a:pPr>
            <a:r>
              <a:rPr lang="en-US">
                <a:ea typeface="+mj-ea"/>
              </a:rPr>
              <a:t>Summary</a:t>
            </a:r>
          </a:p>
        </p:txBody>
      </p:sp>
      <p:sp>
        <p:nvSpPr>
          <p:cNvPr id="450563" name="Rectangle 3"/>
          <p:cNvSpPr>
            <a:spLocks noGrp="1" noChangeArrowheads="1"/>
          </p:cNvSpPr>
          <p:nvPr>
            <p:ph type="body" idx="1"/>
          </p:nvPr>
        </p:nvSpPr>
        <p:spPr/>
        <p:txBody>
          <a:bodyPr/>
          <a:lstStyle/>
          <a:p>
            <a:pPr eaLnBrk="1" hangingPunct="1">
              <a:defRPr/>
            </a:pPr>
            <a:r>
              <a:rPr lang="en-US" dirty="0"/>
              <a:t>Computers have three roles in crimes: target, instrument, and support.</a:t>
            </a:r>
          </a:p>
          <a:p>
            <a:pPr eaLnBrk="1" hangingPunct="1">
              <a:defRPr/>
            </a:pPr>
            <a:r>
              <a:rPr lang="en-US" dirty="0"/>
              <a:t>The categories of computer crimes are political espionage and cyber-warfare, terrorism, theft and fraud, commercial espionage, harassment, hacktivism, and </a:t>
            </a:r>
            <a:r>
              <a:rPr lang="en-US" dirty="0" err="1"/>
              <a:t>cybervandalism</a:t>
            </a:r>
            <a:r>
              <a:rPr lang="en-US" dirty="0"/>
              <a:t>.</a:t>
            </a:r>
          </a:p>
          <a:p>
            <a:pPr eaLnBrk="1" hangingPunct="1">
              <a:defRPr/>
            </a:pPr>
            <a:r>
              <a:rPr lang="en-US" dirty="0"/>
              <a:t>The categories of U.S. laws are criminal, civil, and administrative.</a:t>
            </a:r>
          </a:p>
          <a:p>
            <a:pPr eaLnBrk="1" hangingPunct="1">
              <a:defRPr/>
            </a:pPr>
            <a:r>
              <a:rPr lang="en-US" dirty="0"/>
              <a:t>U.S. laws that protect information and computers are intellectual property laws, privacy laws, and computer crime laws.</a:t>
            </a:r>
          </a:p>
          <a:p>
            <a:pPr eaLnBrk="1" hangingPunct="1">
              <a:defRPr/>
            </a:pPr>
            <a:r>
              <a:rPr lang="en-US" dirty="0"/>
              <a:t>The types of intellectual property protections are copyrights, trademarks, and patents.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18863408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0F199D33-C608-4EFD-98B7-8A0D0A15DB07}" type="slidenum">
              <a:rPr lang="en-US" altLang="en-US" sz="2000">
                <a:latin typeface="Arial" panose="020B0604020202020204" pitchFamily="34" charset="0"/>
              </a:rPr>
              <a:pPr eaLnBrk="1" hangingPunct="1"/>
              <a:t>46</a:t>
            </a:fld>
            <a:endParaRPr lang="en-US" altLang="en-US" sz="2000">
              <a:latin typeface="Arial" panose="020B0604020202020204" pitchFamily="34" charset="0"/>
            </a:endParaRPr>
          </a:p>
        </p:txBody>
      </p:sp>
      <p:sp>
        <p:nvSpPr>
          <p:cNvPr id="499714" name="Rectangle 2"/>
          <p:cNvSpPr>
            <a:spLocks noGrp="1" noChangeArrowheads="1"/>
          </p:cNvSpPr>
          <p:nvPr>
            <p:ph type="title"/>
          </p:nvPr>
        </p:nvSpPr>
        <p:spPr/>
        <p:txBody>
          <a:bodyPr/>
          <a:lstStyle/>
          <a:p>
            <a:pPr eaLnBrk="1" hangingPunct="1">
              <a:defRPr/>
            </a:pPr>
            <a:r>
              <a:rPr lang="en-US">
                <a:ea typeface="+mj-ea"/>
              </a:rPr>
              <a:t>Summary (cont.)</a:t>
            </a:r>
          </a:p>
        </p:txBody>
      </p:sp>
      <p:sp>
        <p:nvSpPr>
          <p:cNvPr id="499715" name="Rectangle 3"/>
          <p:cNvSpPr>
            <a:spLocks noGrp="1" noChangeArrowheads="1"/>
          </p:cNvSpPr>
          <p:nvPr>
            <p:ph type="body" idx="1"/>
          </p:nvPr>
        </p:nvSpPr>
        <p:spPr/>
        <p:txBody>
          <a:bodyPr/>
          <a:lstStyle/>
          <a:p>
            <a:pPr eaLnBrk="1" hangingPunct="1"/>
            <a:r>
              <a:rPr lang="en-US" altLang="en-US" dirty="0"/>
              <a:t>Security incident response consists of several steps including incident declaration, triage, investigation, analysis, containment, recovery, and debriefing.</a:t>
            </a:r>
          </a:p>
          <a:p>
            <a:pPr eaLnBrk="1" hangingPunct="1"/>
            <a:r>
              <a:rPr lang="en-US" altLang="en-US" dirty="0"/>
              <a:t>The primary activities in a forensic investigation are: identify and gather evidence, preserve evidence, establish a chain of custody, and present findings.</a:t>
            </a:r>
          </a:p>
          <a:p>
            <a:pPr eaLnBrk="1" hangingPunct="1"/>
            <a:r>
              <a:rPr lang="en-US" altLang="en-US" dirty="0"/>
              <a:t>Many organizations will develop a </a:t>
            </a:r>
            <a:r>
              <a:rPr lang="en-US" altLang="en-US" i="1" dirty="0"/>
              <a:t>code of conduct</a:t>
            </a:r>
            <a:r>
              <a:rPr lang="en-US" altLang="en-US" dirty="0"/>
              <a:t> to define the activities that are acceptable and unacceptable.</a:t>
            </a:r>
          </a:p>
          <a:p>
            <a:pPr eaLnBrk="1" hangingPunct="1"/>
            <a:r>
              <a:rPr lang="en-US" altLang="en-US" dirty="0"/>
              <a:t>The (ISC)² code of ethics defines the desired and undesired behavior that it expects of its CISSP and SSCP certification holders.</a:t>
            </a:r>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2863469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a:t>CISSP Guide to Security Essentials, 2e</a:t>
            </a:r>
          </a:p>
        </p:txBody>
      </p:sp>
      <p:sp>
        <p:nvSpPr>
          <p:cNvPr id="5" name="Slide Number Placeholder 4"/>
          <p:cNvSpPr>
            <a:spLocks noGrp="1"/>
          </p:cNvSpPr>
          <p:nvPr>
            <p:ph type="sldNum" sz="quarter" idx="11"/>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hangingPunct="0">
              <a:defRPr sz="2400">
                <a:solidFill>
                  <a:schemeClr val="tx1"/>
                </a:solidFill>
                <a:latin typeface="Times New Roman" panose="02020603050405020304" pitchFamily="18" charset="0"/>
                <a:ea typeface="MS PGothic" panose="020B0600070205080204" pitchFamily="34" charset="-128"/>
              </a:defRPr>
            </a:lvl1pPr>
            <a:lvl2pPr marL="742950" indent="-285750" eaLnBrk="0" hangingPunct="0">
              <a:defRPr sz="2400">
                <a:solidFill>
                  <a:schemeClr val="tx1"/>
                </a:solidFill>
                <a:latin typeface="Times New Roman" panose="02020603050405020304" pitchFamily="18" charset="0"/>
                <a:ea typeface="MS PGothic" panose="020B0600070205080204" pitchFamily="34" charset="-128"/>
              </a:defRPr>
            </a:lvl2pPr>
            <a:lvl3pPr marL="1143000" indent="-228600" eaLnBrk="0" hangingPunct="0">
              <a:defRPr sz="2400">
                <a:solidFill>
                  <a:schemeClr val="tx1"/>
                </a:solidFill>
                <a:latin typeface="Times New Roman" panose="02020603050405020304" pitchFamily="18" charset="0"/>
                <a:ea typeface="MS PGothic" panose="020B0600070205080204" pitchFamily="34" charset="-128"/>
              </a:defRPr>
            </a:lvl3pPr>
            <a:lvl4pPr marL="1600200" indent="-228600" eaLnBrk="0" hangingPunct="0">
              <a:defRPr sz="2400">
                <a:solidFill>
                  <a:schemeClr val="tx1"/>
                </a:solidFill>
                <a:latin typeface="Times New Roman" panose="02020603050405020304" pitchFamily="18" charset="0"/>
                <a:ea typeface="MS PGothic" panose="020B0600070205080204" pitchFamily="34" charset="-128"/>
              </a:defRPr>
            </a:lvl4pPr>
            <a:lvl5pPr marL="2057400" indent="-228600" eaLnBrk="0" hangingPunct="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eaLnBrk="1" hangingPunct="1"/>
            <a:fld id="{156FE7F4-B89C-4736-8D82-477EA289C5B1}" type="slidenum">
              <a:rPr lang="en-US" altLang="en-US" sz="2000">
                <a:latin typeface="Arial" panose="020B0604020202020204" pitchFamily="34" charset="0"/>
              </a:rPr>
              <a:pPr eaLnBrk="1" hangingPunct="1"/>
              <a:t>47</a:t>
            </a:fld>
            <a:endParaRPr lang="en-US" altLang="en-US" sz="2000">
              <a:latin typeface="Arial" panose="020B0604020202020204" pitchFamily="34" charset="0"/>
            </a:endParaRPr>
          </a:p>
        </p:txBody>
      </p:sp>
      <p:sp>
        <p:nvSpPr>
          <p:cNvPr id="500738" name="Rectangle 2"/>
          <p:cNvSpPr>
            <a:spLocks noGrp="1" noChangeArrowheads="1"/>
          </p:cNvSpPr>
          <p:nvPr>
            <p:ph type="title"/>
          </p:nvPr>
        </p:nvSpPr>
        <p:spPr/>
        <p:txBody>
          <a:bodyPr/>
          <a:lstStyle/>
          <a:p>
            <a:pPr eaLnBrk="1" hangingPunct="1">
              <a:defRPr/>
            </a:pPr>
            <a:r>
              <a:rPr lang="en-US">
                <a:ea typeface="+mj-ea"/>
              </a:rPr>
              <a:t>Summary (cont.)</a:t>
            </a:r>
          </a:p>
        </p:txBody>
      </p:sp>
      <p:sp>
        <p:nvSpPr>
          <p:cNvPr id="500739" name="Rectangle 3"/>
          <p:cNvSpPr>
            <a:spLocks noGrp="1" noChangeArrowheads="1"/>
          </p:cNvSpPr>
          <p:nvPr>
            <p:ph type="body" idx="1"/>
          </p:nvPr>
        </p:nvSpPr>
        <p:spPr/>
        <p:txBody>
          <a:bodyPr/>
          <a:lstStyle/>
          <a:p>
            <a:pPr eaLnBrk="1" hangingPunct="1"/>
            <a:r>
              <a:rPr lang="en-US" altLang="en-US" dirty="0"/>
              <a:t>The Internet Activities Board (IAB) published </a:t>
            </a:r>
            <a:r>
              <a:rPr lang="en-US" altLang="en-US" i="1" dirty="0"/>
              <a:t>RFC 1087: Ethics and the Internet</a:t>
            </a:r>
            <a:r>
              <a:rPr lang="en-US" altLang="en-US" dirty="0"/>
              <a:t>, a statement of ethics concerning the acceptable use of the Internet. </a:t>
            </a:r>
          </a:p>
          <a:p>
            <a:pPr eaLnBrk="1" hangingPunct="1"/>
            <a:r>
              <a:rPr lang="en-US" altLang="en-US" dirty="0"/>
              <a:t>Security professionals should always conduct themselves so as not to ever give even the appearance of violating an organization</a:t>
            </a:r>
            <a:r>
              <a:rPr lang="ja-JP" altLang="en-US" dirty="0"/>
              <a:t>’</a:t>
            </a:r>
            <a:r>
              <a:rPr lang="en-US" altLang="ja-JP" dirty="0"/>
              <a:t>s security policy or the (ISC)² Code </a:t>
            </a:r>
            <a:r>
              <a:rPr lang="en-US" altLang="ja-JP"/>
              <a:t>of Ethics. </a:t>
            </a:r>
            <a:endParaRPr lang="en-US" altLang="en-US" dirty="0"/>
          </a:p>
        </p:txBody>
      </p:sp>
      <p:sp>
        <p:nvSpPr>
          <p:cNvPr id="6" name="Rectangle 5"/>
          <p:cNvSpPr>
            <a:spLocks noChangeArrowheads="1"/>
          </p:cNvSpPr>
          <p:nvPr/>
        </p:nvSpPr>
        <p:spPr bwMode="auto">
          <a:xfrm>
            <a:off x="4130040" y="6459379"/>
            <a:ext cx="4343400" cy="39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rgbClr val="FFFFFF"/>
                </a:solidFill>
                <a:latin typeface="Times New Roman" panose="02020603050405020304" pitchFamily="18" charset="0"/>
              </a:defRPr>
            </a:lvl1pPr>
            <a:lvl2pPr marL="742950" indent="-285750" eaLnBrk="0" hangingPunct="0">
              <a:defRPr sz="2000">
                <a:solidFill>
                  <a:srgbClr val="FFFFFF"/>
                </a:solidFill>
                <a:latin typeface="Times New Roman" panose="02020603050405020304" pitchFamily="18" charset="0"/>
              </a:defRPr>
            </a:lvl2pPr>
            <a:lvl3pPr marL="1143000" indent="-228600" eaLnBrk="0" hangingPunct="0">
              <a:defRPr sz="2000">
                <a:solidFill>
                  <a:srgbClr val="FFFFFF"/>
                </a:solidFill>
                <a:latin typeface="Times New Roman" panose="02020603050405020304" pitchFamily="18" charset="0"/>
              </a:defRPr>
            </a:lvl3pPr>
            <a:lvl4pPr marL="1600200" indent="-228600" eaLnBrk="0" hangingPunct="0">
              <a:defRPr sz="2000">
                <a:solidFill>
                  <a:srgbClr val="FFFFFF"/>
                </a:solidFill>
                <a:latin typeface="Times New Roman" panose="02020603050405020304" pitchFamily="18" charset="0"/>
              </a:defRPr>
            </a:lvl4pPr>
            <a:lvl5pPr marL="2057400" indent="-228600" eaLnBrk="0" hangingPunct="0">
              <a:defRPr sz="2000">
                <a:solidFill>
                  <a:srgbClr val="FFFFFF"/>
                </a:solidFill>
                <a:latin typeface="Times New Roman" panose="02020603050405020304" pitchFamily="18" charset="0"/>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defRPr>
            </a:lvl9pPr>
          </a:lstStyle>
          <a:p>
            <a:pPr algn="ctr"/>
            <a:r>
              <a:rPr lang="en-US" sz="1000" kern="1200" baseline="0" dirty="0">
                <a:solidFill>
                  <a:schemeClr val="tx1"/>
                </a:solidFill>
                <a:effectLst/>
                <a:latin typeface="Times New Roman" panose="02020603050405020304" pitchFamily="18" charset="0"/>
                <a:ea typeface="+mn-ea"/>
                <a:cs typeface="+mn-cs"/>
              </a:rPr>
              <a:t>© 2016 Cengage Learning®. May not be scanned, copied or duplicated, or posted to a publicly accessible website, in whole or in part.</a:t>
            </a:r>
          </a:p>
        </p:txBody>
      </p:sp>
    </p:spTree>
    <p:extLst>
      <p:ext uri="{BB962C8B-B14F-4D97-AF65-F5344CB8AC3E}">
        <p14:creationId xmlns:p14="http://schemas.microsoft.com/office/powerpoint/2010/main" val="448320174"/>
      </p:ext>
    </p:extLst>
  </p:cSld>
  <p:clrMapOvr>
    <a:masterClrMapping/>
  </p:clrMapOvr>
</p:sld>
</file>

<file path=ppt/theme/theme1.xml><?xml version="1.0" encoding="utf-8"?>
<a:theme xmlns:a="http://schemas.openxmlformats.org/drawingml/2006/main" name="Theme1">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AB2D1CEE-C255-488F-B0DF-522ABE91D108}" vid="{8E3FC5E0-EB25-4EA8-B5BE-652EE2A80F29}"/>
    </a:ext>
  </a:extLst>
</a:theme>
</file>

<file path=ppt/theme/theme2.xml><?xml version="1.0" encoding="utf-8"?>
<a:theme xmlns:a="http://schemas.openxmlformats.org/drawingml/2006/main" name="3_Default Design">
  <a:themeElements>
    <a:clrScheme name="3_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3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3_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67</TotalTime>
  <Words>3801</Words>
  <Application>Microsoft Office PowerPoint</Application>
  <PresentationFormat>Widescreen</PresentationFormat>
  <Paragraphs>433</Paragraphs>
  <Slides>47</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47</vt:i4>
      </vt:variant>
    </vt:vector>
  </HeadingPairs>
  <TitlesOfParts>
    <vt:vector size="52" baseType="lpstr">
      <vt:lpstr>Arial</vt:lpstr>
      <vt:lpstr>Calibri</vt:lpstr>
      <vt:lpstr>Times New Roman</vt:lpstr>
      <vt:lpstr>Theme1</vt:lpstr>
      <vt:lpstr>3_Default Design</vt:lpstr>
      <vt:lpstr>CISSP Guide to Security Essentials,  Second Edition</vt:lpstr>
      <vt:lpstr>Objectives</vt:lpstr>
      <vt:lpstr>The Role of Computers in Crime</vt:lpstr>
      <vt:lpstr>The Role of Computers in Crime (cont.)</vt:lpstr>
      <vt:lpstr>The Role of Computers in Crime (cont.)</vt:lpstr>
      <vt:lpstr>Categories of Computer Crimes</vt:lpstr>
      <vt:lpstr>Political Espionage and Cyber-warfare</vt:lpstr>
      <vt:lpstr>Terrorism</vt:lpstr>
      <vt:lpstr>Theft and Fraud</vt:lpstr>
      <vt:lpstr>Commercial Espionage</vt:lpstr>
      <vt:lpstr>Harassment</vt:lpstr>
      <vt:lpstr>Hacktivism</vt:lpstr>
      <vt:lpstr>Cybervandalism</vt:lpstr>
      <vt:lpstr>Categories of U.S. Laws</vt:lpstr>
      <vt:lpstr>U.S. Computer Crime Laws</vt:lpstr>
      <vt:lpstr>U.S. Computer Crime Laws (cont.)</vt:lpstr>
      <vt:lpstr>U.S. Privacy Laws</vt:lpstr>
      <vt:lpstr>U.S. Privacy Laws (cont.)</vt:lpstr>
      <vt:lpstr>U.S. Computer Crime Laws</vt:lpstr>
      <vt:lpstr>Canadian Computer Crime Laws</vt:lpstr>
      <vt:lpstr>European Computer Crime Laws</vt:lpstr>
      <vt:lpstr>Laws in Other Countries</vt:lpstr>
      <vt:lpstr>Managing Compliance</vt:lpstr>
      <vt:lpstr>Security Incident Response</vt:lpstr>
      <vt:lpstr>Incident Declaration</vt:lpstr>
      <vt:lpstr>Triage, Investigation, Analysis</vt:lpstr>
      <vt:lpstr>Containment</vt:lpstr>
      <vt:lpstr>Recovery</vt:lpstr>
      <vt:lpstr>Debriefing</vt:lpstr>
      <vt:lpstr>Assumption of Breach</vt:lpstr>
      <vt:lpstr>Incident Management Preventive Measures</vt:lpstr>
      <vt:lpstr>Incident Response Training, Testing, and Maintenance</vt:lpstr>
      <vt:lpstr>Incident Response Models</vt:lpstr>
      <vt:lpstr>Types of Investigations</vt:lpstr>
      <vt:lpstr>Involving Law Enforcement</vt:lpstr>
      <vt:lpstr>Forensic Techniques and Procedures</vt:lpstr>
      <vt:lpstr>Forensics Techniques and Procedures (cont.)</vt:lpstr>
      <vt:lpstr>Identifying and Gathering Evidence</vt:lpstr>
      <vt:lpstr>Evidence Collection Techniques </vt:lpstr>
      <vt:lpstr>Preserving Evidence</vt:lpstr>
      <vt:lpstr>Presentation of Findings</vt:lpstr>
      <vt:lpstr>Codes of Conduct</vt:lpstr>
      <vt:lpstr>RFC 1087: Ethics and the Internet</vt:lpstr>
      <vt:lpstr>Guidance on Ethical Behavior</vt:lpstr>
      <vt:lpstr>Summary</vt:lpstr>
      <vt:lpstr>Summary (cont.)</vt:lpstr>
      <vt:lpstr>Summary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Regulations, Compliance and Investigations </dc:title>
  <dc:creator>Parenteau, Crystal</dc:creator>
  <cp:lastModifiedBy>Shafiq Alam</cp:lastModifiedBy>
  <cp:revision>7</cp:revision>
  <dcterms:created xsi:type="dcterms:W3CDTF">2015-02-09T15:04:14Z</dcterms:created>
  <dcterms:modified xsi:type="dcterms:W3CDTF">2023-08-04T01:20:08Z</dcterms:modified>
</cp:coreProperties>
</file>