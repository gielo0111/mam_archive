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58" r:id="rId4"/>
    <p:sldId id="259" r:id="rId5"/>
    <p:sldId id="257" r:id="rId6"/>
    <p:sldId id="261" r:id="rId7"/>
    <p:sldId id="262" r:id="rId8"/>
    <p:sldId id="265" r:id="rId9"/>
    <p:sldId id="263" r:id="rId10"/>
    <p:sldId id="264" r:id="rId11"/>
    <p:sldId id="266" r:id="rId12"/>
    <p:sldId id="268" r:id="rId13"/>
    <p:sldId id="269" r:id="rId14"/>
    <p:sldId id="270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6A0CBC-A1BF-6A0F-5EDE-D19B8D6955AA}" v="95" dt="2025-10-31T01:38:09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09"/>
    <p:restoredTop sz="94747"/>
  </p:normalViewPr>
  <p:slideViewPr>
    <p:cSldViewPr snapToGrid="0">
      <p:cViewPr varScale="1">
        <p:scale>
          <a:sx n="83" d="100"/>
          <a:sy n="83" d="100"/>
        </p:scale>
        <p:origin x="6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elo Joseph Fernandez" userId="S::gfer805@futureskills.co.nz::715dbc2e-6c36-49cf-a9f9-08ddcda55d00" providerId="AD" clId="Web-{F76A0CBC-A1BF-6A0F-5EDE-D19B8D6955AA}"/>
    <pc:docChg chg="modSld">
      <pc:chgData name="Gielo Joseph Fernandez" userId="S::gfer805@futureskills.co.nz::715dbc2e-6c36-49cf-a9f9-08ddcda55d00" providerId="AD" clId="Web-{F76A0CBC-A1BF-6A0F-5EDE-D19B8D6955AA}" dt="2025-10-31T01:38:06.112" v="88" actId="20577"/>
      <pc:docMkLst>
        <pc:docMk/>
      </pc:docMkLst>
      <pc:sldChg chg="modSp">
        <pc:chgData name="Gielo Joseph Fernandez" userId="S::gfer805@futureskills.co.nz::715dbc2e-6c36-49cf-a9f9-08ddcda55d00" providerId="AD" clId="Web-{F76A0CBC-A1BF-6A0F-5EDE-D19B8D6955AA}" dt="2025-10-31T00:52:13.986" v="0" actId="20577"/>
        <pc:sldMkLst>
          <pc:docMk/>
          <pc:sldMk cId="3849056878" sldId="256"/>
        </pc:sldMkLst>
        <pc:spChg chg="mod">
          <ac:chgData name="Gielo Joseph Fernandez" userId="S::gfer805@futureskills.co.nz::715dbc2e-6c36-49cf-a9f9-08ddcda55d00" providerId="AD" clId="Web-{F76A0CBC-A1BF-6A0F-5EDE-D19B8D6955AA}" dt="2025-10-31T00:52:13.986" v="0" actId="20577"/>
          <ac:spMkLst>
            <pc:docMk/>
            <pc:sldMk cId="3849056878" sldId="256"/>
            <ac:spMk id="2" creationId="{88BFA625-EAE1-8FBA-64E3-9ECCF9317944}"/>
          </ac:spMkLst>
        </pc:spChg>
      </pc:sldChg>
      <pc:sldChg chg="modSp">
        <pc:chgData name="Gielo Joseph Fernandez" userId="S::gfer805@futureskills.co.nz::715dbc2e-6c36-49cf-a9f9-08ddcda55d00" providerId="AD" clId="Web-{F76A0CBC-A1BF-6A0F-5EDE-D19B8D6955AA}" dt="2025-10-31T01:01:32.721" v="55" actId="20577"/>
        <pc:sldMkLst>
          <pc:docMk/>
          <pc:sldMk cId="4278062899" sldId="259"/>
        </pc:sldMkLst>
        <pc:spChg chg="mod">
          <ac:chgData name="Gielo Joseph Fernandez" userId="S::gfer805@futureskills.co.nz::715dbc2e-6c36-49cf-a9f9-08ddcda55d00" providerId="AD" clId="Web-{F76A0CBC-A1BF-6A0F-5EDE-D19B8D6955AA}" dt="2025-10-31T00:55:03.673" v="26" actId="20577"/>
          <ac:spMkLst>
            <pc:docMk/>
            <pc:sldMk cId="4278062899" sldId="259"/>
            <ac:spMk id="2" creationId="{EFA2E596-B3F1-AA22-1482-F1D3B98B2E89}"/>
          </ac:spMkLst>
        </pc:spChg>
        <pc:spChg chg="mod">
          <ac:chgData name="Gielo Joseph Fernandez" userId="S::gfer805@futureskills.co.nz::715dbc2e-6c36-49cf-a9f9-08ddcda55d00" providerId="AD" clId="Web-{F76A0CBC-A1BF-6A0F-5EDE-D19B8D6955AA}" dt="2025-10-31T01:01:32.721" v="55" actId="20577"/>
          <ac:spMkLst>
            <pc:docMk/>
            <pc:sldMk cId="4278062899" sldId="259"/>
            <ac:spMk id="3" creationId="{1DF0B140-4FA0-74A2-9225-F8BB694852E6}"/>
          </ac:spMkLst>
        </pc:spChg>
      </pc:sldChg>
      <pc:sldChg chg="modSp">
        <pc:chgData name="Gielo Joseph Fernandez" userId="S::gfer805@futureskills.co.nz::715dbc2e-6c36-49cf-a9f9-08ddcda55d00" providerId="AD" clId="Web-{F76A0CBC-A1BF-6A0F-5EDE-D19B8D6955AA}" dt="2025-10-31T01:12:59.335" v="58" actId="20577"/>
        <pc:sldMkLst>
          <pc:docMk/>
          <pc:sldMk cId="2853092114" sldId="261"/>
        </pc:sldMkLst>
        <pc:spChg chg="mod">
          <ac:chgData name="Gielo Joseph Fernandez" userId="S::gfer805@futureskills.co.nz::715dbc2e-6c36-49cf-a9f9-08ddcda55d00" providerId="AD" clId="Web-{F76A0CBC-A1BF-6A0F-5EDE-D19B8D6955AA}" dt="2025-10-31T01:12:59.335" v="58" actId="20577"/>
          <ac:spMkLst>
            <pc:docMk/>
            <pc:sldMk cId="2853092114" sldId="261"/>
            <ac:spMk id="3" creationId="{3E2E6AE4-B71D-90A8-E66F-7EF63FC84F3A}"/>
          </ac:spMkLst>
        </pc:spChg>
      </pc:sldChg>
      <pc:sldChg chg="modSp">
        <pc:chgData name="Gielo Joseph Fernandez" userId="S::gfer805@futureskills.co.nz::715dbc2e-6c36-49cf-a9f9-08ddcda55d00" providerId="AD" clId="Web-{F76A0CBC-A1BF-6A0F-5EDE-D19B8D6955AA}" dt="2025-10-31T01:13:39.918" v="61" actId="20577"/>
        <pc:sldMkLst>
          <pc:docMk/>
          <pc:sldMk cId="2380806014" sldId="262"/>
        </pc:sldMkLst>
        <pc:spChg chg="mod">
          <ac:chgData name="Gielo Joseph Fernandez" userId="S::gfer805@futureskills.co.nz::715dbc2e-6c36-49cf-a9f9-08ddcda55d00" providerId="AD" clId="Web-{F76A0CBC-A1BF-6A0F-5EDE-D19B8D6955AA}" dt="2025-10-31T01:13:39.918" v="61" actId="20577"/>
          <ac:spMkLst>
            <pc:docMk/>
            <pc:sldMk cId="2380806014" sldId="262"/>
            <ac:spMk id="3" creationId="{D5F1C032-9F3A-6EE0-AA87-FBE9A5420077}"/>
          </ac:spMkLst>
        </pc:spChg>
      </pc:sldChg>
      <pc:sldChg chg="modSp">
        <pc:chgData name="Gielo Joseph Fernandez" userId="S::gfer805@futureskills.co.nz::715dbc2e-6c36-49cf-a9f9-08ddcda55d00" providerId="AD" clId="Web-{F76A0CBC-A1BF-6A0F-5EDE-D19B8D6955AA}" dt="2025-10-31T01:38:06.112" v="88" actId="20577"/>
        <pc:sldMkLst>
          <pc:docMk/>
          <pc:sldMk cId="2371238363" sldId="263"/>
        </pc:sldMkLst>
        <pc:spChg chg="mod">
          <ac:chgData name="Gielo Joseph Fernandez" userId="S::gfer805@futureskills.co.nz::715dbc2e-6c36-49cf-a9f9-08ddcda55d00" providerId="AD" clId="Web-{F76A0CBC-A1BF-6A0F-5EDE-D19B8D6955AA}" dt="2025-10-31T01:38:06.112" v="88" actId="20577"/>
          <ac:spMkLst>
            <pc:docMk/>
            <pc:sldMk cId="2371238363" sldId="263"/>
            <ac:spMk id="3" creationId="{36586829-AB4C-061A-B326-A5EE935FE296}"/>
          </ac:spMkLst>
        </pc:spChg>
      </pc:sldChg>
      <pc:sldChg chg="modSp">
        <pc:chgData name="Gielo Joseph Fernandez" userId="S::gfer805@futureskills.co.nz::715dbc2e-6c36-49cf-a9f9-08ddcda55d00" providerId="AD" clId="Web-{F76A0CBC-A1BF-6A0F-5EDE-D19B8D6955AA}" dt="2025-10-31T01:31:50.130" v="87" actId="20577"/>
        <pc:sldMkLst>
          <pc:docMk/>
          <pc:sldMk cId="3145302383" sldId="264"/>
        </pc:sldMkLst>
        <pc:spChg chg="mod">
          <ac:chgData name="Gielo Joseph Fernandez" userId="S::gfer805@futureskills.co.nz::715dbc2e-6c36-49cf-a9f9-08ddcda55d00" providerId="AD" clId="Web-{F76A0CBC-A1BF-6A0F-5EDE-D19B8D6955AA}" dt="2025-10-31T01:31:50.130" v="87" actId="20577"/>
          <ac:spMkLst>
            <pc:docMk/>
            <pc:sldMk cId="3145302383" sldId="264"/>
            <ac:spMk id="3" creationId="{2CADDD0B-CBFE-77BD-D748-127D9F66311F}"/>
          </ac:spMkLst>
        </pc:spChg>
      </pc:sldChg>
      <pc:sldChg chg="modSp">
        <pc:chgData name="Gielo Joseph Fernandez" userId="S::gfer805@futureskills.co.nz::715dbc2e-6c36-49cf-a9f9-08ddcda55d00" providerId="AD" clId="Web-{F76A0CBC-A1BF-6A0F-5EDE-D19B8D6955AA}" dt="2025-10-31T01:30:03.409" v="84" actId="20577"/>
        <pc:sldMkLst>
          <pc:docMk/>
          <pc:sldMk cId="3167467784" sldId="266"/>
        </pc:sldMkLst>
        <pc:spChg chg="mod">
          <ac:chgData name="Gielo Joseph Fernandez" userId="S::gfer805@futureskills.co.nz::715dbc2e-6c36-49cf-a9f9-08ddcda55d00" providerId="AD" clId="Web-{F76A0CBC-A1BF-6A0F-5EDE-D19B8D6955AA}" dt="2025-10-31T01:30:03.409" v="84" actId="20577"/>
          <ac:spMkLst>
            <pc:docMk/>
            <pc:sldMk cId="3167467784" sldId="266"/>
            <ac:spMk id="3" creationId="{17AACAC2-4974-2E36-CB1B-06FA22401B67}"/>
          </ac:spMkLst>
        </pc:spChg>
      </pc:sldChg>
      <pc:sldChg chg="modSp">
        <pc:chgData name="Gielo Joseph Fernandez" userId="S::gfer805@futureskills.co.nz::715dbc2e-6c36-49cf-a9f9-08ddcda55d00" providerId="AD" clId="Web-{F76A0CBC-A1BF-6A0F-5EDE-D19B8D6955AA}" dt="2025-10-31T00:55:38.330" v="31" actId="20577"/>
        <pc:sldMkLst>
          <pc:docMk/>
          <pc:sldMk cId="2075164489" sldId="270"/>
        </pc:sldMkLst>
        <pc:spChg chg="mod">
          <ac:chgData name="Gielo Joseph Fernandez" userId="S::gfer805@futureskills.co.nz::715dbc2e-6c36-49cf-a9f9-08ddcda55d00" providerId="AD" clId="Web-{F76A0CBC-A1BF-6A0F-5EDE-D19B8D6955AA}" dt="2025-10-31T00:55:38.330" v="31" actId="20577"/>
          <ac:spMkLst>
            <pc:docMk/>
            <pc:sldMk cId="2075164489" sldId="270"/>
            <ac:spMk id="3" creationId="{11AE1763-5553-3F1B-A9D4-25E19E39957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FA625-EAE1-8FBA-64E3-9ECCF9317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7463" y="2260488"/>
            <a:ext cx="8637073" cy="2541431"/>
          </a:xfrm>
        </p:spPr>
        <p:txBody>
          <a:bodyPr>
            <a:normAutofit fontScale="90000"/>
          </a:bodyPr>
          <a:lstStyle/>
          <a:p>
            <a:r>
              <a:rPr lang="en-US" dirty="0"/>
              <a:t>Software Quality Assurance in Southern Cross Travel Insurance</a:t>
            </a:r>
          </a:p>
        </p:txBody>
      </p:sp>
    </p:spTree>
    <p:extLst>
      <p:ext uri="{BB962C8B-B14F-4D97-AF65-F5344CB8AC3E}">
        <p14:creationId xmlns:p14="http://schemas.microsoft.com/office/powerpoint/2010/main" val="3849056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1657C-B847-7621-232C-9F65B200B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Quality Assurance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BA53C-8F49-719C-B93F-D3429B43D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Defined as a systematic approach intended to ensure that software development, maintenance processes, and products meet high standards and established requirements (Bhattarai, 2024). </a:t>
            </a:r>
          </a:p>
        </p:txBody>
      </p:sp>
    </p:spTree>
    <p:extLst>
      <p:ext uri="{BB962C8B-B14F-4D97-AF65-F5344CB8AC3E}">
        <p14:creationId xmlns:p14="http://schemas.microsoft.com/office/powerpoint/2010/main" val="2059425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42D8EA-8D4A-8D83-11C1-A994A950BB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2368658"/>
            <a:ext cx="9603275" cy="3450613"/>
          </a:xfrm>
        </p:spPr>
        <p:txBody>
          <a:bodyPr>
            <a:normAutofit/>
          </a:bodyPr>
          <a:lstStyle/>
          <a:p>
            <a:r>
              <a:rPr lang="en-US" sz="2400" dirty="0"/>
              <a:t>New Zealand’s leading health insurance provider, with products focusing on the following:</a:t>
            </a:r>
          </a:p>
          <a:p>
            <a:pPr lvl="1"/>
            <a:r>
              <a:rPr lang="en-US" sz="2000" dirty="0"/>
              <a:t>Healthcare and Hospitals</a:t>
            </a:r>
          </a:p>
          <a:p>
            <a:pPr lvl="1"/>
            <a:r>
              <a:rPr lang="en-US" sz="2000" dirty="0"/>
              <a:t>Health Insurance</a:t>
            </a:r>
          </a:p>
          <a:p>
            <a:pPr lvl="1"/>
            <a:r>
              <a:rPr lang="en-US" sz="2000" dirty="0"/>
              <a:t>Pet Insurance</a:t>
            </a:r>
          </a:p>
          <a:p>
            <a:pPr lvl="1"/>
            <a:r>
              <a:rPr lang="en-US" sz="2000" dirty="0"/>
              <a:t>Travel Insurance</a:t>
            </a:r>
          </a:p>
          <a:p>
            <a:pPr lvl="1"/>
            <a:r>
              <a:rPr lang="en-US" sz="2000" dirty="0"/>
              <a:t>Life Insurance</a:t>
            </a:r>
          </a:p>
        </p:txBody>
      </p:sp>
      <p:pic>
        <p:nvPicPr>
          <p:cNvPr id="5" name="Picture 4" descr="Blue text on a black background&#10;&#10;AI-generated content may be incorrect.">
            <a:extLst>
              <a:ext uri="{FF2B5EF4-FFF2-40B4-BE49-F238E27FC236}">
                <a16:creationId xmlns:a16="http://schemas.microsoft.com/office/drawing/2014/main" id="{35876BCC-A718-0623-1CD3-334F5023D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1" y="-639894"/>
            <a:ext cx="7772400" cy="335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89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2E596-B3F1-AA22-1482-F1D3B98B2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Problem FOR southern cross TRAVEL INSURANCE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0B140-4FA0-74A2-9225-F8BB69485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External</a:t>
            </a:r>
          </a:p>
          <a:p>
            <a:pPr lvl="1"/>
            <a:r>
              <a:rPr lang="en-US" dirty="0"/>
              <a:t>Bugs detected by customers in production.</a:t>
            </a:r>
          </a:p>
          <a:p>
            <a:r>
              <a:rPr lang="en-US" dirty="0"/>
              <a:t>Internal</a:t>
            </a:r>
          </a:p>
          <a:p>
            <a:pPr lvl="1"/>
            <a:r>
              <a:rPr lang="en-US" dirty="0"/>
              <a:t>Issues with Compliance check done later in the development</a:t>
            </a:r>
          </a:p>
          <a:p>
            <a:pPr lvl="1"/>
            <a:r>
              <a:rPr lang="en-US" dirty="0"/>
              <a:t>Specialist Mindset, Organizational Silos and lack of collaboration</a:t>
            </a:r>
          </a:p>
          <a:p>
            <a:pPr lvl="1"/>
            <a:r>
              <a:rPr lang="en-US" dirty="0"/>
              <a:t>Struggles with collaboration with customers/insurance brokers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8062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4E94C-4214-7F7C-A6D0-BBED7D98F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6F17C-6207-79FB-AE25-E0B90D491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4 Agile Manifesto Values</a:t>
            </a:r>
          </a:p>
          <a:p>
            <a:pPr lvl="1"/>
            <a:r>
              <a:rPr lang="en-US" sz="2400" dirty="0"/>
              <a:t>Individuals and Interactions</a:t>
            </a:r>
          </a:p>
          <a:p>
            <a:pPr lvl="1"/>
            <a:r>
              <a:rPr lang="en-US" sz="2400" dirty="0"/>
              <a:t>Working Software</a:t>
            </a:r>
          </a:p>
          <a:p>
            <a:pPr lvl="1"/>
            <a:r>
              <a:rPr lang="en-US" sz="2400" dirty="0"/>
              <a:t>Customer Collaboration</a:t>
            </a:r>
          </a:p>
          <a:p>
            <a:pPr lvl="1"/>
            <a:r>
              <a:rPr lang="en-US" sz="2400" dirty="0"/>
              <a:t>Responding to change</a:t>
            </a:r>
          </a:p>
        </p:txBody>
      </p:sp>
    </p:spTree>
    <p:extLst>
      <p:ext uri="{BB962C8B-B14F-4D97-AF65-F5344CB8AC3E}">
        <p14:creationId xmlns:p14="http://schemas.microsoft.com/office/powerpoint/2010/main" val="322957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2D77-EFBA-C8D2-1E07-24FF9A45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E6AE4-B71D-90A8-E66F-7EF63FC84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1800" dirty="0"/>
              <a:t>SCRUM</a:t>
            </a:r>
          </a:p>
          <a:p>
            <a:pPr lvl="1"/>
            <a:r>
              <a:rPr lang="en-US" sz="1600" dirty="0"/>
              <a:t>Product Owner</a:t>
            </a:r>
          </a:p>
          <a:p>
            <a:pPr lvl="1"/>
            <a:r>
              <a:rPr lang="en-US" sz="1600" dirty="0"/>
              <a:t>Scrum Master</a:t>
            </a:r>
          </a:p>
          <a:p>
            <a:pPr lvl="1"/>
            <a:r>
              <a:rPr lang="en-US" sz="1600" dirty="0"/>
              <a:t>Development Teams </a:t>
            </a:r>
          </a:p>
          <a:p>
            <a:pPr lvl="1"/>
            <a:r>
              <a:rPr lang="en-US" sz="1600" dirty="0"/>
              <a:t>Scrum Ceremonies</a:t>
            </a:r>
          </a:p>
          <a:p>
            <a:pPr lvl="1"/>
            <a:r>
              <a:rPr lang="en-US" sz="1600" dirty="0"/>
              <a:t>Self-Managing</a:t>
            </a:r>
          </a:p>
          <a:p>
            <a:r>
              <a:rPr lang="en-US" sz="1800" dirty="0"/>
              <a:t>Extreme Programming</a:t>
            </a:r>
          </a:p>
          <a:p>
            <a:pPr lvl="1"/>
            <a:r>
              <a:rPr lang="en-US" sz="1600" dirty="0"/>
              <a:t>Shift Left Testing</a:t>
            </a:r>
          </a:p>
          <a:p>
            <a:r>
              <a:rPr lang="en-US" sz="1800" dirty="0"/>
              <a:t>Kanban</a:t>
            </a:r>
          </a:p>
          <a:p>
            <a:pPr lvl="1"/>
            <a:r>
              <a:rPr lang="en-US" sz="1600" dirty="0"/>
              <a:t>Work In Progress Limit</a:t>
            </a:r>
          </a:p>
        </p:txBody>
      </p:sp>
    </p:spTree>
    <p:extLst>
      <p:ext uri="{BB962C8B-B14F-4D97-AF65-F5344CB8AC3E}">
        <p14:creationId xmlns:p14="http://schemas.microsoft.com/office/powerpoint/2010/main" val="2853092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9CE6C-434E-340B-104D-997DC9486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SOUTHERN CROSS CAN BENEFIT FROM AGILE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1C032-9F3A-6EE0-AA87-FBE9A5420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Self-Managing</a:t>
            </a:r>
          </a:p>
          <a:p>
            <a:pPr lvl="1"/>
            <a:r>
              <a:rPr lang="en-US" sz="2000" dirty="0"/>
              <a:t>Full-Stack Mindset</a:t>
            </a:r>
          </a:p>
          <a:p>
            <a:pPr lvl="2"/>
            <a:r>
              <a:rPr lang="en-US" sz="1800" dirty="0"/>
              <a:t>Scrum Master</a:t>
            </a:r>
          </a:p>
          <a:p>
            <a:pPr lvl="2"/>
            <a:r>
              <a:rPr lang="en-US" sz="1800" dirty="0"/>
              <a:t>Product Owner</a:t>
            </a:r>
          </a:p>
          <a:p>
            <a:pPr lvl="2"/>
            <a:r>
              <a:rPr lang="en-US" sz="1800" dirty="0"/>
              <a:t>Development Team</a:t>
            </a:r>
          </a:p>
          <a:p>
            <a:pPr lvl="1"/>
            <a:r>
              <a:rPr lang="en-US" sz="2000" dirty="0"/>
              <a:t>Knowledge Sharing</a:t>
            </a:r>
          </a:p>
          <a:p>
            <a:pPr lvl="1"/>
            <a:r>
              <a:rPr lang="en-US" sz="2000" dirty="0"/>
              <a:t>Collaboration and Co-Pairing</a:t>
            </a:r>
          </a:p>
          <a:p>
            <a:pPr lvl="2"/>
            <a:r>
              <a:rPr lang="en-US" sz="1800" dirty="0"/>
              <a:t>Work In Progress Limit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080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6198-D99F-ABEA-AD87-9D57057A6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4B6EB-34E7-05C5-45C6-2927AB720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SOUTHERN CROSS CAN BENEFIT FROM AGILE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EDF57-AF81-4A93-DC39-F90509751B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Utilizing Product Owner</a:t>
            </a:r>
          </a:p>
          <a:p>
            <a:pPr lvl="1"/>
            <a:r>
              <a:rPr lang="en-US" sz="2000" dirty="0"/>
              <a:t>Product Owner is responsible by acting as the customer within the development team.</a:t>
            </a:r>
          </a:p>
          <a:p>
            <a:pPr lvl="1"/>
            <a:r>
              <a:rPr lang="en-US" sz="2000" dirty="0"/>
              <a:t>Product Owner acts as tester of features.</a:t>
            </a:r>
          </a:p>
          <a:p>
            <a:pPr lvl="1"/>
            <a:r>
              <a:rPr lang="en-US" sz="2000" dirty="0"/>
              <a:t>Ensures that customer requirements are met.</a:t>
            </a:r>
          </a:p>
        </p:txBody>
      </p:sp>
    </p:spTree>
    <p:extLst>
      <p:ext uri="{BB962C8B-B14F-4D97-AF65-F5344CB8AC3E}">
        <p14:creationId xmlns:p14="http://schemas.microsoft.com/office/powerpoint/2010/main" val="1006116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3FF3-FB61-804E-96EE-D32EC9321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SOUTHERN CROSS CAN BENEFIT FROM AGILE FRAMEWORKS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586829-AB4C-061A-B326-A5EE935FE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SHIFT LEFT TESTING</a:t>
            </a:r>
          </a:p>
          <a:p>
            <a:pPr lvl="1"/>
            <a:r>
              <a:rPr lang="en-US" sz="2000" dirty="0"/>
              <a:t>Integrating Test Activities Early in the Software Development Life Cycle (SDLC)</a:t>
            </a:r>
          </a:p>
          <a:p>
            <a:pPr lvl="1"/>
            <a:r>
              <a:rPr lang="en-US" sz="2000" dirty="0"/>
              <a:t>Early detection and mitigation</a:t>
            </a:r>
          </a:p>
          <a:p>
            <a:pPr lvl="1"/>
            <a:r>
              <a:rPr lang="en-US" sz="2000" dirty="0"/>
              <a:t>Utilizing Automated Scripts</a:t>
            </a:r>
          </a:p>
          <a:p>
            <a:pPr lvl="1"/>
            <a:r>
              <a:rPr lang="en-US" sz="2000" dirty="0"/>
              <a:t>Tools Used: Jenkins, GitHub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2383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F030F-DC85-B8B1-2189-5D35A0112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SOUTHERN CROSS CAN BENEFIT FROM AGILE FRAMEWORKS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DDD0B-CBFE-77BD-D748-127D9F663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2000" dirty="0"/>
              <a:t>SHIFT LEFT TESTING</a:t>
            </a:r>
          </a:p>
          <a:p>
            <a:pPr lvl="2"/>
            <a:r>
              <a:rPr lang="en-US" sz="1800" dirty="0"/>
              <a:t>Test Activities</a:t>
            </a:r>
          </a:p>
          <a:p>
            <a:pPr lvl="3"/>
            <a:r>
              <a:rPr lang="en-US" sz="1600" dirty="0"/>
              <a:t>Unit Tests</a:t>
            </a:r>
          </a:p>
          <a:p>
            <a:pPr lvl="3"/>
            <a:r>
              <a:rPr lang="en-US" sz="1600" dirty="0" err="1"/>
              <a:t>Snyk</a:t>
            </a:r>
            <a:r>
              <a:rPr lang="en-US" sz="1600" dirty="0"/>
              <a:t> for detecting vulnerabilities (Wiklund, 2024)</a:t>
            </a:r>
          </a:p>
          <a:p>
            <a:pPr lvl="3"/>
            <a:r>
              <a:rPr lang="en-US" sz="1600" dirty="0" err="1"/>
              <a:t>Sonarqube</a:t>
            </a:r>
            <a:r>
              <a:rPr lang="en-US" sz="1600" dirty="0"/>
              <a:t> for compliance on coding rules (Lenarduzzi et al., 2020)</a:t>
            </a:r>
          </a:p>
          <a:p>
            <a:pPr lvl="3"/>
            <a:r>
              <a:rPr lang="en-US" sz="1600" dirty="0"/>
              <a:t>HIPC / HIPAA for regulating patient data confidentiality (</a:t>
            </a:r>
            <a:r>
              <a:rPr lang="en-US" sz="1600" dirty="0" err="1"/>
              <a:t>Aradhyula</a:t>
            </a:r>
            <a:r>
              <a:rPr lang="en-US" sz="1600" dirty="0"/>
              <a:t>, 2025)</a:t>
            </a:r>
          </a:p>
          <a:p>
            <a:pPr lvl="3"/>
            <a:r>
              <a:rPr lang="en-NZ" sz="1600" dirty="0"/>
              <a:t>Privacy Act 2020 / GDPR for governing data privacy and protection in the European Union (Shekhar, 2021) </a:t>
            </a:r>
          </a:p>
          <a:p>
            <a:pPr lvl="3"/>
            <a:r>
              <a:rPr lang="en-NZ" sz="1600" dirty="0"/>
              <a:t>Solvency II for regulating the amount of capital that insurance companies must hold to reduce the risk of insolvency (Shekhar, 2021)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3023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83C2-2AE4-5854-C9F5-1EFF6C4AF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 of AGILE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ACAC2-4974-2E36-CB1B-06FA22401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Upfront Cost on quality</a:t>
            </a:r>
          </a:p>
          <a:p>
            <a:r>
              <a:rPr lang="en-US" dirty="0"/>
              <a:t>Dependent on Good/Experienced Individuals/Seniors</a:t>
            </a:r>
          </a:p>
        </p:txBody>
      </p:sp>
    </p:spTree>
    <p:extLst>
      <p:ext uri="{BB962C8B-B14F-4D97-AF65-F5344CB8AC3E}">
        <p14:creationId xmlns:p14="http://schemas.microsoft.com/office/powerpoint/2010/main" val="3167467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57F19-1C30-A9F1-3331-13323B45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Privacy ACT 2020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9614C-C38A-C51B-2AC4-0D86C5710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Focused on data’s</a:t>
            </a:r>
            <a:r>
              <a:rPr lang="en-US" dirty="0"/>
              <a:t> purpose, collection, use, disclosure, accuracy, security, access, correction, retention, cross-border flows, etc. (Office of the Privacy Commissioner | Privacy Act 2020, n.d.)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593089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10827-3566-B039-9FC5-9208056F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How Privacy act 2020 can be incorporated with agile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77267-1CBF-5E91-CB1B-695078E16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Ensuring Privacy By Design in Architecture during the early stages of development</a:t>
            </a:r>
          </a:p>
          <a:p>
            <a:r>
              <a:rPr lang="en-NZ" dirty="0"/>
              <a:t>Including Privacy Act 2020 in requirement artifacts, typically epics and user stories.</a:t>
            </a:r>
          </a:p>
          <a:p>
            <a:pPr lvl="1"/>
            <a:r>
              <a:rPr lang="en-NZ"/>
              <a:t>Sprint </a:t>
            </a:r>
            <a:r>
              <a:rPr lang="en-NZ" dirty="0"/>
              <a:t>ceremonies: sprint planning, retrospective, review, backlog refinement, scrum of scrums, daily standups </a:t>
            </a:r>
          </a:p>
          <a:p>
            <a:r>
              <a:rPr lang="en-NZ" dirty="0"/>
              <a:t>Prioritizing Privacy Act through privacy awareness and training.</a:t>
            </a:r>
          </a:p>
          <a:p>
            <a:pPr lvl="1"/>
            <a:r>
              <a:rPr lang="en-NZ" dirty="0"/>
              <a:t>Developers are trained, educated, and regularly updated</a:t>
            </a:r>
          </a:p>
        </p:txBody>
      </p:sp>
    </p:spTree>
    <p:extLst>
      <p:ext uri="{BB962C8B-B14F-4D97-AF65-F5344CB8AC3E}">
        <p14:creationId xmlns:p14="http://schemas.microsoft.com/office/powerpoint/2010/main" val="127347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F549E-325B-3070-8E0B-EA78869DB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 dirty="0"/>
              <a:t>ISO 9001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E1763-5553-3F1B-A9D4-25E19E399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Z" dirty="0"/>
              <a:t>Ongoing</a:t>
            </a:r>
          </a:p>
        </p:txBody>
      </p:sp>
    </p:spTree>
    <p:extLst>
      <p:ext uri="{BB962C8B-B14F-4D97-AF65-F5344CB8AC3E}">
        <p14:creationId xmlns:p14="http://schemas.microsoft.com/office/powerpoint/2010/main" val="2075164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FA284-794C-1B06-AE3E-2166FEFD3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521134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149</TotalTime>
  <Words>468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Gallery</vt:lpstr>
      <vt:lpstr>Software Quality Assurance in Southern Cross Travel Insurance</vt:lpstr>
      <vt:lpstr>Software Quality Assurance</vt:lpstr>
      <vt:lpstr>PowerPoint Presentation</vt:lpstr>
      <vt:lpstr>Problem FOR southern cross TRAVEL INSURANCE </vt:lpstr>
      <vt:lpstr>Agile Methodology</vt:lpstr>
      <vt:lpstr>AGILE FRAMEWORKS</vt:lpstr>
      <vt:lpstr>HOW SOUTHERN CROSS CAN BENEFIT FROM AGILE FRAMEWORKS</vt:lpstr>
      <vt:lpstr>HOW SOUTHERN CROSS CAN BENEFIT FROM AGILE FRAMEWORKS</vt:lpstr>
      <vt:lpstr>HOW SOUTHERN CROSS CAN BENEFIT FROM AGILE FRAMEWORKS </vt:lpstr>
      <vt:lpstr>HOW SOUTHERN CROSS CAN BENEFIT FROM AGILE FRAMEWORKS</vt:lpstr>
      <vt:lpstr>Weaknesses of AGILE</vt:lpstr>
      <vt:lpstr>Privacy ACT 2020</vt:lpstr>
      <vt:lpstr>How Privacy act 2020 can be incorporated with agile framework</vt:lpstr>
      <vt:lpstr>ISO 9001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GIELO</dc:creator>
  <cp:lastModifiedBy>Gielo Joseph Fernandez</cp:lastModifiedBy>
  <cp:revision>101</cp:revision>
  <dcterms:created xsi:type="dcterms:W3CDTF">2025-10-28T19:44:03Z</dcterms:created>
  <dcterms:modified xsi:type="dcterms:W3CDTF">2025-10-31T01:38:16Z</dcterms:modified>
</cp:coreProperties>
</file>