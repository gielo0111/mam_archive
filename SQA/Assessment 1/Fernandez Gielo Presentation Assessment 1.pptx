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  <p:sldId id="261" r:id="rId7"/>
    <p:sldId id="262" r:id="rId8"/>
    <p:sldId id="265" r:id="rId9"/>
    <p:sldId id="263" r:id="rId10"/>
    <p:sldId id="264" r:id="rId11"/>
    <p:sldId id="266" r:id="rId12"/>
    <p:sldId id="268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/>
    <p:restoredTop sz="94747"/>
  </p:normalViewPr>
  <p:slideViewPr>
    <p:cSldViewPr snapToGrid="0">
      <p:cViewPr varScale="1">
        <p:scale>
          <a:sx n="82" d="100"/>
          <a:sy n="82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A625-EAE1-8FBA-64E3-9ECCF931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2260488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Quality Assurance in </a:t>
            </a:r>
            <a:r>
              <a:rPr lang="en-US"/>
              <a:t>Southern Cross </a:t>
            </a:r>
            <a:r>
              <a:rPr lang="en-US" dirty="0"/>
              <a:t>Travel Insurance</a:t>
            </a:r>
          </a:p>
        </p:txBody>
      </p:sp>
    </p:spTree>
    <p:extLst>
      <p:ext uri="{BB962C8B-B14F-4D97-AF65-F5344CB8AC3E}">
        <p14:creationId xmlns:p14="http://schemas.microsoft.com/office/powerpoint/2010/main" val="384905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657C-B847-7621-232C-9F65B200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A53C-8F49-719C-B93F-D3429B43D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Defined as a systematic approach intended to ensure that software development, maintenance processes, and products meet high standards and established requirements (Bhattarai, 2024). </a:t>
            </a:r>
          </a:p>
        </p:txBody>
      </p:sp>
    </p:spTree>
    <p:extLst>
      <p:ext uri="{BB962C8B-B14F-4D97-AF65-F5344CB8AC3E}">
        <p14:creationId xmlns:p14="http://schemas.microsoft.com/office/powerpoint/2010/main" val="205942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2D8EA-8D4A-8D83-11C1-A994A950B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368658"/>
            <a:ext cx="9603275" cy="3450613"/>
          </a:xfrm>
        </p:spPr>
        <p:txBody>
          <a:bodyPr>
            <a:normAutofit/>
          </a:bodyPr>
          <a:lstStyle/>
          <a:p>
            <a:r>
              <a:rPr lang="en-US" sz="2400" dirty="0"/>
              <a:t>New Zealand’s leading health insurance provider, with products focusing on the following:</a:t>
            </a:r>
          </a:p>
          <a:p>
            <a:pPr lvl="1"/>
            <a:r>
              <a:rPr lang="en-US" sz="2000" dirty="0"/>
              <a:t>Healthcare and Hospitals</a:t>
            </a:r>
          </a:p>
          <a:p>
            <a:pPr lvl="1"/>
            <a:r>
              <a:rPr lang="en-US" sz="2000" dirty="0"/>
              <a:t>Health Insurance</a:t>
            </a:r>
          </a:p>
          <a:p>
            <a:pPr lvl="1"/>
            <a:r>
              <a:rPr lang="en-US" sz="2000" dirty="0"/>
              <a:t>Pet Insurance</a:t>
            </a:r>
          </a:p>
          <a:p>
            <a:pPr lvl="1"/>
            <a:r>
              <a:rPr lang="en-US" sz="2000" dirty="0"/>
              <a:t>Travel Insurance</a:t>
            </a:r>
          </a:p>
          <a:p>
            <a:pPr lvl="1"/>
            <a:r>
              <a:rPr lang="en-US" sz="2000" dirty="0"/>
              <a:t>Life Insurance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35876BCC-A718-0623-1CD3-334F5023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-639894"/>
            <a:ext cx="7772400" cy="33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8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E596-B3F1-AA22-1482-F1D3B98B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 TRAVEL INSURANCE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0B140-4FA0-74A2-9225-F8BB6948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</a:t>
            </a:r>
          </a:p>
          <a:p>
            <a:pPr lvl="1"/>
            <a:r>
              <a:rPr lang="en-US" dirty="0"/>
              <a:t>Issues with Compliance check done late in the development</a:t>
            </a:r>
          </a:p>
          <a:p>
            <a:pPr lvl="1"/>
            <a:r>
              <a:rPr lang="en-US" dirty="0"/>
              <a:t>Specialist Mindset, Organizational Silos and lack of collaboration</a:t>
            </a:r>
          </a:p>
          <a:p>
            <a:pPr lvl="1"/>
            <a:r>
              <a:rPr lang="en-US" dirty="0"/>
              <a:t>Struggles with collaboration with customers/insurance brokers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06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E94C-4214-7F7C-A6D0-BBED7D98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F17C-6207-79FB-AE25-E0B90D491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4 Agile Manifesto Values</a:t>
            </a:r>
          </a:p>
          <a:p>
            <a:pPr lvl="1"/>
            <a:r>
              <a:rPr lang="en-US" sz="2400" dirty="0"/>
              <a:t>Individuals and Interactions</a:t>
            </a:r>
          </a:p>
          <a:p>
            <a:pPr lvl="1"/>
            <a:r>
              <a:rPr lang="en-US" sz="2400" dirty="0"/>
              <a:t>Working Software</a:t>
            </a:r>
          </a:p>
          <a:p>
            <a:pPr lvl="1"/>
            <a:r>
              <a:rPr lang="en-US" sz="2400" dirty="0"/>
              <a:t>Customer Collaboration</a:t>
            </a:r>
          </a:p>
          <a:p>
            <a:pPr lvl="1"/>
            <a:r>
              <a:rPr lang="en-US" sz="2400" dirty="0"/>
              <a:t>Responding to change</a:t>
            </a:r>
          </a:p>
        </p:txBody>
      </p:sp>
    </p:spTree>
    <p:extLst>
      <p:ext uri="{BB962C8B-B14F-4D97-AF65-F5344CB8AC3E}">
        <p14:creationId xmlns:p14="http://schemas.microsoft.com/office/powerpoint/2010/main" val="322957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2D77-EFBA-C8D2-1E07-24FF9A45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E6AE4-B71D-90A8-E66F-7EF63FC84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SCRUM</a:t>
            </a:r>
          </a:p>
          <a:p>
            <a:pPr lvl="1"/>
            <a:r>
              <a:rPr lang="en-US" sz="1600" dirty="0"/>
              <a:t>Product Owner</a:t>
            </a:r>
          </a:p>
          <a:p>
            <a:pPr lvl="1"/>
            <a:r>
              <a:rPr lang="en-US" sz="1600" dirty="0"/>
              <a:t>Scrum Master</a:t>
            </a:r>
          </a:p>
          <a:p>
            <a:pPr lvl="1"/>
            <a:r>
              <a:rPr lang="en-US" sz="1600" dirty="0"/>
              <a:t>Development Teams </a:t>
            </a:r>
          </a:p>
          <a:p>
            <a:pPr lvl="1"/>
            <a:r>
              <a:rPr lang="en-US" sz="1600" dirty="0"/>
              <a:t>Scrum Ceremonies</a:t>
            </a:r>
          </a:p>
          <a:p>
            <a:pPr lvl="1"/>
            <a:r>
              <a:rPr lang="en-US" sz="1600" dirty="0"/>
              <a:t>Self-Managing</a:t>
            </a:r>
          </a:p>
          <a:p>
            <a:r>
              <a:rPr lang="en-US" sz="1800" dirty="0"/>
              <a:t>Extreme Programming</a:t>
            </a:r>
          </a:p>
          <a:p>
            <a:pPr lvl="1"/>
            <a:r>
              <a:rPr lang="en-US" sz="1600" dirty="0"/>
              <a:t>Shift Left Testing</a:t>
            </a:r>
          </a:p>
          <a:p>
            <a:r>
              <a:rPr lang="en-US" sz="1800" dirty="0"/>
              <a:t>Kanban</a:t>
            </a:r>
          </a:p>
          <a:p>
            <a:pPr lvl="1"/>
            <a:r>
              <a:rPr lang="en-US" sz="1600" dirty="0"/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28530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CE6C-434E-340B-104D-997DC948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C032-9F3A-6EE0-AA87-FBE9A5420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Self-Managing</a:t>
            </a:r>
          </a:p>
          <a:p>
            <a:pPr lvl="1"/>
            <a:r>
              <a:rPr lang="en-US" sz="2000" dirty="0"/>
              <a:t>Full-Stack Mindset</a:t>
            </a:r>
          </a:p>
          <a:p>
            <a:pPr lvl="2"/>
            <a:r>
              <a:rPr lang="en-US" sz="1800" dirty="0"/>
              <a:t>Scrum Master</a:t>
            </a:r>
          </a:p>
          <a:p>
            <a:pPr lvl="2"/>
            <a:r>
              <a:rPr lang="en-US" sz="1800" dirty="0"/>
              <a:t>Product Owner</a:t>
            </a:r>
          </a:p>
          <a:p>
            <a:pPr lvl="2"/>
            <a:r>
              <a:rPr lang="en-US" sz="1800" dirty="0"/>
              <a:t>Development Team</a:t>
            </a:r>
          </a:p>
          <a:p>
            <a:pPr lvl="1"/>
            <a:r>
              <a:rPr lang="en-US" sz="2000" dirty="0"/>
              <a:t>Knowledge Sharing</a:t>
            </a:r>
          </a:p>
          <a:p>
            <a:pPr lvl="1"/>
            <a:r>
              <a:rPr lang="en-US" sz="2000" dirty="0"/>
              <a:t>Collaboration and Co-Pairing</a:t>
            </a:r>
          </a:p>
          <a:p>
            <a:pPr lvl="2"/>
            <a:r>
              <a:rPr lang="en-US" sz="1800" dirty="0"/>
              <a:t>Work In Progress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0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6198-D99F-ABEA-AD87-9D57057A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B6EB-34E7-05C5-45C6-2927AB72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EDF57-AF81-4A93-DC39-F90509751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Utilizing Product Owner</a:t>
            </a:r>
          </a:p>
          <a:p>
            <a:pPr lvl="1"/>
            <a:r>
              <a:rPr lang="en-US" sz="2000" dirty="0"/>
              <a:t>Product Owner is responsible by acting as the customer within the development team.</a:t>
            </a:r>
          </a:p>
          <a:p>
            <a:pPr lvl="1"/>
            <a:r>
              <a:rPr lang="en-US" sz="2000" dirty="0"/>
              <a:t>Product Owner acts as tester of features.</a:t>
            </a:r>
          </a:p>
          <a:p>
            <a:pPr lvl="1"/>
            <a:r>
              <a:rPr lang="en-US" sz="2000" dirty="0"/>
              <a:t>Ensures that customer requirements are met.</a:t>
            </a:r>
          </a:p>
        </p:txBody>
      </p:sp>
    </p:spTree>
    <p:extLst>
      <p:ext uri="{BB962C8B-B14F-4D97-AF65-F5344CB8AC3E}">
        <p14:creationId xmlns:p14="http://schemas.microsoft.com/office/powerpoint/2010/main" val="100611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3FF3-FB61-804E-96EE-D32EC932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86829-AB4C-061A-B326-A5EE935FE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SHIFT LEFT TESTING</a:t>
            </a:r>
          </a:p>
          <a:p>
            <a:pPr lvl="1"/>
            <a:r>
              <a:rPr lang="en-US" sz="2000" dirty="0"/>
              <a:t>Integrating Test Activities Early in the Software Development Life Cycle (SDLC)</a:t>
            </a:r>
          </a:p>
          <a:p>
            <a:pPr lvl="1"/>
            <a:r>
              <a:rPr lang="en-US" sz="2000" dirty="0"/>
              <a:t>Early detection and mitigation</a:t>
            </a:r>
          </a:p>
          <a:p>
            <a:pPr lvl="1"/>
            <a:r>
              <a:rPr lang="en-US" sz="2000" dirty="0"/>
              <a:t>Utilizing Automated Scripts and early performance testing</a:t>
            </a:r>
          </a:p>
          <a:p>
            <a:pPr lvl="1"/>
            <a:r>
              <a:rPr lang="en-US" sz="2000" dirty="0"/>
              <a:t>Tools Used: Jenkins, </a:t>
            </a:r>
            <a:r>
              <a:rPr lang="en-US" sz="2000" dirty="0" err="1"/>
              <a:t>Github</a:t>
            </a:r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3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030F-DC85-B8B1-2189-5D35A011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DD0B-CBFE-77BD-D748-127D9F663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2000" dirty="0"/>
              <a:t>SHIFT LEFT TESTING</a:t>
            </a:r>
          </a:p>
          <a:p>
            <a:pPr lvl="2"/>
            <a:r>
              <a:rPr lang="en-US" sz="1800" dirty="0"/>
              <a:t>Test Activities</a:t>
            </a:r>
          </a:p>
          <a:p>
            <a:pPr lvl="3"/>
            <a:r>
              <a:rPr lang="en-US" sz="1600" dirty="0"/>
              <a:t>Unit Tests, Automated Tests</a:t>
            </a:r>
          </a:p>
          <a:p>
            <a:pPr lvl="3"/>
            <a:r>
              <a:rPr lang="en-US" sz="1600" dirty="0" err="1"/>
              <a:t>Snyk</a:t>
            </a:r>
            <a:r>
              <a:rPr lang="en-US" sz="1600" dirty="0"/>
              <a:t> for detecting vulnerabilities (Wiklund, 2024)</a:t>
            </a:r>
          </a:p>
          <a:p>
            <a:pPr lvl="3"/>
            <a:r>
              <a:rPr lang="en-US" sz="1600" dirty="0" err="1"/>
              <a:t>Sonarqube</a:t>
            </a:r>
            <a:r>
              <a:rPr lang="en-US" sz="1600" dirty="0"/>
              <a:t> for compliance on coding rules (Lenarduzzi et al., 2020)</a:t>
            </a:r>
          </a:p>
          <a:p>
            <a:pPr lvl="3"/>
            <a:r>
              <a:rPr lang="en-US" sz="1600" dirty="0"/>
              <a:t>HIPC / HIPAA for regulating patient data confidentiality (</a:t>
            </a:r>
            <a:r>
              <a:rPr lang="en-US" sz="1600" dirty="0" err="1"/>
              <a:t>Aradhyula</a:t>
            </a:r>
            <a:r>
              <a:rPr lang="en-US" sz="1600" dirty="0"/>
              <a:t>, 2025)</a:t>
            </a:r>
          </a:p>
          <a:p>
            <a:pPr lvl="3"/>
            <a:r>
              <a:rPr lang="en-NZ" sz="1600" dirty="0"/>
              <a:t>Privacy Act 2020 / GDPR for governing data privacy and protection in the European Union (Shekhar, 2021) </a:t>
            </a:r>
          </a:p>
          <a:p>
            <a:pPr lvl="3"/>
            <a:r>
              <a:rPr lang="en-NZ" sz="1600" dirty="0"/>
              <a:t>Solvency II for regulating the amount of capital that insurance companies must hold to reduce the risk of insolvency (Shekhar, 2021)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02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83C2-2AE4-5854-C9F5-1EFF6C4A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ACAC2-4974-2E36-CB1B-06FA22401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Upfront Cost</a:t>
            </a:r>
          </a:p>
          <a:p>
            <a:r>
              <a:rPr lang="en-US" dirty="0"/>
              <a:t>Dependent on Good Individuals/Seniors</a:t>
            </a:r>
          </a:p>
        </p:txBody>
      </p:sp>
    </p:spTree>
    <p:extLst>
      <p:ext uri="{BB962C8B-B14F-4D97-AF65-F5344CB8AC3E}">
        <p14:creationId xmlns:p14="http://schemas.microsoft.com/office/powerpoint/2010/main" val="3167467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7F19-1C30-A9F1-3331-13323B45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Privacy ACT 2020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614C-C38A-C51B-2AC4-0D86C5710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Focused on data’s</a:t>
            </a:r>
            <a:r>
              <a:rPr lang="en-US" dirty="0"/>
              <a:t> purpose, collection, use, disclosure, accuracy, security, access, correction, retention, cross-border flows, etc. (Office of the Privacy Commissioner | Privacy Act 2020, n.d.)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9308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0827-3566-B039-9FC5-9208056F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Privacy act 2020 can be incorporated with agile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77267-1CBF-5E91-CB1B-695078E16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Ensuring Privacy By Design in Architecture during the early stages of development</a:t>
            </a:r>
          </a:p>
          <a:p>
            <a:r>
              <a:rPr lang="en-NZ" dirty="0"/>
              <a:t>Including Privacy Act 2020 in requirement artifacts, typically epics and user stories.</a:t>
            </a:r>
          </a:p>
          <a:p>
            <a:pPr lvl="1"/>
            <a:r>
              <a:rPr lang="en-NZ"/>
              <a:t>Sprint </a:t>
            </a:r>
            <a:r>
              <a:rPr lang="en-NZ" dirty="0"/>
              <a:t>ceremonies: sprint planning, retrospective, review, backlog refinement, scrum of scrums, daily standups </a:t>
            </a:r>
          </a:p>
          <a:p>
            <a:r>
              <a:rPr lang="en-NZ" dirty="0"/>
              <a:t>Prioritizing Privacy Act through privacy awareness and training.</a:t>
            </a:r>
          </a:p>
          <a:p>
            <a:pPr lvl="1"/>
            <a:r>
              <a:rPr lang="en-NZ" dirty="0"/>
              <a:t>Developers are trained, educated, and regularly updated</a:t>
            </a:r>
          </a:p>
        </p:txBody>
      </p:sp>
    </p:spTree>
    <p:extLst>
      <p:ext uri="{BB962C8B-B14F-4D97-AF65-F5344CB8AC3E}">
        <p14:creationId xmlns:p14="http://schemas.microsoft.com/office/powerpoint/2010/main" val="127347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549E-325B-3070-8E0B-EA78869D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ISO 9001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1763-5553-3F1B-A9D4-25E19E39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7516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A284-794C-1B06-AE3E-2166FEFD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52113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149</TotalTime>
  <Words>468</Words>
  <Application>Microsoft Macintosh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Software Quality Assurance in Southern Cross Travel Insurance</vt:lpstr>
      <vt:lpstr>Software Quality Assurance</vt:lpstr>
      <vt:lpstr>PowerPoint Presentation</vt:lpstr>
      <vt:lpstr>Problem FOR TRAVEL INSURANCE</vt:lpstr>
      <vt:lpstr>Agile Methodology</vt:lpstr>
      <vt:lpstr>AGILE FRAMEWORKS</vt:lpstr>
      <vt:lpstr>HOW SOUTHERN CROSS CAN BENEFIT FROM AGILE FRAMEWORKS</vt:lpstr>
      <vt:lpstr>HOW SOUTHERN CROSS CAN BENEFIT FROM AGILE FRAMEWORKS</vt:lpstr>
      <vt:lpstr>HOW SOUTHERN CROSS CAN BENEFIT FROM AGILE FRAMEWORKS </vt:lpstr>
      <vt:lpstr>HOW SOUTHERN CROSS CAN BENEFIT FROM AGILE FRAMEWORKS</vt:lpstr>
      <vt:lpstr>Weaknesses of AGILE</vt:lpstr>
      <vt:lpstr>Privacy ACT 2020</vt:lpstr>
      <vt:lpstr>How Privacy act 2020 can be incorporated with agile framework</vt:lpstr>
      <vt:lpstr>ISO 9001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GIELO</dc:creator>
  <cp:lastModifiedBy>GIELO</cp:lastModifiedBy>
  <cp:revision>66</cp:revision>
  <dcterms:created xsi:type="dcterms:W3CDTF">2025-10-28T19:44:03Z</dcterms:created>
  <dcterms:modified xsi:type="dcterms:W3CDTF">2025-10-31T00:51:49Z</dcterms:modified>
</cp:coreProperties>
</file>