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4"/>
  </p:sldMasterIdLst>
  <p:notesMasterIdLst>
    <p:notesMasterId r:id="rId12"/>
  </p:notesMasterIdLst>
  <p:sldIdLst>
    <p:sldId id="256" r:id="rId5"/>
    <p:sldId id="257" r:id="rId6"/>
    <p:sldId id="468" r:id="rId7"/>
    <p:sldId id="469" r:id="rId8"/>
    <p:sldId id="467" r:id="rId9"/>
    <p:sldId id="370" r:id="rId10"/>
    <p:sldId id="4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4D690-4374-C247-A0E8-AF66082E0C44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9537B-D83B-914F-8020-FB860BBD1A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60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66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203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156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125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786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47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5046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884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9533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66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662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181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8154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598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62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595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98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E9D7D0-7EF9-764C-B09F-8386B5E2699F}" type="datetimeFigureOut">
              <a:rPr lang="en-AU" smtClean="0"/>
              <a:t>20/02/2025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596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B226A40-22CC-40E5-9EC4-5163536C6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6BB9B7D3-101C-4F55-A956-62DA4AAD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058" name="Picture 2057">
              <a:extLst>
                <a:ext uri="{FF2B5EF4-FFF2-40B4-BE49-F238E27FC236}">
                  <a16:creationId xmlns:a16="http://schemas.microsoft.com/office/drawing/2014/main" id="{53BD5441-821C-4091-8DDD-A4A56A6FC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AFC6E877-1BD2-4856-8FFD-250D27C15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2060" name="Picture 2059">
              <a:extLst>
                <a:ext uri="{FF2B5EF4-FFF2-40B4-BE49-F238E27FC236}">
                  <a16:creationId xmlns:a16="http://schemas.microsoft.com/office/drawing/2014/main" id="{F64C008A-2A32-4626-A83A-16A984F88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61" name="Picture 2060">
              <a:extLst>
                <a:ext uri="{FF2B5EF4-FFF2-40B4-BE49-F238E27FC236}">
                  <a16:creationId xmlns:a16="http://schemas.microsoft.com/office/drawing/2014/main" id="{875D67EF-62E2-43F5-8005-7A7A319D0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MAMC01803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Managers</a:t>
            </a:r>
            <a:endParaRPr lang="en-AU" sz="42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2):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D2CA3DB-2141-4DE2-9F8A-9E5561DDF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ome - Future Skills">
            <a:extLst>
              <a:ext uri="{FF2B5EF4-FFF2-40B4-BE49-F238E27FC236}">
                <a16:creationId xmlns:a16="http://schemas.microsoft.com/office/drawing/2014/main" id="{50051DFD-501B-AD25-20CB-9638F8076E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579" y="31882"/>
            <a:ext cx="4243375" cy="876012"/>
          </a:xfrm>
          <a:prstGeom prst="rect">
            <a:avLst/>
          </a:prstGeom>
          <a:noFill/>
        </p:spPr>
      </p:pic>
      <p:pic>
        <p:nvPicPr>
          <p:cNvPr id="2050" name="Picture 2" descr="Kia Ora sign art, carved of wood– TroubleMaker.co.nz">
            <a:extLst>
              <a:ext uri="{FF2B5EF4-FFF2-40B4-BE49-F238E27FC236}">
                <a16:creationId xmlns:a16="http://schemas.microsoft.com/office/drawing/2014/main" id="{B262EEE1-457B-56DE-8B21-312BA4D4F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7308" y="1570370"/>
            <a:ext cx="4227694" cy="237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1214B64F-D291-4308-B071-A2678ED7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5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93062"/>
            <a:ext cx="8911687" cy="1280890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lecture: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102" y="1876514"/>
            <a:ext cx="9950459" cy="1280890"/>
          </a:xfrm>
        </p:spPr>
        <p:txBody>
          <a:bodyPr>
            <a:no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(pivot tables)</a:t>
            </a:r>
          </a:p>
          <a:p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visualisation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(conducted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next session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Moodle):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 3" charset="2"/>
              <a:buAutoNum type="arabicPeriod"/>
            </a:pP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 Power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users)</a:t>
            </a:r>
            <a:endParaRPr lang="en-US" altLang="zh-CN" sz="2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 3" charset="2"/>
              <a:buAutoNum type="arabicPeriod"/>
            </a:pP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 Power BI on Teams (for other users)</a:t>
            </a:r>
            <a:endParaRPr lang="en-US" altLang="zh-CN" sz="2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LOOK FORWARD TO: qual é o significado e a tradução desse phrasal verb?">
            <a:extLst>
              <a:ext uri="{FF2B5EF4-FFF2-40B4-BE49-F238E27FC236}">
                <a16:creationId xmlns:a16="http://schemas.microsoft.com/office/drawing/2014/main" id="{BE72503C-9D70-2F61-8F63-88EBCDCEB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949" y="4525013"/>
            <a:ext cx="3888312" cy="233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81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1E343-A497-2DAE-28E0-F317AED0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13AB1-FE6B-2ED3-6614-DC2EE329D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93062"/>
            <a:ext cx="8911687" cy="128089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Pivot tables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77F2CA-0D77-AEDD-B4ED-666C4045E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515" y="1987246"/>
            <a:ext cx="9949542" cy="42954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pivot table</a:t>
            </a:r>
            <a:r>
              <a:rPr lang="en-US" dirty="0"/>
              <a:t> is a tool used in spreadsheets (like Excel) to </a:t>
            </a:r>
            <a:r>
              <a:rPr lang="en-US" b="1" dirty="0"/>
              <a:t>summarize and organize large amounts of data</a:t>
            </a:r>
            <a:r>
              <a:rPr lang="en-US" dirty="0"/>
              <a:t> quickly. It helps you </a:t>
            </a:r>
            <a:r>
              <a:rPr lang="en-US" b="1" dirty="0"/>
              <a:t>group, count, and compare</a:t>
            </a:r>
            <a:r>
              <a:rPr lang="en-US" dirty="0"/>
              <a:t> data without changing the original dataset.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is it used for?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Summarizing Data</a:t>
            </a:r>
            <a:r>
              <a:rPr lang="en-US" dirty="0"/>
              <a:t> – Quickly find totals, averages, or 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Sorting &amp; Filtering</a:t>
            </a:r>
            <a:r>
              <a:rPr lang="en-US" dirty="0"/>
              <a:t> – Focus on specific parts of your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Comparing Data</a:t>
            </a:r>
            <a:r>
              <a:rPr lang="en-US" dirty="0"/>
              <a:t> – See trends, patterns, or differences in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Making Reports</a:t>
            </a:r>
            <a:r>
              <a:rPr lang="en-US" dirty="0"/>
              <a:t> – Turn raw data into easy-to-read summaries.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8198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8A493-65FB-B3A0-E54E-E25FCB35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30EBA-DF9B-A3E6-B3FD-196C7828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93062"/>
            <a:ext cx="8911687" cy="128089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Pivot tables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DBF84A-86BE-705C-8985-FA7AA48E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840513"/>
            <a:ext cx="9949542" cy="4295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If you have a sales report with thousands of entries. A pivot table can be used to show:</a:t>
            </a:r>
            <a:endParaRPr lang="en-US" sz="3200" b="1" dirty="0"/>
          </a:p>
          <a:p>
            <a:r>
              <a:rPr lang="en-US" sz="3200" dirty="0"/>
              <a:t>Total sales by product</a:t>
            </a:r>
          </a:p>
          <a:p>
            <a:r>
              <a:rPr lang="en-US" sz="3200" dirty="0"/>
              <a:t>Sales by month or region</a:t>
            </a:r>
          </a:p>
          <a:p>
            <a:r>
              <a:rPr lang="en-US" sz="3200" dirty="0"/>
              <a:t>The highest-selling items</a:t>
            </a:r>
            <a:endParaRPr lang="en-NZ" sz="3200" dirty="0"/>
          </a:p>
        </p:txBody>
      </p:sp>
    </p:spTree>
    <p:extLst>
      <p:ext uri="{BB962C8B-B14F-4D97-AF65-F5344CB8AC3E}">
        <p14:creationId xmlns:p14="http://schemas.microsoft.com/office/powerpoint/2010/main" val="114331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0490" y="787260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NZ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0314" y="1954789"/>
            <a:ext cx="9726387" cy="3626094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altLang="zh-CN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</a:t>
            </a:r>
            <a:r>
              <a:rPr lang="zh-CN" altLang="en-US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</a:t>
            </a:r>
            <a:r>
              <a:rPr lang="zh-CN" altLang="en-US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following</a:t>
            </a:r>
            <a:r>
              <a:rPr lang="zh-CN" altLang="en-US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exercise</a:t>
            </a:r>
            <a:r>
              <a:rPr lang="zh-CN" altLang="en-US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zh-CN" altLang="en-US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en-US" altLang="zh-CN" sz="2800" b="1" dirty="0">
                <a:solidFill>
                  <a:srgbClr val="1D21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zh-CN" altLang="en-US" sz="2800" b="1" dirty="0">
                <a:solidFill>
                  <a:srgbClr val="1D21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dirty="0">
                <a:solidFill>
                  <a:srgbClr val="1D21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</a:t>
            </a:r>
            <a:r>
              <a:rPr lang="zh-CN" altLang="en-US" sz="2800" b="1" dirty="0">
                <a:solidFill>
                  <a:srgbClr val="1D21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dirty="0">
                <a:solidFill>
                  <a:srgbClr val="1D21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members:</a:t>
            </a:r>
            <a:endParaRPr lang="en-NZ" altLang="zh-CN" sz="2800" b="1" i="0" dirty="0">
              <a:solidFill>
                <a:srgbClr val="1D212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b="0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the data set </a:t>
            </a:r>
            <a:r>
              <a:rPr lang="en-US" sz="2800" b="1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5000 Sales Records</a:t>
            </a:r>
            <a:r>
              <a:rPr lang="en-US" sz="2800" b="0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identify both categorical and numeric data attributes. Write your answers in a word document.</a:t>
            </a:r>
          </a:p>
          <a:p>
            <a:pPr algn="l"/>
            <a:r>
              <a:rPr lang="en-US" sz="2800" b="0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Watch the video Introduction to Pivot Tables on </a:t>
            </a:r>
            <a:r>
              <a:rPr lang="en-US" sz="2800" b="0" i="0" dirty="0" err="1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moodle</a:t>
            </a:r>
            <a:r>
              <a:rPr lang="en-US" sz="2800" b="0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(see module 2) and </a:t>
            </a:r>
            <a:r>
              <a:rPr lang="en-US" sz="2800" b="1" i="0" dirty="0">
                <a:solidFill>
                  <a:srgbClr val="1D212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at least three pivot tables that are meaningful for business decision-making. </a:t>
            </a:r>
            <a:endParaRPr lang="en-NZ" altLang="zh-CN" sz="2800" b="1" i="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endParaRPr lang="en-NZ" altLang="zh-CN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NZ" altLang="zh-CN" b="1" dirty="0">
              <a:solidFill>
                <a:srgbClr val="1D21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54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A14CF-4BE5-E8D4-1663-0D718DCB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In/Out-of-class</a:t>
            </a: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activities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71A7E4-F024-38C1-DC35-32B091CF6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for assignment 2 (if you have found one)</a:t>
            </a:r>
          </a:p>
          <a:p>
            <a:pPr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Download </a:t>
            </a:r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PowerBI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before next session.</a:t>
            </a:r>
          </a:p>
          <a:p>
            <a:pPr>
              <a:buAutoNum type="arabicPeriod"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49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0A1EF-74D9-F210-B1E8-7E5770BD8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27302"/>
            <a:ext cx="9601196" cy="1303867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147F65-11EF-A8DA-2793-1AAC3A90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031080"/>
            <a:ext cx="9851569" cy="4099618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Written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Feedback:</a:t>
            </a:r>
          </a:p>
          <a:p>
            <a:pPr marL="571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If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would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like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to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obtain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written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feedback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for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your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draft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for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your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Assessment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One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(or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some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paragraphs,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or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even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just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key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points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or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outline),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please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upload</a:t>
            </a:r>
            <a:r>
              <a:rPr lang="zh-CN" altLang="en-US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your</a:t>
            </a:r>
            <a:r>
              <a:rPr lang="zh-CN" altLang="en-US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draft</a:t>
            </a:r>
            <a:r>
              <a:rPr lang="zh-CN" altLang="en-US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via</a:t>
            </a:r>
            <a:r>
              <a:rPr lang="zh-CN" altLang="en-US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Teams</a:t>
            </a:r>
            <a:r>
              <a:rPr lang="zh-CN" altLang="en-US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Assignments</a:t>
            </a:r>
            <a:r>
              <a:rPr lang="zh-CN" altLang="en-US" sz="2100" b="1" dirty="0">
                <a:solidFill>
                  <a:srgbClr val="0070C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before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Monday</a:t>
            </a:r>
            <a:r>
              <a:rPr lang="zh-CN" altLang="en-US" sz="21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(24 February,</a:t>
            </a:r>
            <a:r>
              <a:rPr lang="zh-CN" altLang="en-US" sz="21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Week</a:t>
            </a:r>
            <a:r>
              <a:rPr lang="zh-CN" altLang="en-US" sz="21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3),</a:t>
            </a:r>
            <a:r>
              <a:rPr lang="zh-CN" altLang="en-US" sz="21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u="sng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11:59 PM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.</a:t>
            </a:r>
            <a:r>
              <a:rPr lang="zh-CN" altLang="en-US" sz="2100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The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feedback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will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released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before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NZ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Thursday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(27 February,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Week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3)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.</a:t>
            </a:r>
          </a:p>
          <a:p>
            <a:pPr marL="5715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100" b="1" dirty="0">
              <a:solidFill>
                <a:srgbClr val="FF0000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571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Oral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feedback: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2100" b="1" dirty="0">
              <a:solidFill>
                <a:srgbClr val="FF0000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571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I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will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also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provide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oral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feedback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on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your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Assessment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One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draft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in</a:t>
            </a:r>
            <a:r>
              <a:rPr lang="zh-CN" altLang="en-US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NZ" altLang="zh-CN" sz="2100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the </a:t>
            </a:r>
            <a:r>
              <a:rPr lang="en-NZ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second class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of week 3.</a:t>
            </a:r>
          </a:p>
          <a:p>
            <a:pPr marL="5715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1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5715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Any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questions?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Feel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free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to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contact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me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on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Teams!</a:t>
            </a:r>
          </a:p>
          <a:p>
            <a:endParaRPr lang="en-AU" sz="2100" dirty="0"/>
          </a:p>
        </p:txBody>
      </p:sp>
    </p:spTree>
    <p:extLst>
      <p:ext uri="{BB962C8B-B14F-4D97-AF65-F5344CB8AC3E}">
        <p14:creationId xmlns:p14="http://schemas.microsoft.com/office/powerpoint/2010/main" val="23561952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3E1C4C7BA5ED4094D04BB904A5E7AB" ma:contentTypeVersion="4" ma:contentTypeDescription="Create a new document." ma:contentTypeScope="" ma:versionID="149470d6a2e38a69316f2096364dac83">
  <xsd:schema xmlns:xsd="http://www.w3.org/2001/XMLSchema" xmlns:xs="http://www.w3.org/2001/XMLSchema" xmlns:p="http://schemas.microsoft.com/office/2006/metadata/properties" xmlns:ns2="2e870598-80c1-4ed7-a5cf-d50e51ea1f44" targetNamespace="http://schemas.microsoft.com/office/2006/metadata/properties" ma:root="true" ma:fieldsID="a107eb985a642ca95cbe6c890a64103e" ns2:_="">
    <xsd:import namespace="2e870598-80c1-4ed7-a5cf-d50e51ea1f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70598-80c1-4ed7-a5cf-d50e51ea1f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9C293F-4D7D-4DC9-82CE-D2DCD3F8ED79}">
  <ds:schemaRefs>
    <ds:schemaRef ds:uri="http://purl.org/dc/terms/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bb0f1b5c-7cc7-4cf0-876f-ee0bbde77cda"/>
    <ds:schemaRef ds:uri="22af72f0-df75-4851-a469-3e8a66795582"/>
    <ds:schemaRef ds:uri="e8efc6b7-04b7-44da-90a3-8e4d24b669b6"/>
    <ds:schemaRef ds:uri="d8f9d3af-e8d6-41ce-a983-4e2e4e5c29e9"/>
  </ds:schemaRefs>
</ds:datastoreItem>
</file>

<file path=customXml/itemProps2.xml><?xml version="1.0" encoding="utf-8"?>
<ds:datastoreItem xmlns:ds="http://schemas.openxmlformats.org/officeDocument/2006/customXml" ds:itemID="{DAC10CCB-CCA8-4AEF-B949-C470C88D27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EB8882-0F75-41C1-868E-6BCC7708B2C8}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344</TotalTime>
  <Words>384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等线</vt:lpstr>
      <vt:lpstr>Arial</vt:lpstr>
      <vt:lpstr>Calibri</vt:lpstr>
      <vt:lpstr>Garamond</vt:lpstr>
      <vt:lpstr>Wingdings 3</vt:lpstr>
      <vt:lpstr>Organic</vt:lpstr>
      <vt:lpstr>MAMC01803 Analytics for Managers</vt:lpstr>
      <vt:lpstr>In this lecture:</vt:lpstr>
      <vt:lpstr>Pivot tables</vt:lpstr>
      <vt:lpstr>Pivot tables</vt:lpstr>
      <vt:lpstr>Group activity: Descriptive analytics </vt:lpstr>
      <vt:lpstr>In/Out-of-class activities</vt:lpstr>
      <vt:lpstr>Feedback for Assessment 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Jishuo Sun</dc:creator>
  <cp:lastModifiedBy>Sunil Shethia</cp:lastModifiedBy>
  <cp:revision>19</cp:revision>
  <dcterms:created xsi:type="dcterms:W3CDTF">2021-09-12T02:15:48Z</dcterms:created>
  <dcterms:modified xsi:type="dcterms:W3CDTF">2025-02-20T08:58:00Z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0x010100503E1C4C7BA5ED4094D04BB904A5E7AB</vt:lpwstr>
  </property>
</Properties>
</file>