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8" r:id="rId4"/>
  </p:sldMasterIdLst>
  <p:notesMasterIdLst>
    <p:notesMasterId r:id="rId11"/>
  </p:notesMasterIdLst>
  <p:sldIdLst>
    <p:sldId id="256" r:id="rId5"/>
    <p:sldId id="257" r:id="rId6"/>
    <p:sldId id="467" r:id="rId7"/>
    <p:sldId id="370" r:id="rId8"/>
    <p:sldId id="300" r:id="rId9"/>
    <p:sldId id="4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44"/>
    <p:restoredTop sz="96327"/>
  </p:normalViewPr>
  <p:slideViewPr>
    <p:cSldViewPr snapToGrid="0" snapToObjects="1">
      <p:cViewPr varScale="1">
        <p:scale>
          <a:sx n="74" d="100"/>
          <a:sy n="74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84D690-4374-C247-A0E8-AF66082E0C44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AU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69537B-D83B-914F-8020-FB860BBD1A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7607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206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2079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6648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7103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13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521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9876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045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7456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1490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415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534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7757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692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45371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928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226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DE9D7D0-7EF9-764C-B09F-8386B5E2699F}" type="datetimeFigureOut">
              <a:rPr lang="en-AU" smtClean="0"/>
              <a:t>6/03/2025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B9C53C8-D80C-9241-87E4-A1E3C25A1C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6313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www.kaggle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6" name="Rectangle 2065">
            <a:extLst>
              <a:ext uri="{FF2B5EF4-FFF2-40B4-BE49-F238E27FC236}">
                <a16:creationId xmlns:a16="http://schemas.microsoft.com/office/drawing/2014/main" id="{1755C732-3264-4614-8316-41F754837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68" name="Group 2067">
            <a:extLst>
              <a:ext uri="{FF2B5EF4-FFF2-40B4-BE49-F238E27FC236}">
                <a16:creationId xmlns:a16="http://schemas.microsoft.com/office/drawing/2014/main" id="{59C7C6ED-4EA1-4532-A820-59A8ADEEE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786"/>
            <a:ext cx="12229962" cy="6856214"/>
            <a:chOff x="-15736" y="0"/>
            <a:chExt cx="12229962" cy="6856214"/>
          </a:xfrm>
        </p:grpSpPr>
        <p:pic>
          <p:nvPicPr>
            <p:cNvPr id="2069" name="Picture 2068">
              <a:extLst>
                <a:ext uri="{FF2B5EF4-FFF2-40B4-BE49-F238E27FC236}">
                  <a16:creationId xmlns:a16="http://schemas.microsoft.com/office/drawing/2014/main" id="{3A197BB7-B689-4B37-8BE2-FC23F6ED6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070" name="Rectangle 2069">
              <a:extLst>
                <a:ext uri="{FF2B5EF4-FFF2-40B4-BE49-F238E27FC236}">
                  <a16:creationId xmlns:a16="http://schemas.microsoft.com/office/drawing/2014/main" id="{E93E4556-7891-471E-B9B7-A38508C759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pic>
          <p:nvPicPr>
            <p:cNvPr id="2071" name="Picture 2070">
              <a:extLst>
                <a:ext uri="{FF2B5EF4-FFF2-40B4-BE49-F238E27FC236}">
                  <a16:creationId xmlns:a16="http://schemas.microsoft.com/office/drawing/2014/main" id="{6F9C6176-D87B-4D8F-8BC3-FE6DF55C4E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072" name="Picture 2071">
              <a:extLst>
                <a:ext uri="{FF2B5EF4-FFF2-40B4-BE49-F238E27FC236}">
                  <a16:creationId xmlns:a16="http://schemas.microsoft.com/office/drawing/2014/main" id="{B838BA48-DDFB-46B3-9EF6-031C91D27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49BBFCA9-33B3-1540-904F-A1E7F6D07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619" y="4404852"/>
            <a:ext cx="9989677" cy="105474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4200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MAMC01803</a:t>
            </a:r>
            <a:r>
              <a:rPr lang="zh-CN" altLang="en-US" sz="4200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200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 sz="4200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200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sz="4200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200" b="1">
                <a:solidFill>
                  <a:srgbClr val="26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Managers</a:t>
            </a:r>
            <a:endParaRPr lang="en-AU" sz="4200">
              <a:solidFill>
                <a:srgbClr val="262626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93C8EE-593C-F74F-990D-83AA3B6C8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448" y="5540582"/>
            <a:ext cx="9603727" cy="38879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(Session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1):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Descriptive</a:t>
            </a:r>
            <a:r>
              <a:rPr lang="zh-CN" altLang="en-US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4AD786D6-2C42-45AF-888B-F2038C4D0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9999652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Kia Ora sign art, carved of wood– TroubleMaker.co.nz">
            <a:extLst>
              <a:ext uri="{FF2B5EF4-FFF2-40B4-BE49-F238E27FC236}">
                <a16:creationId xmlns:a16="http://schemas.microsoft.com/office/drawing/2014/main" id="{B262EEE1-457B-56DE-8B21-312BA4D4F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16181" y="1410207"/>
            <a:ext cx="4366000" cy="245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76" name="Straight Connector 2075">
            <a:extLst>
              <a:ext uri="{FF2B5EF4-FFF2-40B4-BE49-F238E27FC236}">
                <a16:creationId xmlns:a16="http://schemas.microsoft.com/office/drawing/2014/main" id="{B8D6659D-FA60-4C6D-A9F6-063E294AA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8448" y="5501254"/>
            <a:ext cx="96037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Home - Future Skills">
            <a:extLst>
              <a:ext uri="{FF2B5EF4-FFF2-40B4-BE49-F238E27FC236}">
                <a16:creationId xmlns:a16="http://schemas.microsoft.com/office/drawing/2014/main" id="{1785BD0D-70BD-CCA0-B7AD-60D6CA8475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2889" y="75361"/>
            <a:ext cx="4243375" cy="8760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41530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77EDC-B1CD-8242-AA40-F65A9951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7166" y="922921"/>
            <a:ext cx="8911687" cy="1280890"/>
          </a:xfrm>
        </p:spPr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lecture:</a:t>
            </a:r>
            <a:endParaRPr lang="en-A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7E98DA-27BC-8341-B41E-F25AD6C05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7166" y="2622175"/>
            <a:ext cx="8177787" cy="2536571"/>
          </a:xfrm>
        </p:spPr>
        <p:txBody>
          <a:bodyPr>
            <a:normAutofit/>
          </a:bodyPr>
          <a:lstStyle/>
          <a:p>
            <a:r>
              <a:rPr lang="en-US" altLang="zh-CN" sz="21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Review:</a:t>
            </a:r>
            <a:r>
              <a:rPr lang="zh-CN" altLang="en-US" sz="21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Exercises</a:t>
            </a:r>
            <a:r>
              <a:rPr lang="zh-CN" altLang="en-US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zh-CN" altLang="en-US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descriptive</a:t>
            </a:r>
            <a:r>
              <a:rPr lang="zh-CN" alt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zh-CN" altLang="en-US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visualization</a:t>
            </a:r>
            <a:r>
              <a:rPr lang="en-US" altLang="zh-CN" sz="2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lang="zh-CN" altLang="en-US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zh-CN" altLang="en-US" sz="2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2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LOOK FORWARD TO: qual é o significado e a tradução desse phrasal verb?">
            <a:extLst>
              <a:ext uri="{FF2B5EF4-FFF2-40B4-BE49-F238E27FC236}">
                <a16:creationId xmlns:a16="http://schemas.microsoft.com/office/drawing/2014/main" id="{BE72503C-9D70-2F61-8F63-88EBCDCEB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9949" y="4525013"/>
            <a:ext cx="3888312" cy="2332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3817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Review:</a:t>
            </a:r>
            <a:endParaRPr lang="en-NZ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300" y="2469777"/>
            <a:ext cx="8915400" cy="3777622"/>
          </a:xfrm>
        </p:spPr>
        <p:txBody>
          <a:bodyPr>
            <a:normAutofit/>
          </a:bodyPr>
          <a:lstStyle/>
          <a:p>
            <a:pPr algn="l"/>
            <a:r>
              <a:rPr lang="en-NZ" altLang="zh-CN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Exercise One - Case Study Festival Expenditure</a:t>
            </a:r>
            <a:r>
              <a:rPr lang="zh-CN" altLang="en-US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Mean,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standard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deviation,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variance</a:t>
            </a:r>
            <a:r>
              <a:rPr lang="en-US" altLang="zh-CN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NZ" altLang="zh-CN" i="0" dirty="0">
              <a:solidFill>
                <a:srgbClr val="1D212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NZ" altLang="zh-CN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Tutorial Exercise Two</a:t>
            </a:r>
            <a:r>
              <a:rPr lang="zh-CN" altLang="en-US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Box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plot</a:t>
            </a:r>
            <a:r>
              <a:rPr lang="en-US" altLang="zh-CN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NZ" altLang="zh-CN" i="0" dirty="0">
              <a:solidFill>
                <a:srgbClr val="1D212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NZ" altLang="zh-CN" i="0" dirty="0">
                <a:solidFill>
                  <a:srgbClr val="1D21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Tutorial Exercise Four - </a:t>
            </a:r>
            <a:r>
              <a:rPr lang="en-NZ" altLang="zh-CN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Variable Identification and Pivot Tables</a:t>
            </a:r>
          </a:p>
          <a:p>
            <a:pPr marL="0" indent="0" algn="l">
              <a:buNone/>
            </a:pPr>
            <a:endParaRPr lang="en-NZ" altLang="zh-CN" b="1" dirty="0">
              <a:solidFill>
                <a:srgbClr val="1D212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454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A14CF-4BE5-E8D4-1663-0D718DCB3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Review:</a:t>
            </a:r>
            <a:endParaRPr lang="en-AU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71A7E4-F024-38C1-DC35-32B091CF6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 3" charset="2"/>
              <a:buAutoNum type="arabicPeriod"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(for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users):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Download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BI;</a:t>
            </a:r>
          </a:p>
          <a:p>
            <a:pPr>
              <a:buAutoNum type="arabicPeriod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Confirm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problems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1-2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contexts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One;</a:t>
            </a:r>
          </a:p>
          <a:p>
            <a:pPr>
              <a:buAutoNum type="arabicPeriod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Trying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(at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least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1000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rows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least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columns)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relating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problems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Kaggle/other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sources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provided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Moodle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(see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‘Assessments’).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selected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conduct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least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cover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Two;</a:t>
            </a:r>
          </a:p>
          <a:p>
            <a:pPr>
              <a:buAutoNum type="arabicPeriod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Conduct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descriptive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dataset.</a:t>
            </a:r>
          </a:p>
          <a:p>
            <a:pPr>
              <a:buAutoNum type="arabicPeriod"/>
            </a:pP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494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3121" y="629751"/>
            <a:ext cx="9305033" cy="1280890"/>
          </a:xfrm>
        </p:spPr>
        <p:txBody>
          <a:bodyPr>
            <a:normAutofit/>
          </a:bodyPr>
          <a:lstStyle/>
          <a:p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presentation: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altLang="zh-CN" sz="3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visualisation</a:t>
            </a:r>
            <a:endParaRPr lang="en-NZ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3122" y="1667435"/>
            <a:ext cx="9307390" cy="4168589"/>
          </a:xfrm>
        </p:spPr>
        <p:txBody>
          <a:bodyPr>
            <a:normAutofit fontScale="85000" lnSpcReduction="10000"/>
          </a:bodyPr>
          <a:lstStyle/>
          <a:p>
            <a:pPr marL="36900" indent="0"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 with your group members:</a:t>
            </a:r>
          </a:p>
          <a:p>
            <a:pPr marL="379800">
              <a:buFont typeface="Wingdings 3" charset="2"/>
              <a:buAutoNum type="arabicPeriod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 </a:t>
            </a:r>
            <a:r>
              <a:rPr lang="en-US" altLang="zh-CN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business problem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 context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this group activity</a:t>
            </a:r>
          </a:p>
          <a:p>
            <a:pPr marL="379800">
              <a:buAutoNum type="arabicPeriod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and download a relevant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(or other sources) for the </a:t>
            </a:r>
            <a:r>
              <a:rPr lang="en-US" altLang="zh-CN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problem</a:t>
            </a:r>
          </a:p>
          <a:p>
            <a:pPr marL="379800">
              <a:buAutoNum type="arabicPeriod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 the data (or variable) from the dataset and identify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type of data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79800">
              <a:buAutoNum type="arabicPeriod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BI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present data in </a:t>
            </a:r>
            <a:r>
              <a:rPr lang="en-US" altLang="zh-CN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charts/graphs/maps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communicate numerical data or information for better understanding and decision making</a:t>
            </a:r>
          </a:p>
          <a:p>
            <a:pPr marL="379800">
              <a:buAutoNum type="arabicPeriod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group member should present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least one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chart/graph/map and briefly explain how it is meaningful for business decision-making.</a:t>
            </a:r>
          </a:p>
          <a:p>
            <a:pPr marL="379800">
              <a:buAutoNum type="arabicPeriod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type of data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charts/graphs/maps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PowerPoint slides</a:t>
            </a:r>
          </a:p>
          <a:p>
            <a:pPr marL="779850" lvl="1"/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Upload your presentation slides on Teams Files (Week </a:t>
            </a: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Session 1)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79800">
              <a:buAutoNum type="arabicPeriod"/>
            </a:pP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7 Best Practices for Data Visualization - The New Stack">
            <a:extLst>
              <a:ext uri="{FF2B5EF4-FFF2-40B4-BE49-F238E27FC236}">
                <a16:creationId xmlns:a16="http://schemas.microsoft.com/office/drawing/2014/main" id="{76DA6052-0058-48A2-5F00-7EBF2944E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052" y="5515618"/>
            <a:ext cx="2365948" cy="1342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4121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A14CF-4BE5-E8D4-1663-0D718DCB3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484" y="601133"/>
            <a:ext cx="9601196" cy="1303867"/>
          </a:xfrm>
        </p:spPr>
        <p:txBody>
          <a:bodyPr>
            <a:normAutofit/>
          </a:bodyPr>
          <a:lstStyle/>
          <a:p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Reminder: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points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endParaRPr lang="en-AU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71A7E4-F024-38C1-DC35-32B091CF6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6252" y="1905000"/>
            <a:ext cx="8915400" cy="4149658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en-NZ" altLang="zh-CN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Below are the questions for you to focus on data and data analytics in Assignment 1: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NZ" altLang="zh-CN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data is required for solving your identified applied management problem?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NZ" altLang="zh-CN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types of </a:t>
            </a:r>
            <a:r>
              <a:rPr lang="en-NZ" altLang="zh-CN" b="1" i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is </a:t>
            </a:r>
            <a:r>
              <a:rPr lang="en-NZ" altLang="zh-CN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there?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NZ" altLang="zh-CN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analysis methods are appropriate for analysing the data?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NZ" altLang="zh-CN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How will the results help with solving the applied management problem?</a:t>
            </a:r>
          </a:p>
          <a:p>
            <a:pPr marL="0" indent="0" algn="l">
              <a:buNone/>
            </a:pPr>
            <a:r>
              <a:rPr lang="en-NZ" altLang="zh-CN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each data problem identified in each different business context, you need to answer the above questions.</a:t>
            </a:r>
          </a:p>
          <a:p>
            <a:pPr marL="0" indent="0" algn="l">
              <a:buNone/>
            </a:pPr>
            <a:r>
              <a:rPr lang="en-NZ" altLang="zh-CN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the contextualization of the data problem, you need specific context information/background to justify the significance of the problem. Also, the answers to the above four questions must be context-relevant.</a:t>
            </a:r>
          </a:p>
          <a:p>
            <a:pPr marL="0" indent="0" algn="l">
              <a:buNone/>
            </a:pPr>
            <a:r>
              <a:rPr lang="en-NZ" altLang="zh-CN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assignment will expect a brief introduction and conclusion.</a:t>
            </a:r>
          </a:p>
        </p:txBody>
      </p:sp>
    </p:spTree>
    <p:extLst>
      <p:ext uri="{BB962C8B-B14F-4D97-AF65-F5344CB8AC3E}">
        <p14:creationId xmlns:p14="http://schemas.microsoft.com/office/powerpoint/2010/main" val="19271079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3E1C4C7BA5ED4094D04BB904A5E7AB" ma:contentTypeVersion="4" ma:contentTypeDescription="Create a new document." ma:contentTypeScope="" ma:versionID="149470d6a2e38a69316f2096364dac83">
  <xsd:schema xmlns:xsd="http://www.w3.org/2001/XMLSchema" xmlns:xs="http://www.w3.org/2001/XMLSchema" xmlns:p="http://schemas.microsoft.com/office/2006/metadata/properties" xmlns:ns2="2e870598-80c1-4ed7-a5cf-d50e51ea1f44" targetNamespace="http://schemas.microsoft.com/office/2006/metadata/properties" ma:root="true" ma:fieldsID="a107eb985a642ca95cbe6c890a64103e" ns2:_="">
    <xsd:import namespace="2e870598-80c1-4ed7-a5cf-d50e51ea1f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870598-80c1-4ed7-a5cf-d50e51ea1f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D1CA90-C1A6-4C36-8443-83C384AD059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E52859-D411-43C7-BC68-02E7F2E6BFB2}">
  <ds:schemaRefs>
    <ds:schemaRef ds:uri="http://schemas.microsoft.com/office/2006/metadata/properties"/>
    <ds:schemaRef ds:uri="http://schemas.microsoft.com/office/infopath/2007/PartnerControls"/>
    <ds:schemaRef ds:uri="bb0f1b5c-7cc7-4cf0-876f-ee0bbde77cda"/>
    <ds:schemaRef ds:uri="22af72f0-df75-4851-a469-3e8a66795582"/>
    <ds:schemaRef ds:uri="b9cc3f67-5b7c-4875-a629-52a60bd98ffe"/>
    <ds:schemaRef ds:uri="03b210eb-a7de-4b47-ad24-d62341b079b1"/>
  </ds:schemaRefs>
</ds:datastoreItem>
</file>

<file path=customXml/itemProps3.xml><?xml version="1.0" encoding="utf-8"?>
<ds:datastoreItem xmlns:ds="http://schemas.openxmlformats.org/officeDocument/2006/customXml" ds:itemID="{61E7F148-B3B2-4285-A20C-041AFFF00B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870598-80c1-4ed7-a5cf-d50e51ea1f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4546</TotalTime>
  <Words>412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Organic</vt:lpstr>
      <vt:lpstr>MAMC01803 Analytics for Managers</vt:lpstr>
      <vt:lpstr>In this lecture:</vt:lpstr>
      <vt:lpstr>Review:</vt:lpstr>
      <vt:lpstr>Review:</vt:lpstr>
      <vt:lpstr>Group presentation: Data visualisation</vt:lpstr>
      <vt:lpstr>Reminder: Key points for Assessment 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Jishuo Sun</dc:creator>
  <cp:lastModifiedBy>Shikha Shethia</cp:lastModifiedBy>
  <cp:revision>41</cp:revision>
  <dcterms:created xsi:type="dcterms:W3CDTF">2021-09-12T02:15:48Z</dcterms:created>
  <dcterms:modified xsi:type="dcterms:W3CDTF">2025-03-07T04:58:14Z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0x010100503E1C4C7BA5ED4094D04BB904A5E7AB</vt:lpwstr>
  </property>
</Properties>
</file>