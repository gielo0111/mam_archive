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Lst>
  <p:notesMasterIdLst>
    <p:notesMasterId r:id="rId19"/>
  </p:notesMasterIdLst>
  <p:sldIdLst>
    <p:sldId id="256" r:id="rId5"/>
    <p:sldId id="257" r:id="rId6"/>
    <p:sldId id="300" r:id="rId7"/>
    <p:sldId id="472" r:id="rId8"/>
    <p:sldId id="468" r:id="rId9"/>
    <p:sldId id="474" r:id="rId10"/>
    <p:sldId id="473" r:id="rId11"/>
    <p:sldId id="475" r:id="rId12"/>
    <p:sldId id="467" r:id="rId13"/>
    <p:sldId id="476" r:id="rId14"/>
    <p:sldId id="478" r:id="rId15"/>
    <p:sldId id="477" r:id="rId16"/>
    <p:sldId id="471" r:id="rId17"/>
    <p:sldId id="4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8C638-C1BB-5766-4723-659AD66106F5}" v="16" dt="2025-03-04T04:55:05.393"/>
    <p1510:client id="{39AC59FB-2A8A-ED96-D715-2E53B85BCED7}" v="14" dt="2025-03-04T21:46:49.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kha Shethia" userId="S::shikha.shethia@futureskills.co.nz::18e3e2a2-0349-4937-a54d-b40040399c9e" providerId="AD" clId="Web-{39AC59FB-2A8A-ED96-D715-2E53B85BCED7}"/>
    <pc:docChg chg="modSld">
      <pc:chgData name="Shikha Shethia" userId="S::shikha.shethia@futureskills.co.nz::18e3e2a2-0349-4937-a54d-b40040399c9e" providerId="AD" clId="Web-{39AC59FB-2A8A-ED96-D715-2E53B85BCED7}" dt="2025-03-04T21:46:49.381" v="16" actId="20577"/>
      <pc:docMkLst>
        <pc:docMk/>
      </pc:docMkLst>
      <pc:sldChg chg="modSp">
        <pc:chgData name="Shikha Shethia" userId="S::shikha.shethia@futureskills.co.nz::18e3e2a2-0349-4937-a54d-b40040399c9e" providerId="AD" clId="Web-{39AC59FB-2A8A-ED96-D715-2E53B85BCED7}" dt="2025-03-04T21:46:49.381" v="16" actId="20577"/>
        <pc:sldMkLst>
          <pc:docMk/>
          <pc:sldMk cId="2571124200" sldId="476"/>
        </pc:sldMkLst>
        <pc:spChg chg="mod">
          <ac:chgData name="Shikha Shethia" userId="S::shikha.shethia@futureskills.co.nz::18e3e2a2-0349-4937-a54d-b40040399c9e" providerId="AD" clId="Web-{39AC59FB-2A8A-ED96-D715-2E53B85BCED7}" dt="2025-03-04T21:46:49.381" v="16" actId="20577"/>
          <ac:spMkLst>
            <pc:docMk/>
            <pc:sldMk cId="2571124200" sldId="476"/>
            <ac:spMk id="9" creationId="{00000000-0000-0000-0000-000000000000}"/>
          </ac:spMkLst>
        </pc:spChg>
      </pc:sldChg>
    </pc:docChg>
  </pc:docChgLst>
  <pc:docChgLst>
    <pc:chgData name="Shikha Shethia" userId="S::shikha.shethia@futureskills.co.nz::18e3e2a2-0349-4937-a54d-b40040399c9e" providerId="AD" clId="Web-{0B38C638-C1BB-5766-4723-659AD66106F5}"/>
    <pc:docChg chg="modSld">
      <pc:chgData name="Shikha Shethia" userId="S::shikha.shethia@futureskills.co.nz::18e3e2a2-0349-4937-a54d-b40040399c9e" providerId="AD" clId="Web-{0B38C638-C1BB-5766-4723-659AD66106F5}" dt="2025-03-04T04:55:05.065" v="15" actId="20577"/>
      <pc:docMkLst>
        <pc:docMk/>
      </pc:docMkLst>
      <pc:sldChg chg="modSp">
        <pc:chgData name="Shikha Shethia" userId="S::shikha.shethia@futureskills.co.nz::18e3e2a2-0349-4937-a54d-b40040399c9e" providerId="AD" clId="Web-{0B38C638-C1BB-5766-4723-659AD66106F5}" dt="2025-03-04T04:55:05.065" v="15" actId="20577"/>
        <pc:sldMkLst>
          <pc:docMk/>
          <pc:sldMk cId="2571124200" sldId="478"/>
        </pc:sldMkLst>
        <pc:spChg chg="mod">
          <ac:chgData name="Shikha Shethia" userId="S::shikha.shethia@futureskills.co.nz::18e3e2a2-0349-4937-a54d-b40040399c9e" providerId="AD" clId="Web-{0B38C638-C1BB-5766-4723-659AD66106F5}" dt="2025-03-04T04:55:05.065" v="15" actId="20577"/>
          <ac:spMkLst>
            <pc:docMk/>
            <pc:sldMk cId="2571124200" sldId="478"/>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84D690-4374-C247-A0E8-AF66082E0C44}" type="datetimeFigureOut">
              <a:rPr lang="en-AU" smtClean="0"/>
              <a:pPr/>
              <a:t>4/03/2025</a:t>
            </a:fld>
            <a:endParaRPr lang="en-AU"/>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AU"/>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9537B-D83B-914F-8020-FB860BBD1AD4}" type="slidenum">
              <a:rPr lang="en-AU" smtClean="0"/>
              <a:pPr/>
              <a:t>‹#›</a:t>
            </a:fld>
            <a:endParaRPr lang="en-AU"/>
          </a:p>
        </p:txBody>
      </p:sp>
    </p:spTree>
    <p:extLst>
      <p:ext uri="{BB962C8B-B14F-4D97-AF65-F5344CB8AC3E}">
        <p14:creationId xmlns:p14="http://schemas.microsoft.com/office/powerpoint/2010/main" val="517607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a:xfrm>
            <a:off x="2692397" y="5037663"/>
            <a:ext cx="5214635" cy="279400"/>
          </a:xfrm>
        </p:spPr>
        <p:txBody>
          <a:bodyPr/>
          <a:lstStyle/>
          <a:p>
            <a:endParaRPr lang="en-AU"/>
          </a:p>
        </p:txBody>
      </p:sp>
      <p:sp>
        <p:nvSpPr>
          <p:cNvPr id="6" name="Slide Number Placeholder 5"/>
          <p:cNvSpPr>
            <a:spLocks noGrp="1"/>
          </p:cNvSpPr>
          <p:nvPr>
            <p:ph type="sldNum" sz="quarter" idx="12"/>
          </p:nvPr>
        </p:nvSpPr>
        <p:spPr>
          <a:xfrm>
            <a:off x="8956900" y="5037663"/>
            <a:ext cx="551167" cy="279400"/>
          </a:xfrm>
        </p:spPr>
        <p:txBody>
          <a:bodyPr/>
          <a:lstStyle/>
          <a:p>
            <a:fld id="{BB9C53C8-D80C-9241-87E4-A1E3C25A1C09}" type="slidenum">
              <a:rPr lang="en-AU" smtClean="0"/>
              <a:pPr/>
              <a:t>‹#›</a:t>
            </a:fld>
            <a:endParaRPr lang="en-A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964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2936538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658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E9D7D0-7EF9-764C-B09F-8386B5E2699F}" type="datetimeFigureOut">
              <a:rPr lang="en-AU" smtClean="0"/>
              <a:pPr/>
              <a:t>4/03/2025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3280234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E9D7D0-7EF9-764C-B09F-8386B5E2699F}" type="datetimeFigureOut">
              <a:rPr lang="en-AU" smtClean="0"/>
              <a:pPr/>
              <a:t>4/03/2025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B9C53C8-D80C-9241-87E4-A1E3C25A1C09}" type="slidenum">
              <a:rPr lang="en-AU" smtClean="0"/>
              <a:pPr/>
              <a:t>‹#›</a:t>
            </a:fld>
            <a:endParaRPr lang="en-A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4324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E9D7D0-7EF9-764C-B09F-8386B5E2699F}" type="datetimeFigureOut">
              <a:rPr lang="en-AU" smtClean="0"/>
              <a:pPr/>
              <a:t>4/03/2025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B9C53C8-D80C-9241-87E4-A1E3C25A1C09}" type="slidenum">
              <a:rPr lang="en-AU" smtClean="0"/>
              <a:pPr/>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776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9D7D0-7EF9-764C-B09F-8386B5E2699F}" type="datetimeFigureOut">
              <a:rPr lang="en-AU" smtClean="0"/>
              <a:pPr/>
              <a:t>4/03/2025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4230322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pPr/>
              <a:t>4/03/2025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pPr/>
              <a:t>‹#›</a:t>
            </a:fld>
            <a:endParaRPr lang="en-A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7586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pPr/>
              <a:t>4/03/2025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1613476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pPr/>
              <a:t>4/03/2025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2190345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1840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9145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spTree>
    <p:extLst>
      <p:ext uri="{BB962C8B-B14F-4D97-AF65-F5344CB8AC3E}">
        <p14:creationId xmlns:p14="http://schemas.microsoft.com/office/powerpoint/2010/main" val="4201304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8319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3335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067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E9D7D0-7EF9-764C-B09F-8386B5E2699F}" type="datetimeFigureOut">
              <a:rPr lang="en-AU" smtClean="0"/>
              <a:pPr/>
              <a:t>4/03/2025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pPr/>
              <a:t>‹#›</a:t>
            </a:fld>
            <a:endParaRPr lang="en-A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3036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E9D7D0-7EF9-764C-B09F-8386B5E2699F}" type="datetimeFigureOut">
              <a:rPr lang="en-AU" smtClean="0"/>
              <a:pPr/>
              <a:t>4/03/2025</a:t>
            </a:fld>
            <a:endParaRPr lang="en-A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B9C53C8-D80C-9241-87E4-A1E3C25A1C09}" type="slidenum">
              <a:rPr lang="en-AU" smtClean="0"/>
              <a:pPr/>
              <a:t>‹#›</a:t>
            </a:fld>
            <a:endParaRPr lang="en-AU"/>
          </a:p>
        </p:txBody>
      </p:sp>
    </p:spTree>
    <p:extLst>
      <p:ext uri="{BB962C8B-B14F-4D97-AF65-F5344CB8AC3E}">
        <p14:creationId xmlns:p14="http://schemas.microsoft.com/office/powerpoint/2010/main" val="783732664"/>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online.hbs.edu/blog/post/diagnostic-analytic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B226A40-22CC-40E5-9EC4-5163536C6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BB9B7D3-101C-4F55-A956-62DA4AAD4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13" name="Picture 12">
              <a:extLst>
                <a:ext uri="{FF2B5EF4-FFF2-40B4-BE49-F238E27FC236}">
                  <a16:creationId xmlns:a16="http://schemas.microsoft.com/office/drawing/2014/main" id="{53BD5441-821C-4091-8DDD-A4A56A6FC8B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AFC6E877-1BD2-4856-8FFD-250D27C1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15" name="Picture 14">
              <a:extLst>
                <a:ext uri="{FF2B5EF4-FFF2-40B4-BE49-F238E27FC236}">
                  <a16:creationId xmlns:a16="http://schemas.microsoft.com/office/drawing/2014/main" id="{F64C008A-2A32-4626-A83A-16A984F886F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875D67EF-62E2-43F5-8005-7A7A319D05A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49BBFCA9-33B3-1540-904F-A1E7F6D079F4}"/>
              </a:ext>
            </a:extLst>
          </p:cNvPr>
          <p:cNvSpPr>
            <a:spLocks noGrp="1"/>
          </p:cNvSpPr>
          <p:nvPr>
            <p:ph type="ctrTitle"/>
          </p:nvPr>
        </p:nvSpPr>
        <p:spPr>
          <a:xfrm>
            <a:off x="1102619" y="4404852"/>
            <a:ext cx="9989677" cy="1054745"/>
          </a:xfrm>
        </p:spPr>
        <p:txBody>
          <a:bodyPr>
            <a:normAutofit fontScale="90000"/>
          </a:bodyPr>
          <a:lstStyle/>
          <a:p>
            <a:pPr>
              <a:lnSpc>
                <a:spcPct val="90000"/>
              </a:lnSpc>
            </a:pPr>
            <a:r>
              <a:rPr lang="en-US" altLang="zh-CN" sz="4600" b="1">
                <a:latin typeface="Arial" panose="020B0604020202020204" pitchFamily="34" charset="0"/>
                <a:cs typeface="Arial" panose="020B0604020202020204" pitchFamily="34" charset="0"/>
              </a:rPr>
              <a:t>MAMC01803</a:t>
            </a:r>
            <a:r>
              <a:rPr lang="zh-CN" altLang="en-US" sz="4600" b="1">
                <a:latin typeface="Arial" panose="020B0604020202020204" pitchFamily="34" charset="0"/>
                <a:cs typeface="Arial" panose="020B0604020202020204" pitchFamily="34" charset="0"/>
              </a:rPr>
              <a:t> </a:t>
            </a:r>
            <a:r>
              <a:rPr lang="en-US" altLang="zh-CN" sz="4600" b="1">
                <a:latin typeface="Arial" panose="020B0604020202020204" pitchFamily="34" charset="0"/>
                <a:cs typeface="Arial" panose="020B0604020202020204" pitchFamily="34" charset="0"/>
              </a:rPr>
              <a:t>Analytics</a:t>
            </a:r>
            <a:r>
              <a:rPr lang="zh-CN" altLang="en-US" sz="4600" b="1">
                <a:latin typeface="Arial" panose="020B0604020202020204" pitchFamily="34" charset="0"/>
                <a:cs typeface="Arial" panose="020B0604020202020204" pitchFamily="34" charset="0"/>
              </a:rPr>
              <a:t> </a:t>
            </a:r>
            <a:r>
              <a:rPr lang="en-US" altLang="zh-CN" sz="4600" b="1">
                <a:latin typeface="Arial" panose="020B0604020202020204" pitchFamily="34" charset="0"/>
                <a:cs typeface="Arial" panose="020B0604020202020204" pitchFamily="34" charset="0"/>
              </a:rPr>
              <a:t>for</a:t>
            </a:r>
            <a:r>
              <a:rPr lang="zh-CN" altLang="en-US" sz="4600" b="1">
                <a:latin typeface="Arial" panose="020B0604020202020204" pitchFamily="34" charset="0"/>
                <a:cs typeface="Arial" panose="020B0604020202020204" pitchFamily="34" charset="0"/>
              </a:rPr>
              <a:t> </a:t>
            </a:r>
            <a:r>
              <a:rPr lang="en-US" altLang="zh-CN" sz="4600" b="1">
                <a:latin typeface="Arial" panose="020B0604020202020204" pitchFamily="34" charset="0"/>
                <a:cs typeface="Arial" panose="020B0604020202020204" pitchFamily="34" charset="0"/>
              </a:rPr>
              <a:t>Managers</a:t>
            </a:r>
            <a:endParaRPr lang="en-AU" sz="4600"/>
          </a:p>
        </p:txBody>
      </p:sp>
      <p:sp>
        <p:nvSpPr>
          <p:cNvPr id="3" name="副标题 2">
            <a:extLst>
              <a:ext uri="{FF2B5EF4-FFF2-40B4-BE49-F238E27FC236}">
                <a16:creationId xmlns:a16="http://schemas.microsoft.com/office/drawing/2014/main" id="{AC93C8EE-593C-F74F-990D-83AA3B6C8156}"/>
              </a:ext>
            </a:extLst>
          </p:cNvPr>
          <p:cNvSpPr>
            <a:spLocks noGrp="1"/>
          </p:cNvSpPr>
          <p:nvPr>
            <p:ph type="subTitle" idx="1"/>
          </p:nvPr>
        </p:nvSpPr>
        <p:spPr>
          <a:xfrm>
            <a:off x="1298448" y="5565530"/>
            <a:ext cx="9603727" cy="405501"/>
          </a:xfrm>
        </p:spPr>
        <p:txBody>
          <a:bodyPr>
            <a:normAutofit/>
          </a:bodyPr>
          <a:lstStyle/>
          <a:p>
            <a:pPr>
              <a:lnSpc>
                <a:spcPct val="90000"/>
              </a:lnSpc>
              <a:defRPr/>
            </a:pPr>
            <a:r>
              <a:rPr lang="en-US" altLang="zh-CN">
                <a:latin typeface="Arial" panose="020B0604020202020204" pitchFamily="34" charset="0"/>
                <a:cs typeface="Arial" panose="020B0604020202020204" pitchFamily="34" charset="0"/>
              </a:rPr>
              <a:t>Week</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4</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(Session</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1):</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Diagnostic</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Analytics</a:t>
            </a:r>
          </a:p>
        </p:txBody>
      </p:sp>
      <p:sp>
        <p:nvSpPr>
          <p:cNvPr id="18" name="Rectangle 17">
            <a:extLst>
              <a:ext uri="{FF2B5EF4-FFF2-40B4-BE49-F238E27FC236}">
                <a16:creationId xmlns:a16="http://schemas.microsoft.com/office/drawing/2014/main" id="{9D2CA3DB-2141-4DE2-9F8A-9E5561DDF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Kia Ora sign art, carved of wood– TroubleMaker.co.nz">
            <a:extLst>
              <a:ext uri="{FF2B5EF4-FFF2-40B4-BE49-F238E27FC236}">
                <a16:creationId xmlns:a16="http://schemas.microsoft.com/office/drawing/2014/main" id="{83321980-CA36-BD86-3315-4B707B94FE05}"/>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986464" y="1418961"/>
            <a:ext cx="4227694" cy="2378077"/>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1214B64F-D291-4308-B071-A2678ED782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D83BC14E-CAE2-4D08-71C1-5032C01C02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97873" y="517562"/>
            <a:ext cx="4914411" cy="545017"/>
          </a:xfrm>
          <a:prstGeom prst="rect">
            <a:avLst/>
          </a:prstGeom>
          <a:noFill/>
          <a:ln>
            <a:noFill/>
          </a:ln>
        </p:spPr>
      </p:pic>
    </p:spTree>
    <p:extLst>
      <p:ext uri="{BB962C8B-B14F-4D97-AF65-F5344CB8AC3E}">
        <p14:creationId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77EDC-B1CD-8242-AA40-F65A99513EAE}"/>
              </a:ext>
            </a:extLst>
          </p:cNvPr>
          <p:cNvSpPr>
            <a:spLocks noGrp="1"/>
          </p:cNvSpPr>
          <p:nvPr>
            <p:ph type="title"/>
          </p:nvPr>
        </p:nvSpPr>
        <p:spPr>
          <a:xfrm>
            <a:off x="1869025" y="902286"/>
            <a:ext cx="8911687" cy="1280890"/>
          </a:xfrm>
        </p:spPr>
        <p:txBody>
          <a:bodyPr/>
          <a:lstStyle/>
          <a:p>
            <a:r>
              <a:rPr lang="en-US" altLang="zh-CN" b="1">
                <a:latin typeface="Arial" panose="020B0604020202020204" pitchFamily="34" charset="0"/>
                <a:cs typeface="Arial" panose="020B0604020202020204" pitchFamily="34" charset="0"/>
              </a:rPr>
              <a:t>In</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this</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lecture:</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AE7E98DA-27BC-8341-B41E-F25AD6C05C69}"/>
              </a:ext>
            </a:extLst>
          </p:cNvPr>
          <p:cNvSpPr>
            <a:spLocks noGrp="1"/>
          </p:cNvSpPr>
          <p:nvPr>
            <p:ph idx="1"/>
          </p:nvPr>
        </p:nvSpPr>
        <p:spPr>
          <a:xfrm>
            <a:off x="1867167" y="2524125"/>
            <a:ext cx="8008354" cy="2657475"/>
          </a:xfrm>
        </p:spPr>
        <p:txBody>
          <a:bodyPr>
            <a:normAutofit/>
          </a:bodyPr>
          <a:lstStyle/>
          <a:p>
            <a:r>
              <a:rPr lang="en-US" altLang="zh-CN" sz="2100" b="1" i="0">
                <a:solidFill>
                  <a:srgbClr val="000000"/>
                </a:solidFill>
                <a:effectLst/>
                <a:latin typeface="Arial" panose="020B0604020202020204" pitchFamily="34" charset="0"/>
                <a:cs typeface="Arial" panose="020B0604020202020204" pitchFamily="34" charset="0"/>
              </a:rPr>
              <a:t>Topic</a:t>
            </a:r>
            <a:r>
              <a:rPr lang="zh-CN" altLang="en-US" sz="2100" b="1" i="0">
                <a:solidFill>
                  <a:srgbClr val="000000"/>
                </a:solidFill>
                <a:effectLst/>
                <a:latin typeface="Arial" panose="020B0604020202020204" pitchFamily="34" charset="0"/>
                <a:cs typeface="Arial" panose="020B0604020202020204" pitchFamily="34" charset="0"/>
              </a:rPr>
              <a:t> </a:t>
            </a:r>
            <a:r>
              <a:rPr lang="en-US" altLang="zh-CN" sz="2100" b="1" i="0">
                <a:solidFill>
                  <a:srgbClr val="000000"/>
                </a:solidFill>
                <a:effectLst/>
                <a:latin typeface="Arial" panose="020B0604020202020204" pitchFamily="34" charset="0"/>
                <a:cs typeface="Arial" panose="020B0604020202020204" pitchFamily="34" charset="0"/>
              </a:rPr>
              <a:t>1:</a:t>
            </a:r>
            <a:r>
              <a:rPr lang="zh-CN" altLang="en-US" sz="2100" b="1" i="0">
                <a:solidFill>
                  <a:srgbClr val="000000"/>
                </a:solidFill>
                <a:effectLst/>
                <a:latin typeface="Arial" panose="020B0604020202020204" pitchFamily="34" charset="0"/>
                <a:cs typeface="Arial" panose="020B0604020202020204" pitchFamily="34" charset="0"/>
              </a:rPr>
              <a:t> </a:t>
            </a:r>
            <a:r>
              <a:rPr lang="en-US" altLang="zh-CN" sz="2100" b="1">
                <a:solidFill>
                  <a:schemeClr val="tx1"/>
                </a:solidFill>
                <a:latin typeface="Arial" panose="020B0604020202020204" pitchFamily="34" charset="0"/>
                <a:cs typeface="Arial" panose="020B0604020202020204" pitchFamily="34" charset="0"/>
              </a:rPr>
              <a:t>Finding</a:t>
            </a:r>
            <a:r>
              <a:rPr lang="zh-CN" altLang="en-US" sz="2100" b="1">
                <a:solidFill>
                  <a:schemeClr val="tx1"/>
                </a:solidFill>
                <a:latin typeface="Arial" panose="020B0604020202020204" pitchFamily="34" charset="0"/>
                <a:cs typeface="Arial" panose="020B0604020202020204" pitchFamily="34" charset="0"/>
              </a:rPr>
              <a:t> </a:t>
            </a:r>
            <a:r>
              <a:rPr lang="en-US" altLang="zh-CN" sz="2100" b="1">
                <a:solidFill>
                  <a:srgbClr val="FF0000"/>
                </a:solidFill>
                <a:latin typeface="Arial" panose="020B0604020202020204" pitchFamily="34" charset="0"/>
                <a:cs typeface="Arial" panose="020B0604020202020204" pitchFamily="34" charset="0"/>
              </a:rPr>
              <a:t>a</a:t>
            </a:r>
            <a:r>
              <a:rPr lang="zh-CN" altLang="en-US" sz="2100" b="1">
                <a:solidFill>
                  <a:srgbClr val="FF0000"/>
                </a:solidFill>
                <a:latin typeface="Arial" panose="020B0604020202020204" pitchFamily="34" charset="0"/>
                <a:cs typeface="Arial" panose="020B0604020202020204" pitchFamily="34" charset="0"/>
              </a:rPr>
              <a:t> </a:t>
            </a:r>
            <a:r>
              <a:rPr lang="en-US" altLang="zh-CN" sz="2100" b="1">
                <a:solidFill>
                  <a:srgbClr val="FF0000"/>
                </a:solidFill>
                <a:latin typeface="Arial" panose="020B0604020202020204" pitchFamily="34" charset="0"/>
                <a:cs typeface="Arial" panose="020B0604020202020204" pitchFamily="34" charset="0"/>
              </a:rPr>
              <a:t>dataset </a:t>
            </a:r>
          </a:p>
          <a:p>
            <a:r>
              <a:rPr lang="en-US" altLang="zh-CN" sz="2100" b="1">
                <a:solidFill>
                  <a:srgbClr val="000000"/>
                </a:solidFill>
                <a:latin typeface="Arial" panose="020B0604020202020204" pitchFamily="34" charset="0"/>
                <a:cs typeface="Arial" panose="020B0604020202020204" pitchFamily="34" charset="0"/>
              </a:rPr>
              <a:t>Topic</a:t>
            </a:r>
            <a:r>
              <a:rPr lang="zh-CN" altLang="en-US" sz="2100" b="1">
                <a:solidFill>
                  <a:srgbClr val="000000"/>
                </a:solidFill>
                <a:latin typeface="Arial" panose="020B0604020202020204" pitchFamily="34" charset="0"/>
                <a:cs typeface="Arial" panose="020B0604020202020204" pitchFamily="34" charset="0"/>
              </a:rPr>
              <a:t> </a:t>
            </a:r>
            <a:r>
              <a:rPr lang="en-US" altLang="zh-CN" sz="2100" b="1">
                <a:solidFill>
                  <a:srgbClr val="000000"/>
                </a:solidFill>
                <a:latin typeface="Arial" panose="020B0604020202020204" pitchFamily="34" charset="0"/>
                <a:cs typeface="Arial" panose="020B0604020202020204" pitchFamily="34" charset="0"/>
              </a:rPr>
              <a:t>2:</a:t>
            </a:r>
            <a:r>
              <a:rPr lang="zh-CN" altLang="en-US" sz="2100" b="1">
                <a:solidFill>
                  <a:srgbClr val="000000"/>
                </a:solidFill>
                <a:latin typeface="Arial" panose="020B0604020202020204" pitchFamily="34" charset="0"/>
                <a:cs typeface="Arial" panose="020B0604020202020204" pitchFamily="34" charset="0"/>
              </a:rPr>
              <a:t> </a:t>
            </a:r>
            <a:r>
              <a:rPr lang="en-US" altLang="zh-CN" sz="2100" b="1">
                <a:solidFill>
                  <a:schemeClr val="tx1"/>
                </a:solidFill>
                <a:latin typeface="Arial" panose="020B0604020202020204" pitchFamily="34" charset="0"/>
                <a:cs typeface="Arial" panose="020B0604020202020204" pitchFamily="34" charset="0"/>
              </a:rPr>
              <a:t>Exercises</a:t>
            </a:r>
            <a:r>
              <a:rPr lang="zh-CN" altLang="en-US" sz="2100" b="1">
                <a:solidFill>
                  <a:schemeClr val="tx1"/>
                </a:solidFill>
                <a:latin typeface="Arial" panose="020B0604020202020204" pitchFamily="34" charset="0"/>
                <a:cs typeface="Arial" panose="020B0604020202020204" pitchFamily="34" charset="0"/>
              </a:rPr>
              <a:t> </a:t>
            </a:r>
            <a:r>
              <a:rPr lang="en-US" altLang="zh-CN" sz="2100" b="1">
                <a:solidFill>
                  <a:schemeClr val="tx1"/>
                </a:solidFill>
                <a:latin typeface="Arial" panose="020B0604020202020204" pitchFamily="34" charset="0"/>
                <a:cs typeface="Arial" panose="020B0604020202020204" pitchFamily="34" charset="0"/>
              </a:rPr>
              <a:t>of</a:t>
            </a:r>
            <a:r>
              <a:rPr lang="zh-CN" altLang="en-US" sz="2100" b="1">
                <a:solidFill>
                  <a:schemeClr val="tx1"/>
                </a:solidFill>
                <a:latin typeface="Arial" panose="020B0604020202020204" pitchFamily="34" charset="0"/>
                <a:cs typeface="Arial" panose="020B0604020202020204" pitchFamily="34" charset="0"/>
              </a:rPr>
              <a:t> </a:t>
            </a:r>
            <a:r>
              <a:rPr lang="en-US" altLang="zh-CN" sz="2100" b="1">
                <a:solidFill>
                  <a:srgbClr val="FF0000"/>
                </a:solidFill>
                <a:latin typeface="Arial" panose="020B0604020202020204" pitchFamily="34" charset="0"/>
                <a:cs typeface="Arial" panose="020B0604020202020204" pitchFamily="34" charset="0"/>
              </a:rPr>
              <a:t>diagnostic</a:t>
            </a:r>
            <a:r>
              <a:rPr lang="zh-CN" altLang="en-US" sz="2100" b="1">
                <a:solidFill>
                  <a:srgbClr val="FF0000"/>
                </a:solidFill>
                <a:latin typeface="Arial" panose="020B0604020202020204" pitchFamily="34" charset="0"/>
                <a:cs typeface="Arial" panose="020B0604020202020204" pitchFamily="34" charset="0"/>
              </a:rPr>
              <a:t> </a:t>
            </a:r>
            <a:r>
              <a:rPr lang="en-US" altLang="zh-CN" sz="2100" b="1">
                <a:solidFill>
                  <a:srgbClr val="FF0000"/>
                </a:solidFill>
                <a:latin typeface="Arial" panose="020B0604020202020204" pitchFamily="34" charset="0"/>
                <a:cs typeface="Arial" panose="020B0604020202020204" pitchFamily="34" charset="0"/>
              </a:rPr>
              <a:t>analytics</a:t>
            </a:r>
          </a:p>
          <a:p>
            <a:r>
              <a:rPr lang="en-US" altLang="zh-CN" sz="2100" b="1">
                <a:solidFill>
                  <a:schemeClr val="tx1"/>
                </a:solidFill>
                <a:latin typeface="Arial" panose="020B0604020202020204" pitchFamily="34" charset="0"/>
                <a:cs typeface="Arial" panose="020B0604020202020204" pitchFamily="34" charset="0"/>
              </a:rPr>
              <a:t>Assessment</a:t>
            </a:r>
            <a:r>
              <a:rPr lang="zh-CN" altLang="en-US" sz="2100" b="1">
                <a:solidFill>
                  <a:schemeClr val="tx1"/>
                </a:solidFill>
                <a:latin typeface="Arial" panose="020B0604020202020204" pitchFamily="34" charset="0"/>
                <a:cs typeface="Arial" panose="020B0604020202020204" pitchFamily="34" charset="0"/>
              </a:rPr>
              <a:t> </a:t>
            </a:r>
            <a:r>
              <a:rPr lang="en-US" altLang="zh-CN" sz="2100" b="1">
                <a:solidFill>
                  <a:schemeClr val="tx1"/>
                </a:solidFill>
                <a:latin typeface="Arial" panose="020B0604020202020204" pitchFamily="34" charset="0"/>
                <a:cs typeface="Arial" panose="020B0604020202020204" pitchFamily="34" charset="0"/>
              </a:rPr>
              <a:t>Two</a:t>
            </a:r>
            <a:r>
              <a:rPr lang="zh-CN" altLang="en-US" sz="2100" b="1">
                <a:solidFill>
                  <a:schemeClr val="tx1"/>
                </a:solidFill>
                <a:latin typeface="Arial" panose="020B0604020202020204" pitchFamily="34" charset="0"/>
                <a:cs typeface="Arial" panose="020B0604020202020204" pitchFamily="34" charset="0"/>
              </a:rPr>
              <a:t> </a:t>
            </a:r>
            <a:endParaRPr lang="en-US" altLang="zh-CN" sz="2100" b="1">
              <a:solidFill>
                <a:schemeClr val="tx1"/>
              </a:solidFill>
              <a:latin typeface="Arial" panose="020B0604020202020204" pitchFamily="34" charset="0"/>
              <a:cs typeface="Arial" panose="020B0604020202020204" pitchFamily="34" charset="0"/>
            </a:endParaRPr>
          </a:p>
        </p:txBody>
      </p:sp>
      <p:pic>
        <p:nvPicPr>
          <p:cNvPr id="4" name="Picture 2" descr="LOOK FORWARD TO: qual é o significado e a tradução desse phrasal verb?">
            <a:extLst>
              <a:ext uri="{FF2B5EF4-FFF2-40B4-BE49-F238E27FC236}">
                <a16:creationId xmlns:a16="http://schemas.microsoft.com/office/drawing/2014/main" id="{157F44EE-8837-BC95-A160-9F21F7A18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8341" y="4376058"/>
            <a:ext cx="3701143" cy="222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81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05" y="541252"/>
            <a:ext cx="9305033" cy="1280890"/>
          </a:xfrm>
        </p:spPr>
        <p:txBody>
          <a:bodyPr>
            <a:normAutofit/>
          </a:bodyPr>
          <a:lstStyle/>
          <a:p>
            <a:r>
              <a:rPr lang="en-US" altLang="zh-CN" sz="3200" b="1">
                <a:solidFill>
                  <a:schemeClr val="tx1"/>
                </a:solidFill>
                <a:latin typeface="Arial" panose="020B0604020202020204" pitchFamily="34" charset="0"/>
                <a:cs typeface="Arial" panose="020B0604020202020204" pitchFamily="34" charset="0"/>
              </a:rPr>
              <a:t>Individual</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task</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and</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group</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discussion:</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Finding</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your</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dataset</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for</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Assessment</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Two</a:t>
            </a:r>
            <a:endParaRPr lang="en-NZ" sz="3200" b="1">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26263" y="2040834"/>
            <a:ext cx="10099234" cy="3532489"/>
          </a:xfrm>
        </p:spPr>
        <p:txBody>
          <a:bodyPr>
            <a:noAutofit/>
          </a:bodyPr>
          <a:lstStyle/>
          <a:p>
            <a:pPr marL="36900" indent="0">
              <a:buNone/>
            </a:pPr>
            <a:endParaRPr lang="en-US" altLang="zh-CN">
              <a:solidFill>
                <a:schemeClr val="tx1"/>
              </a:solidFill>
              <a:latin typeface="Arial" panose="020B0604020202020204" pitchFamily="34" charset="0"/>
              <a:cs typeface="Arial" panose="020B0604020202020204" pitchFamily="34" charset="0"/>
            </a:endParaRPr>
          </a:p>
          <a:p>
            <a:pPr marL="322650" indent="-285750"/>
            <a:r>
              <a:rPr lang="en-US" altLang="zh-CN">
                <a:solidFill>
                  <a:schemeClr val="tx1"/>
                </a:solidFill>
                <a:latin typeface="Arial" panose="020B0604020202020204" pitchFamily="34" charset="0"/>
                <a:cs typeface="Arial" panose="020B0604020202020204" pitchFamily="34" charset="0"/>
              </a:rPr>
              <a:t>Try</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to</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find</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a</a:t>
            </a:r>
            <a:r>
              <a:rPr lang="zh-CN" altLang="en-US">
                <a:solidFill>
                  <a:schemeClr val="tx1"/>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dataset </a:t>
            </a:r>
            <a:r>
              <a:rPr lang="en-US" altLang="zh-CN">
                <a:solidFill>
                  <a:schemeClr val="tx1"/>
                </a:solidFill>
                <a:latin typeface="Arial" panose="020B0604020202020204" pitchFamily="34" charset="0"/>
                <a:cs typeface="Arial" panose="020B0604020202020204" pitchFamily="34" charset="0"/>
              </a:rPr>
              <a:t>relating</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to</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your</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business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problems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from</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Kaggle/other</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sources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provided</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on</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Moodle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(see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‘Assessments’).</a:t>
            </a:r>
            <a:r>
              <a:rPr lang="zh-CN" altLang="en-US">
                <a:solidFill>
                  <a:schemeClr val="tx1"/>
                </a:solidFill>
                <a:latin typeface="Arial" panose="020B0604020202020204" pitchFamily="34" charset="0"/>
                <a:cs typeface="Arial" panose="020B0604020202020204" pitchFamily="34" charset="0"/>
              </a:rPr>
              <a:t> </a:t>
            </a:r>
            <a:r>
              <a:rPr lang="en-NZ" altLang="zh-CN">
                <a:solidFill>
                  <a:schemeClr val="tx1"/>
                </a:solidFill>
                <a:latin typeface="Arial" panose="020B0604020202020204" pitchFamily="34" charset="0"/>
                <a:cs typeface="Arial" panose="020B0604020202020204" pitchFamily="34" charset="0"/>
              </a:rPr>
              <a:t>These can be related to your business problems from assessment 1.  </a:t>
            </a:r>
            <a:endParaRPr lang="en-US" altLang="zh-CN">
              <a:solidFill>
                <a:schemeClr val="tx1"/>
              </a:solidFill>
              <a:latin typeface="Arial" panose="020B0604020202020204" pitchFamily="34" charset="0"/>
              <a:cs typeface="Arial" panose="020B0604020202020204" pitchFamily="34" charset="0"/>
            </a:endParaRPr>
          </a:p>
          <a:p>
            <a:pPr marL="322650" indent="-285750"/>
            <a:r>
              <a:rPr lang="en-US" altLang="zh-CN">
                <a:solidFill>
                  <a:schemeClr val="tx1"/>
                </a:solidFill>
                <a:latin typeface="Arial" panose="020B0604020202020204" pitchFamily="34" charset="0"/>
                <a:cs typeface="Arial" panose="020B0604020202020204" pitchFamily="34" charset="0"/>
              </a:rPr>
              <a:t>You</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will</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use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the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data</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from</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the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selected</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dataset</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to</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conduct</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at</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least</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three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types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of</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analytics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we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cover</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in</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this</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course</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for</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your</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Assessment</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Two;</a:t>
            </a:r>
            <a:endParaRPr lang="en-US" altLang="zh-CN" b="1">
              <a:solidFill>
                <a:schemeClr val="tx1"/>
              </a:solidFill>
              <a:latin typeface="Arial" panose="020B0604020202020204" pitchFamily="34" charset="0"/>
              <a:cs typeface="Arial" panose="020B0604020202020204" pitchFamily="34" charset="0"/>
            </a:endParaRPr>
          </a:p>
          <a:p>
            <a:pPr marL="322650" indent="-285750"/>
            <a:r>
              <a:rPr lang="en-US" altLang="zh-CN" b="1">
                <a:solidFill>
                  <a:schemeClr val="tx1"/>
                </a:solidFill>
                <a:latin typeface="Arial" panose="020B0604020202020204" pitchFamily="34" charset="0"/>
                <a:cs typeface="Arial" panose="020B0604020202020204" pitchFamily="34" charset="0"/>
              </a:rPr>
              <a:t>Criteria</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of</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dataset</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for</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Assessment</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Two:</a:t>
            </a:r>
            <a:r>
              <a:rPr lang="zh-CN" altLang="en-US" b="1">
                <a:solidFill>
                  <a:schemeClr val="tx1"/>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at</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least</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1000</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rows</a:t>
            </a:r>
            <a:r>
              <a:rPr lang="zh-CN" altLang="en-US" b="1">
                <a:solidFill>
                  <a:srgbClr val="FF0000"/>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AND</a:t>
            </a:r>
            <a:r>
              <a:rPr lang="zh-CN" altLang="en-US">
                <a:solidFill>
                  <a:schemeClr val="tx1"/>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at</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least</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20</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columns. Mix of categorical and numerical data.</a:t>
            </a:r>
            <a:endParaRPr lang="en-US" b="1">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4121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05" y="789446"/>
            <a:ext cx="9305033" cy="1280890"/>
          </a:xfrm>
        </p:spPr>
        <p:txBody>
          <a:bodyPr>
            <a:normAutofit/>
          </a:bodyPr>
          <a:lstStyle/>
          <a:p>
            <a:r>
              <a:rPr lang="en-US" altLang="zh-CN" sz="3200" b="1">
                <a:solidFill>
                  <a:schemeClr val="tx1"/>
                </a:solidFill>
                <a:latin typeface="Arial" panose="020B0604020202020204" pitchFamily="34" charset="0"/>
                <a:cs typeface="Arial" panose="020B0604020202020204" pitchFamily="34" charset="0"/>
              </a:rPr>
              <a:t>Individual</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task</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and</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group</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discussion:</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Finding</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your</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dataset</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for</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Assessment</a:t>
            </a:r>
            <a:r>
              <a:rPr lang="zh-CN" altLang="en-US" sz="3200" b="1">
                <a:solidFill>
                  <a:schemeClr val="tx1"/>
                </a:solidFill>
                <a:latin typeface="Arial" panose="020B0604020202020204" pitchFamily="34" charset="0"/>
                <a:cs typeface="Arial" panose="020B0604020202020204" pitchFamily="34" charset="0"/>
              </a:rPr>
              <a:t> </a:t>
            </a:r>
            <a:r>
              <a:rPr lang="en-US" altLang="zh-CN" sz="3200" b="1">
                <a:solidFill>
                  <a:schemeClr val="tx1"/>
                </a:solidFill>
                <a:latin typeface="Arial" panose="020B0604020202020204" pitchFamily="34" charset="0"/>
                <a:cs typeface="Arial" panose="020B0604020202020204" pitchFamily="34" charset="0"/>
              </a:rPr>
              <a:t>Two</a:t>
            </a:r>
            <a:endParaRPr lang="en-NZ" sz="3200" b="1">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54162" y="2671227"/>
            <a:ext cx="9499141" cy="2984990"/>
          </a:xfrm>
        </p:spPr>
        <p:txBody>
          <a:bodyPr>
            <a:noAutofit/>
          </a:bodyPr>
          <a:lstStyle/>
          <a:p>
            <a:pPr marL="36900" indent="0">
              <a:buNone/>
            </a:pPr>
            <a:r>
              <a:rPr lang="en-US" altLang="zh-CN" b="1">
                <a:solidFill>
                  <a:srgbClr val="FF0000"/>
                </a:solidFill>
                <a:latin typeface="Arial" panose="020B0604020202020204" pitchFamily="34" charset="0"/>
                <a:cs typeface="Arial" panose="020B0604020202020204" pitchFamily="34" charset="0"/>
              </a:rPr>
              <a:t>Please</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discuss</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your</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dataset</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with</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your</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group</a:t>
            </a:r>
            <a:r>
              <a:rPr lang="zh-CN" altLang="en-US" b="1">
                <a:solidFill>
                  <a:srgbClr val="FF0000"/>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members</a:t>
            </a:r>
          </a:p>
          <a:p>
            <a:pPr marL="36900" indent="0">
              <a:buNone/>
            </a:pPr>
            <a:endParaRPr lang="en-US" altLang="zh-CN" b="1">
              <a:solidFill>
                <a:srgbClr val="FF0000"/>
              </a:solidFill>
              <a:latin typeface="Arial" panose="020B0604020202020204" pitchFamily="34" charset="0"/>
              <a:cs typeface="Arial" panose="020B0604020202020204" pitchFamily="34" charset="0"/>
            </a:endParaRPr>
          </a:p>
          <a:p>
            <a:pPr marL="36900" indent="0">
              <a:buNone/>
            </a:pPr>
            <a:r>
              <a:rPr lang="en-US" altLang="zh-CN" b="1">
                <a:solidFill>
                  <a:srgbClr val="FF0000"/>
                </a:solidFill>
                <a:latin typeface="Arial" panose="020B0604020202020204" pitchFamily="34" charset="0"/>
                <a:cs typeface="Arial" panose="020B0604020202020204" pitchFamily="34" charset="0"/>
              </a:rPr>
              <a:t>Preparation:</a:t>
            </a:r>
            <a:r>
              <a:rPr lang="zh-CN" altLang="en-US" b="1">
                <a:solidFill>
                  <a:srgbClr val="FF0000"/>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Identify</a:t>
            </a:r>
            <a:r>
              <a:rPr lang="zh-CN" altLang="en-US" b="1">
                <a:solidFill>
                  <a:schemeClr val="tx1"/>
                </a:solidFill>
                <a:latin typeface="Arial" panose="020B0604020202020204" pitchFamily="34" charset="0"/>
                <a:cs typeface="Arial" panose="020B0604020202020204" pitchFamily="34" charset="0"/>
              </a:rPr>
              <a:t> </a:t>
            </a:r>
            <a:r>
              <a:rPr lang="en-US" altLang="zh-CN" b="1">
                <a:solidFill>
                  <a:srgbClr val="0070C0"/>
                </a:solidFill>
                <a:latin typeface="Arial" panose="020B0604020202020204" pitchFamily="34" charset="0"/>
                <a:cs typeface="Arial" panose="020B0604020202020204" pitchFamily="34" charset="0"/>
              </a:rPr>
              <a:t>at</a:t>
            </a:r>
            <a:r>
              <a:rPr lang="zh-CN" altLang="en-US" b="1">
                <a:solidFill>
                  <a:srgbClr val="0070C0"/>
                </a:solidFill>
                <a:latin typeface="Arial" panose="020B0604020202020204" pitchFamily="34" charset="0"/>
                <a:cs typeface="Arial" panose="020B0604020202020204" pitchFamily="34" charset="0"/>
              </a:rPr>
              <a:t> </a:t>
            </a:r>
            <a:r>
              <a:rPr lang="en-US" altLang="zh-CN" b="1">
                <a:solidFill>
                  <a:srgbClr val="0070C0"/>
                </a:solidFill>
                <a:latin typeface="Arial" panose="020B0604020202020204" pitchFamily="34" charset="0"/>
                <a:cs typeface="Arial" panose="020B0604020202020204" pitchFamily="34" charset="0"/>
              </a:rPr>
              <a:t>least</a:t>
            </a:r>
            <a:r>
              <a:rPr lang="zh-CN" altLang="en-US" b="1">
                <a:solidFill>
                  <a:srgbClr val="0070C0"/>
                </a:solidFill>
                <a:latin typeface="Arial" panose="020B0604020202020204" pitchFamily="34" charset="0"/>
                <a:cs typeface="Arial" panose="020B0604020202020204" pitchFamily="34" charset="0"/>
              </a:rPr>
              <a:t> </a:t>
            </a:r>
            <a:r>
              <a:rPr lang="en-US" altLang="zh-CN" b="1">
                <a:solidFill>
                  <a:srgbClr val="0070C0"/>
                </a:solidFill>
                <a:latin typeface="Arial" panose="020B0604020202020204" pitchFamily="34" charset="0"/>
                <a:cs typeface="Arial" panose="020B0604020202020204" pitchFamily="34" charset="0"/>
              </a:rPr>
              <a:t>one</a:t>
            </a:r>
            <a:r>
              <a:rPr lang="zh-CN" altLang="en-US" b="1">
                <a:solidFill>
                  <a:srgbClr val="0070C0"/>
                </a:solidFill>
                <a:latin typeface="Arial" panose="020B0604020202020204" pitchFamily="34" charset="0"/>
                <a:cs typeface="Arial" panose="020B0604020202020204" pitchFamily="34" charset="0"/>
              </a:rPr>
              <a:t> </a:t>
            </a:r>
            <a:r>
              <a:rPr lang="en-US" altLang="zh-CN" b="1">
                <a:solidFill>
                  <a:srgbClr val="0070C0"/>
                </a:solidFill>
                <a:latin typeface="Arial" panose="020B0604020202020204" pitchFamily="34" charset="0"/>
                <a:cs typeface="Arial" panose="020B0604020202020204" pitchFamily="34" charset="0"/>
              </a:rPr>
              <a:t>business</a:t>
            </a:r>
            <a:r>
              <a:rPr lang="zh-CN" altLang="en-US" b="1">
                <a:solidFill>
                  <a:srgbClr val="0070C0"/>
                </a:solidFill>
                <a:latin typeface="Arial" panose="020B0604020202020204" pitchFamily="34" charset="0"/>
                <a:cs typeface="Arial" panose="020B0604020202020204" pitchFamily="34" charset="0"/>
              </a:rPr>
              <a:t> </a:t>
            </a:r>
            <a:r>
              <a:rPr lang="en-US" altLang="zh-CN" b="1">
                <a:solidFill>
                  <a:srgbClr val="0070C0"/>
                </a:solidFill>
                <a:latin typeface="Arial" panose="020B0604020202020204" pitchFamily="34" charset="0"/>
                <a:cs typeface="Arial" panose="020B0604020202020204" pitchFamily="34" charset="0"/>
              </a:rPr>
              <a:t>problem from your dataset</a:t>
            </a:r>
            <a:r>
              <a:rPr lang="zh-CN" altLang="en-US" b="1">
                <a:solidFill>
                  <a:srgbClr val="0070C0"/>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(three</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would</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be</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better</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sym typeface="Wingdings" pitchFamily="2" charset="2"/>
              </a:rPr>
              <a:t></a:t>
            </a:r>
            <a:r>
              <a:rPr lang="en-US" altLang="zh-CN" b="1">
                <a:solidFill>
                  <a:schemeClr val="tx1"/>
                </a:solidFill>
                <a:latin typeface="Arial" panose="020B0604020202020204" pitchFamily="34" charset="0"/>
                <a:cs typeface="Arial" panose="020B0604020202020204" pitchFamily="34" charset="0"/>
              </a:rPr>
              <a:t>)</a:t>
            </a:r>
            <a:r>
              <a:rPr lang="zh-CN" altLang="en-US" b="1">
                <a:solidFill>
                  <a:schemeClr val="tx1"/>
                </a:solidFill>
                <a:latin typeface="Arial" panose="020B0604020202020204" pitchFamily="34" charset="0"/>
                <a:cs typeface="Arial" panose="020B0604020202020204" pitchFamily="34" charset="0"/>
              </a:rPr>
              <a:t> </a:t>
            </a:r>
            <a:r>
              <a:rPr lang="en-US" altLang="zh-CN" b="1" u="sng">
                <a:solidFill>
                  <a:schemeClr val="tx1"/>
                </a:solidFill>
                <a:latin typeface="Arial" panose="020B0604020202020204" pitchFamily="34" charset="0"/>
                <a:cs typeface="Arial" panose="020B0604020202020204" pitchFamily="34" charset="0"/>
              </a:rPr>
              <a:t>before</a:t>
            </a:r>
            <a:r>
              <a:rPr lang="zh-CN" altLang="en-US" b="1" u="sng">
                <a:solidFill>
                  <a:schemeClr val="tx1"/>
                </a:solidFill>
                <a:latin typeface="Arial" panose="020B0604020202020204" pitchFamily="34" charset="0"/>
                <a:cs typeface="Arial" panose="020B0604020202020204" pitchFamily="34" charset="0"/>
              </a:rPr>
              <a:t> </a:t>
            </a:r>
            <a:r>
              <a:rPr lang="en-US" altLang="zh-CN" b="1" u="sng">
                <a:solidFill>
                  <a:schemeClr val="tx1"/>
                </a:solidFill>
                <a:latin typeface="Arial" panose="020B0604020202020204" pitchFamily="34" charset="0"/>
                <a:cs typeface="Arial" panose="020B0604020202020204" pitchFamily="34" charset="0"/>
              </a:rPr>
              <a:t>our</a:t>
            </a:r>
            <a:r>
              <a:rPr lang="zh-CN" altLang="en-US" b="1" u="sng">
                <a:solidFill>
                  <a:schemeClr val="tx1"/>
                </a:solidFill>
                <a:latin typeface="Arial" panose="020B0604020202020204" pitchFamily="34" charset="0"/>
                <a:cs typeface="Arial" panose="020B0604020202020204" pitchFamily="34" charset="0"/>
              </a:rPr>
              <a:t> </a:t>
            </a:r>
            <a:r>
              <a:rPr lang="en-NZ" altLang="zh-CN" b="1" u="sng">
                <a:solidFill>
                  <a:schemeClr val="tx1"/>
                </a:solidFill>
                <a:latin typeface="Arial" panose="020B0604020202020204" pitchFamily="34" charset="0"/>
                <a:cs typeface="Arial" panose="020B0604020202020204" pitchFamily="34" charset="0"/>
              </a:rPr>
              <a:t>second</a:t>
            </a:r>
            <a:r>
              <a:rPr lang="zh-CN" altLang="en-US" b="1" u="sng">
                <a:solidFill>
                  <a:schemeClr val="tx1"/>
                </a:solidFill>
                <a:latin typeface="Arial" panose="020B0604020202020204" pitchFamily="34" charset="0"/>
                <a:cs typeface="Arial" panose="020B0604020202020204" pitchFamily="34" charset="0"/>
              </a:rPr>
              <a:t> </a:t>
            </a:r>
            <a:r>
              <a:rPr lang="en-US" altLang="zh-CN" b="1" u="sng">
                <a:solidFill>
                  <a:schemeClr val="tx1"/>
                </a:solidFill>
                <a:latin typeface="Arial" panose="020B0604020202020204" pitchFamily="34" charset="0"/>
                <a:cs typeface="Arial" panose="020B0604020202020204" pitchFamily="34" charset="0"/>
              </a:rPr>
              <a:t>class</a:t>
            </a:r>
            <a:r>
              <a:rPr lang="zh-CN" altLang="en-US" b="1" u="sng">
                <a:solidFill>
                  <a:schemeClr val="tx1"/>
                </a:solidFill>
                <a:latin typeface="Arial" panose="020B0604020202020204" pitchFamily="34" charset="0"/>
                <a:cs typeface="Arial" panose="020B0604020202020204" pitchFamily="34" charset="0"/>
              </a:rPr>
              <a:t> </a:t>
            </a:r>
            <a:r>
              <a:rPr lang="en-US" altLang="zh-CN" b="1" u="sng">
                <a:solidFill>
                  <a:schemeClr val="tx1"/>
                </a:solidFill>
                <a:latin typeface="Arial" panose="020B0604020202020204" pitchFamily="34" charset="0"/>
                <a:cs typeface="Arial" panose="020B0604020202020204" pitchFamily="34" charset="0"/>
              </a:rPr>
              <a:t>(Week</a:t>
            </a:r>
            <a:r>
              <a:rPr lang="zh-CN" altLang="en-US" b="1" u="sng">
                <a:solidFill>
                  <a:schemeClr val="tx1"/>
                </a:solidFill>
                <a:latin typeface="Arial" panose="020B0604020202020204" pitchFamily="34" charset="0"/>
                <a:cs typeface="Arial" panose="020B0604020202020204" pitchFamily="34" charset="0"/>
              </a:rPr>
              <a:t> </a:t>
            </a:r>
            <a:r>
              <a:rPr lang="en-US" altLang="zh-CN" b="1" u="sng">
                <a:solidFill>
                  <a:schemeClr val="tx1"/>
                </a:solidFill>
                <a:latin typeface="Arial" panose="020B0604020202020204" pitchFamily="34" charset="0"/>
                <a:cs typeface="Arial" panose="020B0604020202020204" pitchFamily="34" charset="0"/>
              </a:rPr>
              <a:t>4)</a:t>
            </a:r>
            <a:r>
              <a:rPr lang="en-US" altLang="zh-CN" b="1">
                <a:solidFill>
                  <a:schemeClr val="tx1"/>
                </a:solidFill>
                <a:latin typeface="Arial" panose="020B0604020202020204" pitchFamily="34" charset="0"/>
                <a:cs typeface="Arial" panose="020B0604020202020204" pitchFamily="34" charset="0"/>
              </a:rPr>
              <a:t>.</a:t>
            </a:r>
            <a:r>
              <a:rPr lang="zh-CN" altLang="en-US" b="1">
                <a:solidFill>
                  <a:schemeClr val="tx1"/>
                </a:solidFill>
                <a:latin typeface="Arial" panose="020B0604020202020204" pitchFamily="34" charset="0"/>
                <a:cs typeface="Arial" panose="020B0604020202020204" pitchFamily="34" charset="0"/>
              </a:rPr>
              <a:t> </a:t>
            </a:r>
            <a:endParaRPr lang="en-NZ" b="1">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522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p:txBody>
          <a:bodyPr/>
          <a:lstStyle/>
          <a:p>
            <a:r>
              <a:rPr lang="en-US" altLang="zh-CN" b="1">
                <a:latin typeface="Arial" panose="020B0604020202020204" pitchFamily="34" charset="0"/>
                <a:cs typeface="Arial" panose="020B0604020202020204" pitchFamily="34" charset="0"/>
              </a:rPr>
              <a:t>Diagnostic</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analytics</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C671A7E4-F024-38C1-DC35-32B091CF626A}"/>
              </a:ext>
            </a:extLst>
          </p:cNvPr>
          <p:cNvSpPr>
            <a:spLocks noGrp="1"/>
          </p:cNvSpPr>
          <p:nvPr>
            <p:ph idx="1"/>
          </p:nvPr>
        </p:nvSpPr>
        <p:spPr/>
        <p:txBody>
          <a:bodyPr>
            <a:normAutofit fontScale="77500" lnSpcReduction="20000"/>
          </a:bodyPr>
          <a:lstStyle/>
          <a:p>
            <a:pPr>
              <a:buFont typeface="Wingdings 3" charset="2"/>
              <a:buAutoNum type="arabicPeriod"/>
            </a:pPr>
            <a:r>
              <a:rPr lang="en-US" altLang="zh-CN" b="1">
                <a:solidFill>
                  <a:schemeClr val="tx1"/>
                </a:solidFill>
                <a:latin typeface="Arial" panose="020B0604020202020204" pitchFamily="34" charset="0"/>
                <a:cs typeface="Arial" panose="020B0604020202020204" pitchFamily="34" charset="0"/>
              </a:rPr>
              <a:t>Diagnostic analytics is the process of using data to determine </a:t>
            </a:r>
            <a:r>
              <a:rPr lang="en-US" altLang="zh-CN" b="1">
                <a:solidFill>
                  <a:srgbClr val="FF0000"/>
                </a:solidFill>
                <a:latin typeface="Arial" panose="020B0604020202020204" pitchFamily="34" charset="0"/>
                <a:cs typeface="Arial" panose="020B0604020202020204" pitchFamily="34" charset="0"/>
              </a:rPr>
              <a:t>the causes of trends and correlations between variables</a:t>
            </a:r>
            <a:r>
              <a:rPr lang="en-US" altLang="zh-CN" b="1">
                <a:solidFill>
                  <a:schemeClr val="tx1"/>
                </a:solidFill>
                <a:latin typeface="Arial" panose="020B0604020202020204" pitchFamily="34" charset="0"/>
                <a:cs typeface="Arial" panose="020B0604020202020204" pitchFamily="34" charset="0"/>
              </a:rPr>
              <a:t>. It can be viewed as a logical next step after using descriptive analytics to identify trends. Diagnostic analysis can be done manually, using an algorithm, or with statistical software (such as Microsoft Excel).</a:t>
            </a:r>
          </a:p>
          <a:p>
            <a:pPr>
              <a:buFont typeface="Wingdings 3" charset="2"/>
              <a:buAutoNum type="arabicPeriod"/>
            </a:pPr>
            <a:endParaRPr lang="en-US" altLang="zh-CN" b="1">
              <a:solidFill>
                <a:schemeClr val="tx1"/>
              </a:solidFill>
              <a:latin typeface="Arial" panose="020B0604020202020204" pitchFamily="34" charset="0"/>
              <a:cs typeface="Arial" panose="020B0604020202020204" pitchFamily="34" charset="0"/>
            </a:endParaRPr>
          </a:p>
          <a:p>
            <a:pPr>
              <a:buFont typeface="Wingdings 3" charset="2"/>
              <a:buAutoNum type="arabicPeriod"/>
            </a:pPr>
            <a:r>
              <a:rPr lang="en-US" altLang="zh-CN" b="1">
                <a:solidFill>
                  <a:schemeClr val="tx1"/>
                </a:solidFill>
                <a:latin typeface="Arial" panose="020B0604020202020204" pitchFamily="34" charset="0"/>
                <a:cs typeface="Arial" panose="020B0604020202020204" pitchFamily="34" charset="0"/>
              </a:rPr>
              <a:t>There are several concepts to understand before diving into diagnostic analytics: </a:t>
            </a:r>
            <a:r>
              <a:rPr lang="en-US" altLang="zh-CN" b="1">
                <a:solidFill>
                  <a:srgbClr val="FF0000"/>
                </a:solidFill>
                <a:latin typeface="Arial" panose="020B0604020202020204" pitchFamily="34" charset="0"/>
                <a:cs typeface="Arial" panose="020B0604020202020204" pitchFamily="34" charset="0"/>
              </a:rPr>
              <a:t>hypothesis testing</a:t>
            </a:r>
            <a:r>
              <a:rPr lang="en-US" altLang="zh-CN" b="1">
                <a:solidFill>
                  <a:schemeClr val="tx1"/>
                </a:solidFill>
                <a:latin typeface="Arial" panose="020B0604020202020204" pitchFamily="34" charset="0"/>
                <a:cs typeface="Arial" panose="020B0604020202020204" pitchFamily="34" charset="0"/>
              </a:rPr>
              <a:t>, </a:t>
            </a:r>
            <a:r>
              <a:rPr lang="en-US" altLang="zh-CN" b="1">
                <a:solidFill>
                  <a:srgbClr val="FF0000"/>
                </a:solidFill>
                <a:latin typeface="Arial" panose="020B0604020202020204" pitchFamily="34" charset="0"/>
                <a:cs typeface="Arial" panose="020B0604020202020204" pitchFamily="34" charset="0"/>
              </a:rPr>
              <a:t>the difference between correlation and causation</a:t>
            </a:r>
            <a:r>
              <a:rPr lang="en-US" altLang="zh-CN" b="1">
                <a:solidFill>
                  <a:schemeClr val="tx1"/>
                </a:solidFill>
                <a:latin typeface="Arial" panose="020B0604020202020204" pitchFamily="34" charset="0"/>
                <a:cs typeface="Arial" panose="020B0604020202020204" pitchFamily="34" charset="0"/>
              </a:rPr>
              <a:t>, and </a:t>
            </a:r>
            <a:r>
              <a:rPr lang="en-US" altLang="zh-CN" b="1">
                <a:solidFill>
                  <a:srgbClr val="FF0000"/>
                </a:solidFill>
                <a:latin typeface="Arial" panose="020B0604020202020204" pitchFamily="34" charset="0"/>
                <a:cs typeface="Arial" panose="020B0604020202020204" pitchFamily="34" charset="0"/>
              </a:rPr>
              <a:t>diagnostic regression analysis</a:t>
            </a:r>
            <a:r>
              <a:rPr lang="en-US" altLang="zh-CN" b="1">
                <a:solidFill>
                  <a:schemeClr val="tx1"/>
                </a:solidFill>
                <a:latin typeface="Arial" panose="020B0604020202020204" pitchFamily="34" charset="0"/>
                <a:cs typeface="Arial" panose="020B0604020202020204" pitchFamily="34" charset="0"/>
              </a:rPr>
              <a:t>.</a:t>
            </a:r>
          </a:p>
          <a:p>
            <a:pPr>
              <a:buFont typeface="Wingdings 3" charset="2"/>
              <a:buAutoNum type="arabicPeriod"/>
            </a:pPr>
            <a:endParaRPr lang="en-US" altLang="zh-CN" b="1">
              <a:solidFill>
                <a:schemeClr val="tx1"/>
              </a:solidFill>
              <a:latin typeface="Arial" panose="020B0604020202020204" pitchFamily="34" charset="0"/>
              <a:cs typeface="Arial" panose="020B0604020202020204" pitchFamily="34" charset="0"/>
            </a:endParaRPr>
          </a:p>
          <a:p>
            <a:pPr marL="0" indent="0">
              <a:buNone/>
            </a:pPr>
            <a:r>
              <a:rPr lang="en-US" altLang="zh-CN" b="1">
                <a:solidFill>
                  <a:schemeClr val="tx1"/>
                </a:solidFill>
                <a:latin typeface="Arial" panose="020B0604020202020204" pitchFamily="34" charset="0"/>
                <a:cs typeface="Arial" panose="020B0604020202020204" pitchFamily="34" charset="0"/>
              </a:rPr>
              <a:t>Reading:</a:t>
            </a:r>
            <a:r>
              <a:rPr lang="zh-CN" altLang="en-US" b="1">
                <a:solidFill>
                  <a:schemeClr val="tx1"/>
                </a:solidFill>
                <a:latin typeface="Arial" panose="020B0604020202020204" pitchFamily="34" charset="0"/>
                <a:cs typeface="Arial" panose="020B0604020202020204" pitchFamily="34" charset="0"/>
              </a:rPr>
              <a:t> </a:t>
            </a:r>
            <a:r>
              <a:rPr lang="en-NZ" altLang="zh-CN" b="1">
                <a:solidFill>
                  <a:schemeClr val="tx1"/>
                </a:solidFill>
                <a:latin typeface="Arial" panose="020B0604020202020204" pitchFamily="34" charset="0"/>
                <a:cs typeface="Arial" panose="020B0604020202020204" pitchFamily="34" charset="0"/>
                <a:hlinkClick r:id="rId2"/>
              </a:rPr>
              <a:t>https://</a:t>
            </a:r>
            <a:r>
              <a:rPr lang="en-NZ" altLang="zh-CN" b="1" err="1">
                <a:solidFill>
                  <a:schemeClr val="tx1"/>
                </a:solidFill>
                <a:latin typeface="Arial" panose="020B0604020202020204" pitchFamily="34" charset="0"/>
                <a:cs typeface="Arial" panose="020B0604020202020204" pitchFamily="34" charset="0"/>
                <a:hlinkClick r:id="rId2"/>
              </a:rPr>
              <a:t>online.hbs.edu</a:t>
            </a:r>
            <a:r>
              <a:rPr lang="en-NZ" altLang="zh-CN" b="1">
                <a:solidFill>
                  <a:schemeClr val="tx1"/>
                </a:solidFill>
                <a:latin typeface="Arial" panose="020B0604020202020204" pitchFamily="34" charset="0"/>
                <a:cs typeface="Arial" panose="020B0604020202020204" pitchFamily="34" charset="0"/>
                <a:hlinkClick r:id="rId2"/>
              </a:rPr>
              <a:t>/blog/post/diagnostic-analytics</a:t>
            </a:r>
            <a:endParaRPr lang="en-US" altLang="zh-CN" b="1">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681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p:txBody>
          <a:bodyPr/>
          <a:lstStyle/>
          <a:p>
            <a:r>
              <a:rPr lang="en-NZ" b="1">
                <a:latin typeface="Arial" panose="020B0604020202020204" pitchFamily="34" charset="0"/>
                <a:cs typeface="Arial" panose="020B0604020202020204" pitchFamily="34" charset="0"/>
              </a:rPr>
              <a:t>T-Test</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C671A7E4-F024-38C1-DC35-32B091CF626A}"/>
              </a:ext>
            </a:extLst>
          </p:cNvPr>
          <p:cNvSpPr>
            <a:spLocks noGrp="1"/>
          </p:cNvSpPr>
          <p:nvPr>
            <p:ph idx="1"/>
          </p:nvPr>
        </p:nvSpPr>
        <p:spPr>
          <a:xfrm>
            <a:off x="1295401" y="2040834"/>
            <a:ext cx="9601196" cy="4055165"/>
          </a:xfrm>
        </p:spPr>
        <p:txBody>
          <a:bodyPr>
            <a:normAutofit lnSpcReduction="10000"/>
          </a:bodyPr>
          <a:lstStyle/>
          <a:p>
            <a:pPr>
              <a:buNone/>
            </a:pPr>
            <a:r>
              <a:rPr lang="en-NZ" b="1">
                <a:solidFill>
                  <a:schemeClr val="tx1"/>
                </a:solidFill>
                <a:latin typeface="Arial" panose="020B0604020202020204" pitchFamily="34" charset="0"/>
                <a:cs typeface="Arial" panose="020B0604020202020204" pitchFamily="34" charset="0"/>
              </a:rPr>
              <a:t>T- Test: </a:t>
            </a:r>
            <a:r>
              <a:rPr lang="en-NZ">
                <a:solidFill>
                  <a:schemeClr val="tx1"/>
                </a:solidFill>
                <a:latin typeface="Arial" panose="020B0604020202020204" pitchFamily="34" charset="0"/>
                <a:cs typeface="Arial" panose="020B0604020202020204" pitchFamily="34" charset="0"/>
              </a:rPr>
              <a:t>statistical procedure that analyses whether there is a significant difference between the MEANS (averages) of two groups. (e.g. Revenue of item A </a:t>
            </a:r>
            <a:r>
              <a:rPr lang="en-NZ" err="1">
                <a:solidFill>
                  <a:schemeClr val="tx1"/>
                </a:solidFill>
                <a:latin typeface="Arial" panose="020B0604020202020204" pitchFamily="34" charset="0"/>
                <a:cs typeface="Arial" panose="020B0604020202020204" pitchFamily="34" charset="0"/>
              </a:rPr>
              <a:t>vs</a:t>
            </a:r>
            <a:r>
              <a:rPr lang="en-NZ">
                <a:solidFill>
                  <a:schemeClr val="tx1"/>
                </a:solidFill>
                <a:latin typeface="Arial" panose="020B0604020202020204" pitchFamily="34" charset="0"/>
                <a:cs typeface="Arial" panose="020B0604020202020204" pitchFamily="34" charset="0"/>
              </a:rPr>
              <a:t> Revenue of Item B).</a:t>
            </a:r>
            <a:endParaRPr lang="en-US" b="1">
              <a:solidFill>
                <a:schemeClr val="tx1"/>
              </a:solidFill>
              <a:latin typeface="Arial" panose="020B0604020202020204" pitchFamily="34" charset="0"/>
              <a:cs typeface="Arial" panose="020B0604020202020204" pitchFamily="34" charset="0"/>
            </a:endParaRPr>
          </a:p>
          <a:p>
            <a:pPr>
              <a:buNone/>
            </a:pPr>
            <a:r>
              <a:rPr lang="en-NZ" b="1">
                <a:solidFill>
                  <a:schemeClr val="tx1"/>
                </a:solidFill>
                <a:latin typeface="Arial" panose="020B0604020202020204" pitchFamily="34" charset="0"/>
                <a:cs typeface="Arial" panose="020B0604020202020204" pitchFamily="34" charset="0"/>
              </a:rPr>
              <a:t>One sample t test: </a:t>
            </a:r>
            <a:r>
              <a:rPr lang="en-NZ">
                <a:solidFill>
                  <a:schemeClr val="tx1"/>
                </a:solidFill>
                <a:latin typeface="Arial" panose="020B0604020202020204" pitchFamily="34" charset="0"/>
                <a:cs typeface="Arial" panose="020B0604020202020204" pitchFamily="34" charset="0"/>
              </a:rPr>
              <a:t>used to compare mean value of a group with a known mean value.</a:t>
            </a:r>
          </a:p>
          <a:p>
            <a:pPr>
              <a:buNone/>
            </a:pPr>
            <a:r>
              <a:rPr lang="en-NZ" b="1">
                <a:solidFill>
                  <a:schemeClr val="tx1"/>
                </a:solidFill>
                <a:latin typeface="Arial" panose="020B0604020202020204" pitchFamily="34" charset="0"/>
                <a:cs typeface="Arial" panose="020B0604020202020204" pitchFamily="34" charset="0"/>
              </a:rPr>
              <a:t>Paired sample t test</a:t>
            </a:r>
            <a:r>
              <a:rPr lang="en-NZ">
                <a:solidFill>
                  <a:schemeClr val="tx1"/>
                </a:solidFill>
                <a:latin typeface="Arial" panose="020B0604020202020204" pitchFamily="34" charset="0"/>
                <a:cs typeface="Arial" panose="020B0604020202020204" pitchFamily="34" charset="0"/>
              </a:rPr>
              <a:t>: used to compare mean values of the same group.</a:t>
            </a:r>
          </a:p>
          <a:p>
            <a:pPr>
              <a:buNone/>
            </a:pPr>
            <a:r>
              <a:rPr lang="en-NZ" b="1">
                <a:ln>
                  <a:solidFill>
                    <a:srgbClr val="FFFF00"/>
                  </a:solidFill>
                </a:ln>
                <a:solidFill>
                  <a:schemeClr val="tx1"/>
                </a:solidFill>
                <a:latin typeface="Arial" panose="020B0604020202020204" pitchFamily="34" charset="0"/>
                <a:cs typeface="Arial" panose="020B0604020202020204" pitchFamily="34" charset="0"/>
              </a:rPr>
              <a:t>Independent sample t test</a:t>
            </a:r>
            <a:r>
              <a:rPr lang="en-NZ">
                <a:ln>
                  <a:solidFill>
                    <a:srgbClr val="FFFF00"/>
                  </a:solidFill>
                </a:ln>
                <a:solidFill>
                  <a:schemeClr val="tx1"/>
                </a:solidFill>
                <a:latin typeface="Arial" panose="020B0604020202020204" pitchFamily="34" charset="0"/>
                <a:cs typeface="Arial" panose="020B0604020202020204" pitchFamily="34" charset="0"/>
              </a:rPr>
              <a:t>: used to compare the mean values of one group with the mean values of another group. Can be done only with 2 groups. </a:t>
            </a:r>
          </a:p>
          <a:p>
            <a:pPr>
              <a:buNone/>
            </a:pPr>
            <a:endParaRPr lang="en-NZ">
              <a:solidFill>
                <a:schemeClr val="tx1"/>
              </a:solidFill>
              <a:latin typeface="Arial" panose="020B0604020202020204" pitchFamily="34" charset="0"/>
              <a:cs typeface="Arial" panose="020B0604020202020204" pitchFamily="34" charset="0"/>
            </a:endParaRPr>
          </a:p>
          <a:p>
            <a:pPr>
              <a:buNone/>
            </a:pPr>
            <a:endParaRPr lang="en-NZ">
              <a:solidFill>
                <a:schemeClr val="tx1"/>
              </a:solidFill>
              <a:latin typeface="Arial" panose="020B0604020202020204" pitchFamily="34" charset="0"/>
              <a:cs typeface="Arial" panose="020B0604020202020204" pitchFamily="34" charset="0"/>
            </a:endParaRPr>
          </a:p>
          <a:p>
            <a:pPr>
              <a:buNone/>
            </a:pPr>
            <a:endParaRPr lang="en-NZ">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681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p:txBody>
          <a:bodyPr/>
          <a:lstStyle/>
          <a:p>
            <a:r>
              <a:rPr lang="en-NZ" b="1">
                <a:latin typeface="Arial" panose="020B0604020202020204" pitchFamily="34" charset="0"/>
                <a:cs typeface="Arial" panose="020B0604020202020204" pitchFamily="34" charset="0"/>
              </a:rPr>
              <a:t>T-Test</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C671A7E4-F024-38C1-DC35-32B091CF626A}"/>
              </a:ext>
            </a:extLst>
          </p:cNvPr>
          <p:cNvSpPr>
            <a:spLocks noGrp="1"/>
          </p:cNvSpPr>
          <p:nvPr>
            <p:ph idx="1"/>
          </p:nvPr>
        </p:nvSpPr>
        <p:spPr>
          <a:xfrm>
            <a:off x="1295401" y="2040834"/>
            <a:ext cx="9601196" cy="4041913"/>
          </a:xfrm>
        </p:spPr>
        <p:txBody>
          <a:bodyPr>
            <a:normAutofit/>
          </a:bodyPr>
          <a:lstStyle/>
          <a:p>
            <a:pPr>
              <a:buFont typeface="Wingdings 3" charset="2"/>
              <a:buAutoNum type="arabicPeriod"/>
            </a:pPr>
            <a:r>
              <a:rPr lang="en-NZ" altLang="zh-CN" sz="2200" b="1">
                <a:solidFill>
                  <a:schemeClr val="tx1"/>
                </a:solidFill>
                <a:latin typeface="Arial" pitchFamily="34" charset="0"/>
                <a:cs typeface="Arial" pitchFamily="34" charset="0"/>
              </a:rPr>
              <a:t>Hypothesis testing: </a:t>
            </a:r>
            <a:r>
              <a:rPr lang="en-US" sz="2200">
                <a:solidFill>
                  <a:schemeClr val="tx1"/>
                </a:solidFill>
                <a:latin typeface="Arial" pitchFamily="34" charset="0"/>
                <a:cs typeface="Arial" pitchFamily="34" charset="0"/>
              </a:rPr>
              <a:t>the statistical process of determining if there is enough evidence in a data to support or reject a specific assumption. Having a hypothesis to test can guide and focus your diagnostic analysis. </a:t>
            </a:r>
          </a:p>
          <a:p>
            <a:pPr>
              <a:buFont typeface="Wingdings 3" charset="2"/>
              <a:buAutoNum type="arabicPeriod"/>
            </a:pPr>
            <a:r>
              <a:rPr lang="en-US" sz="2200" b="1">
                <a:solidFill>
                  <a:schemeClr val="tx1"/>
                </a:solidFill>
                <a:latin typeface="Arial" pitchFamily="34" charset="0"/>
                <a:cs typeface="Arial" pitchFamily="34" charset="0"/>
              </a:rPr>
              <a:t>Hypothesis testing for an independent sample t test:  </a:t>
            </a:r>
            <a:br>
              <a:rPr lang="en-US" sz="2200" b="1">
                <a:solidFill>
                  <a:schemeClr val="tx1"/>
                </a:solidFill>
                <a:latin typeface="Arial" pitchFamily="34" charset="0"/>
                <a:cs typeface="Arial" pitchFamily="34" charset="0"/>
              </a:rPr>
            </a:br>
            <a:r>
              <a:rPr lang="en-US" sz="2200" b="1">
                <a:solidFill>
                  <a:schemeClr val="tx1"/>
                </a:solidFill>
                <a:latin typeface="Arial" pitchFamily="34" charset="0"/>
                <a:cs typeface="Arial" pitchFamily="34" charset="0"/>
              </a:rPr>
              <a:t>null hypothesis: </a:t>
            </a:r>
            <a:r>
              <a:rPr lang="en-US" sz="2200">
                <a:solidFill>
                  <a:schemeClr val="tx1"/>
                </a:solidFill>
                <a:latin typeface="Arial" pitchFamily="34" charset="0"/>
                <a:cs typeface="Arial" pitchFamily="34" charset="0"/>
              </a:rPr>
              <a:t>the mean values in both groups are the same.</a:t>
            </a:r>
            <a:br>
              <a:rPr lang="en-US" sz="2200" b="1">
                <a:solidFill>
                  <a:schemeClr val="tx1"/>
                </a:solidFill>
                <a:latin typeface="Arial" pitchFamily="34" charset="0"/>
                <a:cs typeface="Arial" pitchFamily="34" charset="0"/>
              </a:rPr>
            </a:br>
            <a:r>
              <a:rPr lang="en-US" sz="2200" b="1">
                <a:solidFill>
                  <a:schemeClr val="tx1"/>
                </a:solidFill>
                <a:latin typeface="Arial" pitchFamily="34" charset="0"/>
                <a:cs typeface="Arial" pitchFamily="34" charset="0"/>
              </a:rPr>
              <a:t>alternative hypothesis: </a:t>
            </a:r>
            <a:r>
              <a:rPr lang="en-US" sz="2200">
                <a:solidFill>
                  <a:schemeClr val="tx1"/>
                </a:solidFill>
                <a:latin typeface="Arial" pitchFamily="34" charset="0"/>
                <a:cs typeface="Arial" pitchFamily="34" charset="0"/>
              </a:rPr>
              <a:t>the mean values in both groups are not equal.</a:t>
            </a:r>
          </a:p>
          <a:p>
            <a:pPr>
              <a:buNone/>
            </a:pPr>
            <a:r>
              <a:rPr lang="en-US" sz="2200" b="1">
                <a:solidFill>
                  <a:schemeClr val="tx1"/>
                </a:solidFill>
                <a:latin typeface="Arial" pitchFamily="34" charset="0"/>
                <a:cs typeface="Arial" pitchFamily="34" charset="0"/>
              </a:rPr>
              <a:t>P-value (two tail):  </a:t>
            </a:r>
            <a:r>
              <a:rPr lang="en-US" sz="2200">
                <a:solidFill>
                  <a:schemeClr val="tx1"/>
                </a:solidFill>
                <a:latin typeface="Arial" pitchFamily="34" charset="0"/>
                <a:cs typeface="Arial" pitchFamily="34" charset="0"/>
              </a:rPr>
              <a:t>If the p-value is </a:t>
            </a:r>
            <a:r>
              <a:rPr lang="en-US" sz="2200" b="1">
                <a:solidFill>
                  <a:schemeClr val="tx1"/>
                </a:solidFill>
                <a:latin typeface="Arial" pitchFamily="34" charset="0"/>
                <a:cs typeface="Arial" pitchFamily="34" charset="0"/>
              </a:rPr>
              <a:t>less than or equal to </a:t>
            </a:r>
            <a:r>
              <a:rPr lang="en-US" sz="2200">
                <a:solidFill>
                  <a:schemeClr val="tx1"/>
                </a:solidFill>
                <a:latin typeface="Arial" pitchFamily="34" charset="0"/>
                <a:cs typeface="Arial" pitchFamily="34" charset="0"/>
              </a:rPr>
              <a:t>your alpha level (0.05), your results indicate a </a:t>
            </a:r>
            <a:r>
              <a:rPr lang="en-US" sz="2200" b="1">
                <a:solidFill>
                  <a:schemeClr val="tx1"/>
                </a:solidFill>
                <a:latin typeface="Arial" pitchFamily="34" charset="0"/>
                <a:cs typeface="Arial" pitchFamily="34" charset="0"/>
              </a:rPr>
              <a:t>statistically significant difference between the two groups.</a:t>
            </a:r>
          </a:p>
        </p:txBody>
      </p:sp>
    </p:spTree>
    <p:extLst>
      <p:ext uri="{BB962C8B-B14F-4D97-AF65-F5344CB8AC3E}">
        <p14:creationId xmlns:p14="http://schemas.microsoft.com/office/powerpoint/2010/main" val="397681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p:txBody>
          <a:bodyPr/>
          <a:lstStyle/>
          <a:p>
            <a:r>
              <a:rPr lang="en-NZ" b="1">
                <a:latin typeface="Arial" panose="020B0604020202020204" pitchFamily="34" charset="0"/>
                <a:cs typeface="Arial" panose="020B0604020202020204" pitchFamily="34" charset="0"/>
              </a:rPr>
              <a:t>ANOVA</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C671A7E4-F024-38C1-DC35-32B091CF626A}"/>
              </a:ext>
            </a:extLst>
          </p:cNvPr>
          <p:cNvSpPr>
            <a:spLocks noGrp="1"/>
          </p:cNvSpPr>
          <p:nvPr>
            <p:ph idx="1"/>
          </p:nvPr>
        </p:nvSpPr>
        <p:spPr>
          <a:xfrm>
            <a:off x="1295402" y="2451652"/>
            <a:ext cx="9601196" cy="4041913"/>
          </a:xfrm>
        </p:spPr>
        <p:txBody>
          <a:bodyPr>
            <a:normAutofit fontScale="92500" lnSpcReduction="20000"/>
          </a:bodyPr>
          <a:lstStyle/>
          <a:p>
            <a:pPr>
              <a:buFont typeface="Wingdings 3" charset="2"/>
              <a:buAutoNum type="arabicPeriod"/>
            </a:pPr>
            <a:r>
              <a:rPr lang="en-US" sz="2000">
                <a:solidFill>
                  <a:schemeClr val="tx1"/>
                </a:solidFill>
                <a:latin typeface="Arial" pitchFamily="34" charset="0"/>
                <a:cs typeface="Arial" pitchFamily="34" charset="0"/>
              </a:rPr>
              <a:t>A </a:t>
            </a:r>
            <a:r>
              <a:rPr lang="en-US" sz="2000" b="1">
                <a:solidFill>
                  <a:schemeClr val="tx1"/>
                </a:solidFill>
                <a:latin typeface="Arial" pitchFamily="34" charset="0"/>
                <a:cs typeface="Arial" pitchFamily="34" charset="0"/>
              </a:rPr>
              <a:t>one-way ANOVA (Analysis of Variance)</a:t>
            </a:r>
            <a:r>
              <a:rPr lang="en-US" sz="2000">
                <a:solidFill>
                  <a:schemeClr val="tx1"/>
                </a:solidFill>
                <a:latin typeface="Arial" pitchFamily="34" charset="0"/>
                <a:cs typeface="Arial" pitchFamily="34" charset="0"/>
              </a:rPr>
              <a:t> is a statistical test used to compare the means of three or more groups to see if at least one group mean is significantly different from the others.</a:t>
            </a:r>
          </a:p>
          <a:p>
            <a:pPr>
              <a:buFont typeface="Wingdings 3" charset="2"/>
              <a:buAutoNum type="arabicPeriod"/>
            </a:pPr>
            <a:r>
              <a:rPr lang="en-US" sz="2000" b="1">
                <a:solidFill>
                  <a:schemeClr val="tx1"/>
                </a:solidFill>
                <a:latin typeface="Arial" pitchFamily="34" charset="0"/>
                <a:cs typeface="Arial" pitchFamily="34" charset="0"/>
              </a:rPr>
              <a:t>One-way</a:t>
            </a:r>
            <a:r>
              <a:rPr lang="en-US" sz="2000">
                <a:solidFill>
                  <a:schemeClr val="tx1"/>
                </a:solidFill>
                <a:latin typeface="Arial" pitchFamily="34" charset="0"/>
                <a:cs typeface="Arial" pitchFamily="34" charset="0"/>
              </a:rPr>
              <a:t> means that you’re comparing groups based on </a:t>
            </a:r>
            <a:r>
              <a:rPr lang="en-US" sz="2000" b="1">
                <a:solidFill>
                  <a:schemeClr val="tx1"/>
                </a:solidFill>
                <a:latin typeface="Arial" pitchFamily="34" charset="0"/>
                <a:cs typeface="Arial" pitchFamily="34" charset="0"/>
              </a:rPr>
              <a:t>one factor</a:t>
            </a:r>
            <a:r>
              <a:rPr lang="en-US" sz="2000">
                <a:solidFill>
                  <a:schemeClr val="tx1"/>
                </a:solidFill>
                <a:latin typeface="Arial" pitchFamily="34" charset="0"/>
                <a:cs typeface="Arial" pitchFamily="34" charset="0"/>
              </a:rPr>
              <a:t> (like different types of teaching methods or different brands of a product).</a:t>
            </a:r>
          </a:p>
          <a:p>
            <a:pPr>
              <a:buFont typeface="Wingdings 3" charset="2"/>
              <a:buAutoNum type="arabicPeriod"/>
            </a:pPr>
            <a:r>
              <a:rPr lang="en-NZ" sz="2000">
                <a:solidFill>
                  <a:schemeClr val="tx1"/>
                </a:solidFill>
                <a:latin typeface="Arial" pitchFamily="34" charset="0"/>
                <a:cs typeface="Arial" pitchFamily="34" charset="0"/>
              </a:rPr>
              <a:t>Hypothesis testing for one-way ANOVA:</a:t>
            </a:r>
            <a:br>
              <a:rPr lang="en-NZ" sz="2000">
                <a:solidFill>
                  <a:schemeClr val="tx1"/>
                </a:solidFill>
                <a:latin typeface="Arial" pitchFamily="34" charset="0"/>
                <a:cs typeface="Arial" pitchFamily="34" charset="0"/>
              </a:rPr>
            </a:br>
            <a:r>
              <a:rPr lang="en-US" sz="2000" b="1">
                <a:solidFill>
                  <a:schemeClr val="tx1"/>
                </a:solidFill>
                <a:latin typeface="Arial" pitchFamily="34" charset="0"/>
                <a:cs typeface="Arial" pitchFamily="34" charset="0"/>
              </a:rPr>
              <a:t>null hypothesis: </a:t>
            </a:r>
            <a:r>
              <a:rPr lang="en-US" sz="2000">
                <a:solidFill>
                  <a:schemeClr val="tx1"/>
                </a:solidFill>
                <a:latin typeface="Arial" pitchFamily="34" charset="0"/>
                <a:cs typeface="Arial" pitchFamily="34" charset="0"/>
              </a:rPr>
              <a:t>the mean values in all groups are the same.</a:t>
            </a:r>
            <a:br>
              <a:rPr lang="en-US" sz="2000" b="1">
                <a:solidFill>
                  <a:schemeClr val="tx1"/>
                </a:solidFill>
                <a:latin typeface="Arial" pitchFamily="34" charset="0"/>
                <a:cs typeface="Arial" pitchFamily="34" charset="0"/>
              </a:rPr>
            </a:br>
            <a:r>
              <a:rPr lang="en-US" sz="2000" b="1">
                <a:solidFill>
                  <a:schemeClr val="tx1"/>
                </a:solidFill>
                <a:latin typeface="Arial" pitchFamily="34" charset="0"/>
                <a:cs typeface="Arial" pitchFamily="34" charset="0"/>
              </a:rPr>
              <a:t>alternative hypothesis: </a:t>
            </a:r>
            <a:r>
              <a:rPr lang="en-US" sz="2000">
                <a:solidFill>
                  <a:schemeClr val="tx1"/>
                </a:solidFill>
                <a:latin typeface="Arial" pitchFamily="34" charset="0"/>
                <a:cs typeface="Arial" pitchFamily="34" charset="0"/>
              </a:rPr>
              <a:t>the mean values in at least one group is different from others. </a:t>
            </a:r>
          </a:p>
          <a:p>
            <a:pPr>
              <a:buFont typeface="Wingdings 3" charset="2"/>
              <a:buAutoNum type="arabicPeriod"/>
            </a:pPr>
            <a:r>
              <a:rPr lang="en-US" sz="2000" b="1">
                <a:solidFill>
                  <a:schemeClr val="tx1"/>
                </a:solidFill>
                <a:latin typeface="Arial" pitchFamily="34" charset="0"/>
                <a:cs typeface="Arial" pitchFamily="34" charset="0"/>
              </a:rPr>
              <a:t>P-value:  </a:t>
            </a:r>
            <a:r>
              <a:rPr lang="en-US" sz="2000">
                <a:solidFill>
                  <a:schemeClr val="tx1"/>
                </a:solidFill>
                <a:latin typeface="Arial" pitchFamily="34" charset="0"/>
                <a:cs typeface="Arial" pitchFamily="34" charset="0"/>
              </a:rPr>
              <a:t>If the p-value is </a:t>
            </a:r>
            <a:r>
              <a:rPr lang="en-US" sz="2000" b="1">
                <a:solidFill>
                  <a:schemeClr val="tx1"/>
                </a:solidFill>
                <a:latin typeface="Arial" pitchFamily="34" charset="0"/>
                <a:cs typeface="Arial" pitchFamily="34" charset="0"/>
              </a:rPr>
              <a:t>less than or equal to </a:t>
            </a:r>
            <a:r>
              <a:rPr lang="en-US" sz="2000">
                <a:solidFill>
                  <a:schemeClr val="tx1"/>
                </a:solidFill>
                <a:latin typeface="Arial" pitchFamily="34" charset="0"/>
                <a:cs typeface="Arial" pitchFamily="34" charset="0"/>
              </a:rPr>
              <a:t>your alpha level (0.05), your results indicate a </a:t>
            </a:r>
            <a:r>
              <a:rPr lang="en-US" sz="2000" b="1">
                <a:solidFill>
                  <a:schemeClr val="tx1"/>
                </a:solidFill>
                <a:latin typeface="Arial" pitchFamily="34" charset="0"/>
                <a:cs typeface="Arial" pitchFamily="34" charset="0"/>
              </a:rPr>
              <a:t>statistically significant difference between the groups.</a:t>
            </a:r>
          </a:p>
          <a:p>
            <a:pPr>
              <a:buFont typeface="Wingdings 3" charset="2"/>
              <a:buAutoNum type="arabicPeriod"/>
            </a:pPr>
            <a:r>
              <a:rPr lang="en-NZ" sz="2000" b="1">
                <a:solidFill>
                  <a:schemeClr val="tx1"/>
                </a:solidFill>
                <a:latin typeface="Arial" pitchFamily="34" charset="0"/>
                <a:cs typeface="Arial" pitchFamily="34" charset="0"/>
              </a:rPr>
              <a:t>F is greater than F critical: </a:t>
            </a:r>
            <a:r>
              <a:rPr lang="en-US" sz="2000">
                <a:solidFill>
                  <a:schemeClr val="tx1"/>
                </a:solidFill>
                <a:latin typeface="Arial" pitchFamily="34" charset="0"/>
                <a:cs typeface="Arial" pitchFamily="34" charset="0"/>
              </a:rPr>
              <a:t>results indicate a </a:t>
            </a:r>
            <a:r>
              <a:rPr lang="en-US" sz="2000" b="1">
                <a:solidFill>
                  <a:schemeClr val="tx1"/>
                </a:solidFill>
                <a:latin typeface="Arial" pitchFamily="34" charset="0"/>
                <a:cs typeface="Arial" pitchFamily="34" charset="0"/>
              </a:rPr>
              <a:t>statistically significant difference between the groups.</a:t>
            </a:r>
          </a:p>
          <a:p>
            <a:pPr>
              <a:buFont typeface="Wingdings 3" charset="2"/>
              <a:buAutoNum type="arabicPeriod"/>
            </a:pPr>
            <a:endParaRPr lang="en-US" sz="2000">
              <a:solidFill>
                <a:schemeClr val="tx1"/>
              </a:solidFill>
              <a:latin typeface="Arial" pitchFamily="34" charset="0"/>
              <a:cs typeface="Arial" pitchFamily="34" charset="0"/>
            </a:endParaRPr>
          </a:p>
          <a:p>
            <a:pPr>
              <a:buFont typeface="Wingdings 3" charset="2"/>
              <a:buAutoNum type="arabicPeriod"/>
            </a:pPr>
            <a:endParaRPr lang="en-US" b="1">
              <a:solidFill>
                <a:schemeClr val="tx1"/>
              </a:solidFill>
              <a:latin typeface="+mj-lt"/>
            </a:endParaRPr>
          </a:p>
        </p:txBody>
      </p:sp>
    </p:spTree>
    <p:extLst>
      <p:ext uri="{BB962C8B-B14F-4D97-AF65-F5344CB8AC3E}">
        <p14:creationId xmlns:p14="http://schemas.microsoft.com/office/powerpoint/2010/main" val="3976816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9045" y="624110"/>
            <a:ext cx="9353910" cy="1280890"/>
          </a:xfrm>
        </p:spPr>
        <p:txBody>
          <a:bodyPr>
            <a:normAutofit/>
          </a:bodyPr>
          <a:lstStyle/>
          <a:p>
            <a:r>
              <a:rPr lang="en-US" altLang="zh-CN" b="1">
                <a:solidFill>
                  <a:schemeClr val="tx1"/>
                </a:solidFill>
                <a:latin typeface="Arial" panose="020B0604020202020204" pitchFamily="34" charset="0"/>
                <a:cs typeface="Arial" panose="020B0604020202020204" pitchFamily="34" charset="0"/>
              </a:rPr>
              <a:t>Exercise:</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Diagnostic</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analytics</a:t>
            </a:r>
            <a:r>
              <a:rPr lang="zh-CN" altLang="en-US" b="1">
                <a:solidFill>
                  <a:schemeClr val="tx1"/>
                </a:solidFill>
                <a:latin typeface="Arial" panose="020B0604020202020204" pitchFamily="34" charset="0"/>
                <a:cs typeface="Arial" panose="020B0604020202020204" pitchFamily="34" charset="0"/>
              </a:rPr>
              <a:t> </a:t>
            </a:r>
            <a:endParaRPr lang="en-NZ" b="1">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325828" y="2023041"/>
            <a:ext cx="8915400" cy="3976028"/>
          </a:xfrm>
        </p:spPr>
        <p:txBody>
          <a:bodyPr>
            <a:normAutofit/>
          </a:bodyPr>
          <a:lstStyle/>
          <a:p>
            <a:pPr marL="0" indent="0" algn="l">
              <a:buNone/>
            </a:pPr>
            <a:r>
              <a:rPr lang="en-US" altLang="zh-CN" b="1">
                <a:solidFill>
                  <a:srgbClr val="1D2125"/>
                </a:solidFill>
                <a:latin typeface="Arial" panose="020B0604020202020204" pitchFamily="34" charset="0"/>
                <a:cs typeface="Arial" panose="020B0604020202020204" pitchFamily="34" charset="0"/>
              </a:rPr>
              <a:t>P</a:t>
            </a:r>
            <a:r>
              <a:rPr lang="en-US" altLang="zh-CN" b="1" i="0">
                <a:solidFill>
                  <a:srgbClr val="1D2125"/>
                </a:solidFill>
                <a:effectLst/>
                <a:latin typeface="Arial" panose="020B0604020202020204" pitchFamily="34" charset="0"/>
                <a:cs typeface="Arial" panose="020B0604020202020204" pitchFamily="34" charset="0"/>
              </a:rPr>
              <a:t>lease</a:t>
            </a:r>
            <a:r>
              <a:rPr lang="zh-CN" altLang="en-US" b="1" i="0">
                <a:solidFill>
                  <a:srgbClr val="1D2125"/>
                </a:solidFill>
                <a:effectLst/>
                <a:latin typeface="Arial" panose="020B0604020202020204" pitchFamily="34" charset="0"/>
                <a:cs typeface="Arial" panose="020B0604020202020204" pitchFamily="34" charset="0"/>
              </a:rPr>
              <a:t> </a:t>
            </a:r>
            <a:r>
              <a:rPr lang="en-US" altLang="zh-CN" b="1" i="0">
                <a:solidFill>
                  <a:srgbClr val="1D2125"/>
                </a:solidFill>
                <a:effectLst/>
                <a:latin typeface="Arial" panose="020B0604020202020204" pitchFamily="34" charset="0"/>
                <a:cs typeface="Arial" panose="020B0604020202020204" pitchFamily="34" charset="0"/>
              </a:rPr>
              <a:t>complete</a:t>
            </a:r>
            <a:r>
              <a:rPr lang="zh-CN" altLang="en-US" b="1" i="0">
                <a:solidFill>
                  <a:srgbClr val="1D2125"/>
                </a:solidFill>
                <a:effectLst/>
                <a:latin typeface="Arial" panose="020B0604020202020204" pitchFamily="34" charset="0"/>
                <a:cs typeface="Arial" panose="020B0604020202020204" pitchFamily="34" charset="0"/>
              </a:rPr>
              <a:t> </a:t>
            </a:r>
            <a:r>
              <a:rPr lang="en-US" altLang="zh-CN" b="1" i="0">
                <a:solidFill>
                  <a:srgbClr val="1D2125"/>
                </a:solidFill>
                <a:effectLst/>
                <a:latin typeface="Arial" panose="020B0604020202020204" pitchFamily="34" charset="0"/>
                <a:cs typeface="Arial" panose="020B0604020202020204" pitchFamily="34" charset="0"/>
              </a:rPr>
              <a:t>the</a:t>
            </a:r>
            <a:r>
              <a:rPr lang="zh-CN" altLang="en-US" b="1" i="0">
                <a:solidFill>
                  <a:srgbClr val="1D2125"/>
                </a:solidFill>
                <a:effectLst/>
                <a:latin typeface="Arial" panose="020B0604020202020204" pitchFamily="34" charset="0"/>
                <a:cs typeface="Arial" panose="020B0604020202020204" pitchFamily="34" charset="0"/>
              </a:rPr>
              <a:t> </a:t>
            </a:r>
            <a:r>
              <a:rPr lang="en-US" altLang="zh-CN" b="1" i="0">
                <a:solidFill>
                  <a:srgbClr val="1D2125"/>
                </a:solidFill>
                <a:effectLst/>
                <a:latin typeface="Arial" panose="020B0604020202020204" pitchFamily="34" charset="0"/>
                <a:cs typeface="Arial" panose="020B0604020202020204" pitchFamily="34" charset="0"/>
              </a:rPr>
              <a:t>following</a:t>
            </a:r>
            <a:r>
              <a:rPr lang="zh-CN" altLang="en-US" b="1" i="0">
                <a:solidFill>
                  <a:srgbClr val="1D2125"/>
                </a:solidFill>
                <a:effectLst/>
                <a:latin typeface="Arial" panose="020B0604020202020204" pitchFamily="34" charset="0"/>
                <a:cs typeface="Arial" panose="020B0604020202020204" pitchFamily="34" charset="0"/>
              </a:rPr>
              <a:t> </a:t>
            </a:r>
            <a:r>
              <a:rPr lang="en-US" altLang="zh-CN" b="1" i="0">
                <a:solidFill>
                  <a:srgbClr val="1D2125"/>
                </a:solidFill>
                <a:effectLst/>
                <a:latin typeface="Arial" panose="020B0604020202020204" pitchFamily="34" charset="0"/>
                <a:cs typeface="Arial" panose="020B0604020202020204" pitchFamily="34" charset="0"/>
              </a:rPr>
              <a:t>tasks</a:t>
            </a:r>
            <a:r>
              <a:rPr lang="en-US" altLang="zh-CN" b="1">
                <a:solidFill>
                  <a:srgbClr val="1D2125"/>
                </a:solidFill>
                <a:latin typeface="Arial" panose="020B0604020202020204" pitchFamily="34" charset="0"/>
                <a:cs typeface="Arial" panose="020B0604020202020204" pitchFamily="34" charset="0"/>
              </a:rPr>
              <a:t>:</a:t>
            </a:r>
            <a:endParaRPr lang="en-NZ" altLang="zh-CN" b="1" i="0">
              <a:solidFill>
                <a:srgbClr val="1D2125"/>
              </a:solidFill>
              <a:effectLst/>
              <a:latin typeface="Arial" panose="020B0604020202020204" pitchFamily="34" charset="0"/>
              <a:cs typeface="Arial" panose="020B0604020202020204" pitchFamily="34" charset="0"/>
            </a:endParaRPr>
          </a:p>
          <a:p>
            <a:pPr algn="l"/>
            <a:r>
              <a:rPr lang="en-US" altLang="zh-CN" b="1" i="0">
                <a:solidFill>
                  <a:srgbClr val="FF0000"/>
                </a:solidFill>
                <a:effectLst/>
                <a:latin typeface="Arial" panose="020B0604020202020204" pitchFamily="34" charset="0"/>
                <a:cs typeface="Arial" panose="020B0604020202020204" pitchFamily="34" charset="0"/>
              </a:rPr>
              <a:t>Read</a:t>
            </a:r>
            <a:r>
              <a:rPr lang="zh-CN" altLang="en-US" i="0">
                <a:solidFill>
                  <a:srgbClr val="1D2125"/>
                </a:solidFill>
                <a:effectLst/>
                <a:latin typeface="Arial" panose="020B0604020202020204" pitchFamily="34" charset="0"/>
                <a:cs typeface="Arial" panose="020B0604020202020204" pitchFamily="34" charset="0"/>
              </a:rPr>
              <a:t> </a:t>
            </a:r>
            <a:r>
              <a:rPr lang="en-US" altLang="zh-CN" i="0">
                <a:solidFill>
                  <a:srgbClr val="1D2125"/>
                </a:solidFill>
                <a:effectLst/>
                <a:latin typeface="Arial" panose="020B0604020202020204" pitchFamily="34" charset="0"/>
                <a:cs typeface="Arial" panose="020B0604020202020204" pitchFamily="34" charset="0"/>
              </a:rPr>
              <a:t>the</a:t>
            </a:r>
            <a:r>
              <a:rPr lang="zh-CN" altLang="en-US" i="0">
                <a:solidFill>
                  <a:srgbClr val="1D2125"/>
                </a:solidFill>
                <a:effectLst/>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materials</a:t>
            </a:r>
            <a:r>
              <a:rPr lang="zh-CN" altLang="en-US">
                <a:solidFill>
                  <a:srgbClr val="1D2125"/>
                </a:solidFill>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about</a:t>
            </a:r>
            <a:r>
              <a:rPr lang="zh-CN" altLang="en-US">
                <a:solidFill>
                  <a:srgbClr val="1D2125"/>
                </a:solidFill>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t-test/ANOVA</a:t>
            </a:r>
            <a:r>
              <a:rPr lang="zh-CN" altLang="en-US" i="0">
                <a:solidFill>
                  <a:srgbClr val="1D2125"/>
                </a:solidFill>
                <a:effectLst/>
                <a:latin typeface="Arial" panose="020B0604020202020204" pitchFamily="34" charset="0"/>
                <a:cs typeface="Arial" panose="020B0604020202020204" pitchFamily="34" charset="0"/>
              </a:rPr>
              <a:t> </a:t>
            </a:r>
            <a:r>
              <a:rPr lang="en-US" altLang="zh-CN" i="0">
                <a:solidFill>
                  <a:srgbClr val="1D2125"/>
                </a:solidFill>
                <a:effectLst/>
                <a:latin typeface="Arial" panose="020B0604020202020204" pitchFamily="34" charset="0"/>
                <a:cs typeface="Arial" panose="020B0604020202020204" pitchFamily="34" charset="0"/>
              </a:rPr>
              <a:t>(see</a:t>
            </a:r>
            <a:r>
              <a:rPr lang="zh-CN" altLang="en-US" i="0">
                <a:solidFill>
                  <a:srgbClr val="1D2125"/>
                </a:solidFill>
                <a:effectLst/>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our</a:t>
            </a:r>
            <a:r>
              <a:rPr lang="zh-CN" altLang="en-US">
                <a:solidFill>
                  <a:srgbClr val="1D2125"/>
                </a:solidFill>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Teams</a:t>
            </a:r>
            <a:r>
              <a:rPr lang="zh-CN" altLang="en-US">
                <a:solidFill>
                  <a:srgbClr val="1D2125"/>
                </a:solidFill>
                <a:latin typeface="Arial" panose="020B0604020202020204" pitchFamily="34" charset="0"/>
                <a:cs typeface="Arial" panose="020B0604020202020204" pitchFamily="34" charset="0"/>
              </a:rPr>
              <a:t> </a:t>
            </a:r>
            <a:r>
              <a:rPr lang="en-US" altLang="zh-CN">
                <a:solidFill>
                  <a:srgbClr val="1D2125"/>
                </a:solidFill>
                <a:latin typeface="Arial" panose="020B0604020202020204" pitchFamily="34" charset="0"/>
                <a:cs typeface="Arial" panose="020B0604020202020204" pitchFamily="34" charset="0"/>
              </a:rPr>
              <a:t>group)</a:t>
            </a:r>
            <a:endParaRPr lang="en-US" altLang="zh-CN" i="0">
              <a:solidFill>
                <a:srgbClr val="1D2125"/>
              </a:solidFill>
              <a:effectLst/>
              <a:latin typeface="Arial" panose="020B0604020202020204" pitchFamily="34" charset="0"/>
              <a:cs typeface="Arial" panose="020B0604020202020204" pitchFamily="34" charset="0"/>
            </a:endParaRPr>
          </a:p>
          <a:p>
            <a:pPr marL="0" indent="0" algn="l">
              <a:buNone/>
            </a:pPr>
            <a:r>
              <a:rPr lang="en-US" altLang="zh-CN" b="1" i="0">
                <a:solidFill>
                  <a:srgbClr val="1D2125"/>
                </a:solidFill>
                <a:effectLst/>
                <a:latin typeface="Arial" panose="020B0604020202020204" pitchFamily="34" charset="0"/>
                <a:cs typeface="Arial" panose="020B0604020202020204" pitchFamily="34" charset="0"/>
              </a:rPr>
              <a:t>Work</a:t>
            </a:r>
            <a:r>
              <a:rPr lang="zh-CN" altLang="en-US" b="1" i="0">
                <a:solidFill>
                  <a:srgbClr val="1D2125"/>
                </a:solidFill>
                <a:effectLst/>
                <a:latin typeface="Arial" panose="020B0604020202020204" pitchFamily="34" charset="0"/>
                <a:cs typeface="Arial" panose="020B0604020202020204" pitchFamily="34" charset="0"/>
              </a:rPr>
              <a:t> </a:t>
            </a:r>
            <a:r>
              <a:rPr lang="en-US" altLang="zh-CN" b="1">
                <a:solidFill>
                  <a:srgbClr val="1D2125"/>
                </a:solidFill>
                <a:latin typeface="Arial" panose="020B0604020202020204" pitchFamily="34" charset="0"/>
                <a:cs typeface="Arial" panose="020B0604020202020204" pitchFamily="34" charset="0"/>
              </a:rPr>
              <a:t>on the following datasets</a:t>
            </a:r>
            <a:r>
              <a:rPr lang="en-US" altLang="zh-CN" b="1" i="0">
                <a:solidFill>
                  <a:srgbClr val="1D2125"/>
                </a:solidFill>
                <a:effectLst/>
                <a:latin typeface="Arial" panose="020B0604020202020204" pitchFamily="34" charset="0"/>
                <a:cs typeface="Arial" panose="020B0604020202020204" pitchFamily="34" charset="0"/>
              </a:rPr>
              <a:t>:</a:t>
            </a:r>
          </a:p>
          <a:p>
            <a:pPr algn="l"/>
            <a:r>
              <a:rPr lang="en-US" altLang="zh-CN">
                <a:solidFill>
                  <a:srgbClr val="1D2125"/>
                </a:solidFill>
                <a:latin typeface="Arial" panose="020B0604020202020204" pitchFamily="34" charset="0"/>
                <a:cs typeface="Arial" panose="020B0604020202020204" pitchFamily="34" charset="0"/>
              </a:rPr>
              <a:t>Male and Female scores</a:t>
            </a:r>
            <a:r>
              <a:rPr lang="zh-CN" altLang="en-US" i="0">
                <a:solidFill>
                  <a:srgbClr val="1D2125"/>
                </a:solidFill>
                <a:effectLst/>
                <a:latin typeface="Arial" panose="020B0604020202020204" pitchFamily="34" charset="0"/>
                <a:cs typeface="Arial" panose="020B0604020202020204" pitchFamily="34" charset="0"/>
              </a:rPr>
              <a:t> </a:t>
            </a:r>
            <a:r>
              <a:rPr lang="en-US" altLang="zh-CN" i="0">
                <a:solidFill>
                  <a:srgbClr val="1D2125"/>
                </a:solidFill>
                <a:effectLst/>
                <a:latin typeface="Arial" panose="020B0604020202020204" pitchFamily="34" charset="0"/>
                <a:cs typeface="Arial" panose="020B0604020202020204" pitchFamily="34" charset="0"/>
              </a:rPr>
              <a:t>–</a:t>
            </a:r>
            <a:r>
              <a:rPr lang="zh-CN" altLang="en-US" i="0">
                <a:solidFill>
                  <a:srgbClr val="1D2125"/>
                </a:solidFill>
                <a:effectLst/>
                <a:latin typeface="Arial" panose="020B0604020202020204" pitchFamily="34" charset="0"/>
                <a:cs typeface="Arial" panose="020B0604020202020204" pitchFamily="34" charset="0"/>
              </a:rPr>
              <a:t> </a:t>
            </a:r>
            <a:r>
              <a:rPr lang="en-US" altLang="zh-CN" i="0">
                <a:solidFill>
                  <a:srgbClr val="1D2125"/>
                </a:solidFill>
                <a:effectLst/>
                <a:latin typeface="Arial" panose="020B0604020202020204" pitchFamily="34" charset="0"/>
                <a:cs typeface="Arial" panose="020B0604020202020204" pitchFamily="34" charset="0"/>
              </a:rPr>
              <a:t>t-test</a:t>
            </a:r>
            <a:r>
              <a:rPr lang="zh-CN" altLang="en-US" i="0">
                <a:solidFill>
                  <a:srgbClr val="1D2125"/>
                </a:solidFill>
                <a:effectLst/>
                <a:latin typeface="Arial" panose="020B0604020202020204" pitchFamily="34" charset="0"/>
                <a:cs typeface="Arial" panose="020B0604020202020204" pitchFamily="34" charset="0"/>
              </a:rPr>
              <a:t> </a:t>
            </a:r>
            <a:endParaRPr lang="en-US" altLang="zh-CN" i="0">
              <a:solidFill>
                <a:srgbClr val="1D2125"/>
              </a:solidFill>
              <a:effectLst/>
              <a:latin typeface="Arial" panose="020B0604020202020204" pitchFamily="34" charset="0"/>
              <a:cs typeface="Arial" panose="020B0604020202020204" pitchFamily="34" charset="0"/>
            </a:endParaRPr>
          </a:p>
          <a:p>
            <a:pPr algn="l"/>
            <a:r>
              <a:rPr lang="en-US" altLang="zh-CN">
                <a:solidFill>
                  <a:srgbClr val="1D2125"/>
                </a:solidFill>
                <a:latin typeface="Arial" panose="020B0604020202020204" pitchFamily="34" charset="0"/>
                <a:cs typeface="Arial" panose="020B0604020202020204" pitchFamily="34" charset="0"/>
              </a:rPr>
              <a:t>Festival expenditure - </a:t>
            </a:r>
            <a:r>
              <a:rPr lang="en-US" altLang="zh-CN" i="0">
                <a:solidFill>
                  <a:srgbClr val="1D2125"/>
                </a:solidFill>
                <a:effectLst/>
                <a:latin typeface="Arial" panose="020B0604020202020204" pitchFamily="34" charset="0"/>
                <a:cs typeface="Arial" panose="020B0604020202020204" pitchFamily="34" charset="0"/>
              </a:rPr>
              <a:t>AN</a:t>
            </a:r>
            <a:r>
              <a:rPr lang="en-US" altLang="zh-CN">
                <a:solidFill>
                  <a:srgbClr val="1D2125"/>
                </a:solidFill>
                <a:latin typeface="Arial" panose="020B0604020202020204" pitchFamily="34" charset="0"/>
                <a:cs typeface="Arial" panose="020B0604020202020204" pitchFamily="34" charset="0"/>
              </a:rPr>
              <a:t>OVA</a:t>
            </a:r>
            <a:r>
              <a:rPr lang="zh-CN" altLang="en-US">
                <a:solidFill>
                  <a:srgbClr val="1D2125"/>
                </a:solidFill>
                <a:latin typeface="Arial" panose="020B0604020202020204" pitchFamily="34" charset="0"/>
                <a:cs typeface="Arial" panose="020B0604020202020204" pitchFamily="34" charset="0"/>
              </a:rPr>
              <a:t> </a:t>
            </a:r>
            <a:endParaRPr lang="en-US" altLang="zh-CN">
              <a:solidFill>
                <a:srgbClr val="1D2125"/>
              </a:solidFill>
              <a:latin typeface="Arial" panose="020B0604020202020204" pitchFamily="34" charset="0"/>
              <a:cs typeface="Arial" panose="020B0604020202020204" pitchFamily="34" charset="0"/>
            </a:endParaRPr>
          </a:p>
          <a:p>
            <a:pPr algn="l"/>
            <a:r>
              <a:rPr lang="en-NZ" altLang="zh-CN">
                <a:solidFill>
                  <a:schemeClr val="tx1"/>
                </a:solidFill>
                <a:latin typeface="Arial" panose="020B0604020202020204" pitchFamily="34" charset="0"/>
                <a:cs typeface="Arial" panose="020B0604020202020204" pitchFamily="34" charset="0"/>
              </a:rPr>
              <a:t>Upload your answers with interpretation on teams (class activities-&gt; week 4 session 1)</a:t>
            </a:r>
            <a:endParaRPr lang="en-US" altLang="zh-CN">
              <a:solidFill>
                <a:schemeClr val="tx1"/>
              </a:solidFill>
              <a:latin typeface="Arial" panose="020B0604020202020204" pitchFamily="34" charset="0"/>
              <a:cs typeface="Arial" panose="020B0604020202020204" pitchFamily="34" charset="0"/>
            </a:endParaRPr>
          </a:p>
          <a:p>
            <a:pPr algn="l"/>
            <a:endParaRPr lang="en-NZ" altLang="zh-CN" b="1">
              <a:solidFill>
                <a:srgbClr val="1D212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0454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2" y="982132"/>
            <a:ext cx="9601196" cy="1007981"/>
          </a:xfrm>
        </p:spPr>
        <p:txBody>
          <a:bodyPr/>
          <a:lstStyle/>
          <a:p>
            <a:r>
              <a:rPr lang="en-US" altLang="zh-CN" b="1">
                <a:latin typeface="Arial" panose="020B0604020202020204" pitchFamily="34" charset="0"/>
                <a:cs typeface="Arial" panose="020B0604020202020204" pitchFamily="34" charset="0"/>
              </a:rPr>
              <a:t>Assessment</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Two</a:t>
            </a:r>
            <a:endParaRPr lang="en-AU" b="1">
              <a:latin typeface="Arial" panose="020B0604020202020204" pitchFamily="34" charset="0"/>
              <a:cs typeface="Arial" panose="020B0604020202020204" pitchFamily="34" charset="0"/>
            </a:endParaRPr>
          </a:p>
        </p:txBody>
      </p:sp>
      <p:sp>
        <p:nvSpPr>
          <p:cNvPr id="9" name="Content Placeholder 2"/>
          <p:cNvSpPr>
            <a:spLocks noGrp="1"/>
          </p:cNvSpPr>
          <p:nvPr>
            <p:ph idx="1"/>
          </p:nvPr>
        </p:nvSpPr>
        <p:spPr>
          <a:xfrm>
            <a:off x="1325828" y="2023041"/>
            <a:ext cx="8915400" cy="3976028"/>
          </a:xfrm>
        </p:spPr>
        <p:txBody>
          <a:bodyPr>
            <a:normAutofit/>
          </a:bodyPr>
          <a:lstStyle/>
          <a:p>
            <a:pPr>
              <a:buNone/>
            </a:pPr>
            <a:r>
              <a:rPr lang="en-NZ">
                <a:solidFill>
                  <a:schemeClr val="tx1"/>
                </a:solidFill>
                <a:latin typeface="Arial" pitchFamily="34" charset="0"/>
                <a:cs typeface="Arial" pitchFamily="34" charset="0"/>
              </a:rPr>
              <a:t>Instructions: </a:t>
            </a:r>
          </a:p>
          <a:p>
            <a:pPr marL="457200" indent="-457200">
              <a:buAutoNum type="arabicPeriod"/>
            </a:pPr>
            <a:r>
              <a:rPr lang="en-NZ" sz="2000">
                <a:solidFill>
                  <a:schemeClr val="tx1"/>
                </a:solidFill>
                <a:latin typeface="Arial"/>
                <a:cs typeface="Arial"/>
              </a:rPr>
              <a:t>Find a dataset (at least 1000 rows and 20 columns) that has a good mix of numerical and categorical variables. This can be related to your problems from assignment 1. </a:t>
            </a:r>
          </a:p>
          <a:p>
            <a:pPr marL="457200" indent="-457200">
              <a:buSzPct val="114999"/>
              <a:buAutoNum type="arabicPeriod"/>
            </a:pPr>
            <a:r>
              <a:rPr lang="en-NZ" sz="2000">
                <a:solidFill>
                  <a:schemeClr val="tx1"/>
                </a:solidFill>
                <a:latin typeface="Arial"/>
                <a:cs typeface="Arial"/>
              </a:rPr>
              <a:t>Categorize the variables from the dataset as categorical or numerical and provide a description for each.</a:t>
            </a:r>
            <a:endParaRPr lang="en-NZ">
              <a:solidFill>
                <a:schemeClr val="tx1"/>
              </a:solidFill>
            </a:endParaRPr>
          </a:p>
          <a:p>
            <a:pPr marL="457200" indent="-457200">
              <a:buAutoNum type="arabicPeriod"/>
            </a:pPr>
            <a:r>
              <a:rPr lang="en-NZ" sz="2000">
                <a:solidFill>
                  <a:schemeClr val="tx1"/>
                </a:solidFill>
                <a:latin typeface="Arial" pitchFamily="34" charset="0"/>
                <a:cs typeface="Arial" pitchFamily="34" charset="0"/>
              </a:rPr>
              <a:t>Frame 3 business problems from the dataset. </a:t>
            </a:r>
          </a:p>
          <a:p>
            <a:pPr marL="457200" indent="-457200">
              <a:buAutoNum type="arabicPeriod"/>
            </a:pPr>
            <a:r>
              <a:rPr lang="en-NZ" sz="2000">
                <a:solidFill>
                  <a:schemeClr val="tx1"/>
                </a:solidFill>
                <a:latin typeface="Arial" pitchFamily="34" charset="0"/>
                <a:cs typeface="Arial" pitchFamily="34" charset="0"/>
              </a:rPr>
              <a:t>Perform at least 3 analysis techniques (descriptive, diagnostic, predictive, prescriptive) on your dataset to address your 3 business problems. </a:t>
            </a:r>
          </a:p>
          <a:p>
            <a:pPr marL="457200" indent="-457200">
              <a:buAutoNum type="arabicPeriod"/>
            </a:pPr>
            <a:r>
              <a:rPr lang="en-NZ" sz="2000">
                <a:solidFill>
                  <a:schemeClr val="tx1"/>
                </a:solidFill>
                <a:latin typeface="Arial" pitchFamily="34" charset="0"/>
                <a:cs typeface="Arial" pitchFamily="34" charset="0"/>
              </a:rPr>
              <a:t>Write a detailed analysis report.</a:t>
            </a: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b="1">
              <a:solidFill>
                <a:srgbClr val="1D2125"/>
              </a:solidFill>
              <a:latin typeface="Arial" panose="020B0604020202020204" pitchFamily="34" charset="0"/>
              <a:cs typeface="Arial" panose="020B0604020202020204" pitchFamily="34" charset="0"/>
            </a:endParaRPr>
          </a:p>
          <a:p>
            <a:pPr marL="457200" indent="-457200">
              <a:buAutoNum type="arabicPeriod"/>
            </a:pPr>
            <a:endParaRPr lang="en-US">
              <a:solidFill>
                <a:schemeClr val="tx1"/>
              </a:solidFill>
            </a:endParaRPr>
          </a:p>
        </p:txBody>
      </p:sp>
    </p:spTree>
    <p:extLst>
      <p:ext uri="{BB962C8B-B14F-4D97-AF65-F5344CB8AC3E}">
        <p14:creationId xmlns:p14="http://schemas.microsoft.com/office/powerpoint/2010/main" val="257112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2" y="982132"/>
            <a:ext cx="9601196" cy="1007981"/>
          </a:xfrm>
        </p:spPr>
        <p:txBody>
          <a:bodyPr/>
          <a:lstStyle/>
          <a:p>
            <a:r>
              <a:rPr lang="en-US" altLang="zh-CN" b="1">
                <a:latin typeface="Arial" panose="020B0604020202020204" pitchFamily="34" charset="0"/>
                <a:cs typeface="Arial" panose="020B0604020202020204" pitchFamily="34" charset="0"/>
              </a:rPr>
              <a:t>Assessment</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Two</a:t>
            </a:r>
            <a:endParaRPr lang="en-AU" b="1">
              <a:latin typeface="Arial" panose="020B0604020202020204" pitchFamily="34" charset="0"/>
              <a:cs typeface="Arial" panose="020B0604020202020204" pitchFamily="34" charset="0"/>
            </a:endParaRPr>
          </a:p>
        </p:txBody>
      </p:sp>
      <p:sp>
        <p:nvSpPr>
          <p:cNvPr id="9" name="Content Placeholder 2"/>
          <p:cNvSpPr>
            <a:spLocks noGrp="1"/>
          </p:cNvSpPr>
          <p:nvPr>
            <p:ph idx="1"/>
          </p:nvPr>
        </p:nvSpPr>
        <p:spPr>
          <a:xfrm>
            <a:off x="1325828" y="2023041"/>
            <a:ext cx="8915400" cy="3976028"/>
          </a:xfrm>
        </p:spPr>
        <p:txBody>
          <a:bodyPr>
            <a:normAutofit lnSpcReduction="10000"/>
          </a:bodyPr>
          <a:lstStyle/>
          <a:p>
            <a:pPr>
              <a:buNone/>
            </a:pPr>
            <a:r>
              <a:rPr lang="en-NZ">
                <a:solidFill>
                  <a:schemeClr val="tx1"/>
                </a:solidFill>
                <a:latin typeface="Arial" pitchFamily="34" charset="0"/>
                <a:cs typeface="Arial" pitchFamily="34" charset="0"/>
              </a:rPr>
              <a:t>For the analysis report:  </a:t>
            </a:r>
          </a:p>
          <a:p>
            <a:pPr marL="457200" indent="-457200">
              <a:buAutoNum type="arabicPeriod"/>
            </a:pPr>
            <a:r>
              <a:rPr lang="en-NZ" sz="2000">
                <a:solidFill>
                  <a:schemeClr val="tx1"/>
                </a:solidFill>
                <a:latin typeface="Arial"/>
                <a:cs typeface="Arial"/>
              </a:rPr>
              <a:t>Explain your dataset.</a:t>
            </a:r>
          </a:p>
          <a:p>
            <a:pPr marL="457200" indent="-457200">
              <a:buSzPct val="114999"/>
              <a:buAutoNum type="arabicPeriod"/>
            </a:pPr>
            <a:r>
              <a:rPr lang="en-NZ" sz="2000">
                <a:solidFill>
                  <a:schemeClr val="tx1"/>
                </a:solidFill>
                <a:latin typeface="Arial"/>
                <a:cs typeface="Arial"/>
              </a:rPr>
              <a:t>Discuss the 3 business problems in detail (define the problems and address the significance of the problems).</a:t>
            </a:r>
            <a:endParaRPr lang="en-NZ">
              <a:solidFill>
                <a:schemeClr val="tx1"/>
              </a:solidFill>
              <a:latin typeface="Arial"/>
              <a:cs typeface="Arial"/>
            </a:endParaRPr>
          </a:p>
          <a:p>
            <a:pPr marL="457200" indent="-457200">
              <a:buAutoNum type="arabicPeriod"/>
            </a:pPr>
            <a:r>
              <a:rPr lang="en-NZ" sz="2000">
                <a:solidFill>
                  <a:schemeClr val="tx1"/>
                </a:solidFill>
                <a:latin typeface="Arial" pitchFamily="34" charset="0"/>
                <a:cs typeface="Arial" pitchFamily="34" charset="0"/>
              </a:rPr>
              <a:t>Critically discuss the potential data analysis techniques, mention which techniques you would use to address which problem, and justify why you decided to use these techniques to address your identified problems.</a:t>
            </a:r>
          </a:p>
          <a:p>
            <a:pPr marL="457200" indent="-457200">
              <a:buAutoNum type="arabicPeriod"/>
            </a:pPr>
            <a:r>
              <a:rPr lang="en-NZ" sz="2000">
                <a:solidFill>
                  <a:schemeClr val="tx1"/>
                </a:solidFill>
                <a:latin typeface="Arial" pitchFamily="34" charset="0"/>
                <a:cs typeface="Arial" pitchFamily="34" charset="0"/>
              </a:rPr>
              <a:t> After you have applied the selected techniques (at least 3) to generate analysis results for your 3 problems -&gt; critically interpret and justify the analysis results to provide and support recommendations that would help address the 3 problems. </a:t>
            </a: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b="1">
              <a:solidFill>
                <a:srgbClr val="1D2125"/>
              </a:solidFill>
              <a:latin typeface="Arial" panose="020B0604020202020204" pitchFamily="34" charset="0"/>
              <a:cs typeface="Arial" panose="020B0604020202020204" pitchFamily="34" charset="0"/>
            </a:endParaRPr>
          </a:p>
          <a:p>
            <a:pPr marL="457200" indent="-457200">
              <a:buAutoNum type="arabicPeriod"/>
            </a:pPr>
            <a:endParaRPr lang="en-US">
              <a:solidFill>
                <a:schemeClr val="tx1"/>
              </a:solidFill>
            </a:endParaRPr>
          </a:p>
        </p:txBody>
      </p:sp>
    </p:spTree>
    <p:extLst>
      <p:ext uri="{BB962C8B-B14F-4D97-AF65-F5344CB8AC3E}">
        <p14:creationId xmlns:p14="http://schemas.microsoft.com/office/powerpoint/2010/main" val="2571124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2" y="982132"/>
            <a:ext cx="9601196" cy="1007981"/>
          </a:xfrm>
        </p:spPr>
        <p:txBody>
          <a:bodyPr/>
          <a:lstStyle/>
          <a:p>
            <a:r>
              <a:rPr lang="en-US" altLang="zh-CN" b="1">
                <a:latin typeface="Arial" panose="020B0604020202020204" pitchFamily="34" charset="0"/>
                <a:cs typeface="Arial" panose="020B0604020202020204" pitchFamily="34" charset="0"/>
              </a:rPr>
              <a:t>Assessment</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Two</a:t>
            </a:r>
            <a:endParaRPr lang="en-AU" b="1">
              <a:latin typeface="Arial" panose="020B0604020202020204" pitchFamily="34" charset="0"/>
              <a:cs typeface="Arial" panose="020B0604020202020204" pitchFamily="34" charset="0"/>
            </a:endParaRPr>
          </a:p>
        </p:txBody>
      </p:sp>
      <p:sp>
        <p:nvSpPr>
          <p:cNvPr id="9" name="Content Placeholder 2"/>
          <p:cNvSpPr>
            <a:spLocks noGrp="1"/>
          </p:cNvSpPr>
          <p:nvPr>
            <p:ph idx="1"/>
          </p:nvPr>
        </p:nvSpPr>
        <p:spPr>
          <a:xfrm>
            <a:off x="1060174" y="2023041"/>
            <a:ext cx="10061711" cy="3976028"/>
          </a:xfrm>
        </p:spPr>
        <p:txBody>
          <a:bodyPr>
            <a:normAutofit/>
          </a:bodyPr>
          <a:lstStyle/>
          <a:p>
            <a:pPr>
              <a:buNone/>
            </a:pPr>
            <a:r>
              <a:rPr lang="en-US">
                <a:solidFill>
                  <a:schemeClr val="tx1"/>
                </a:solidFill>
                <a:latin typeface="Arial" pitchFamily="34" charset="0"/>
                <a:cs typeface="Arial" pitchFamily="34" charset="0"/>
              </a:rPr>
              <a:t>You will use journal articles for the following purposes in Assignment 2:</a:t>
            </a:r>
          </a:p>
          <a:p>
            <a:r>
              <a:rPr lang="en-US">
                <a:solidFill>
                  <a:schemeClr val="tx1"/>
                </a:solidFill>
                <a:latin typeface="Arial" pitchFamily="34" charset="0"/>
                <a:cs typeface="Arial" pitchFamily="34" charset="0"/>
              </a:rPr>
              <a:t>Discuss the significance of the data problems</a:t>
            </a:r>
          </a:p>
          <a:p>
            <a:r>
              <a:rPr lang="en-US">
                <a:solidFill>
                  <a:schemeClr val="tx1"/>
                </a:solidFill>
                <a:latin typeface="Arial" pitchFamily="34" charset="0"/>
                <a:cs typeface="Arial" pitchFamily="34" charset="0"/>
              </a:rPr>
              <a:t>Support the identification of the variables</a:t>
            </a:r>
          </a:p>
          <a:p>
            <a:r>
              <a:rPr lang="en-US">
                <a:solidFill>
                  <a:schemeClr val="tx1"/>
                </a:solidFill>
                <a:latin typeface="Arial" pitchFamily="34" charset="0"/>
                <a:cs typeface="Arial" pitchFamily="34" charset="0"/>
              </a:rPr>
              <a:t>Support the justification of the data analysis methods</a:t>
            </a:r>
          </a:p>
          <a:p>
            <a:r>
              <a:rPr lang="en-US">
                <a:solidFill>
                  <a:schemeClr val="tx1"/>
                </a:solidFill>
                <a:latin typeface="Arial" pitchFamily="34" charset="0"/>
                <a:cs typeface="Arial" pitchFamily="34" charset="0"/>
              </a:rPr>
              <a:t>Expand/support the recommendations you provide from your analysis.</a:t>
            </a:r>
          </a:p>
          <a:p>
            <a:pPr algn="l"/>
            <a:endParaRPr lang="en-NZ" altLang="zh-CN" b="1">
              <a:solidFill>
                <a:srgbClr val="1D212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1124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2" y="982132"/>
            <a:ext cx="3730469" cy="1303867"/>
          </a:xfrm>
        </p:spPr>
        <p:txBody>
          <a:bodyPr>
            <a:normAutofit fontScale="90000"/>
          </a:bodyPr>
          <a:lstStyle/>
          <a:p>
            <a:r>
              <a:rPr lang="en-US" altLang="zh-CN" b="1">
                <a:latin typeface="Arial" panose="020B0604020202020204" pitchFamily="34" charset="0"/>
                <a:cs typeface="Arial" panose="020B0604020202020204" pitchFamily="34" charset="0"/>
              </a:rPr>
              <a:t>Assessment</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Two</a:t>
            </a:r>
            <a:endParaRPr lang="en-AU" b="1">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C6A7B6CD-411F-21F7-591C-630B9FE34D1A}"/>
              </a:ext>
            </a:extLst>
          </p:cNvPr>
          <p:cNvPicPr>
            <a:picLocks noChangeAspect="1"/>
          </p:cNvPicPr>
          <p:nvPr/>
        </p:nvPicPr>
        <p:blipFill>
          <a:blip r:embed="rId2"/>
          <a:stretch>
            <a:fillRect/>
          </a:stretch>
        </p:blipFill>
        <p:spPr>
          <a:xfrm>
            <a:off x="5152269" y="607423"/>
            <a:ext cx="5925033" cy="5643154"/>
          </a:xfrm>
          <a:prstGeom prst="rect">
            <a:avLst/>
          </a:prstGeom>
        </p:spPr>
      </p:pic>
      <p:sp>
        <p:nvSpPr>
          <p:cNvPr id="4" name="内容占位符 4">
            <a:extLst>
              <a:ext uri="{FF2B5EF4-FFF2-40B4-BE49-F238E27FC236}">
                <a16:creationId xmlns:a16="http://schemas.microsoft.com/office/drawing/2014/main" id="{AAB68B5E-8C2E-106E-503A-8CE5B4DC4698}"/>
              </a:ext>
            </a:extLst>
          </p:cNvPr>
          <p:cNvSpPr>
            <a:spLocks noGrp="1"/>
          </p:cNvSpPr>
          <p:nvPr>
            <p:ph idx="1"/>
          </p:nvPr>
        </p:nvSpPr>
        <p:spPr>
          <a:xfrm>
            <a:off x="1114698" y="2519899"/>
            <a:ext cx="3650278" cy="3759253"/>
          </a:xfrm>
        </p:spPr>
        <p:txBody>
          <a:bodyPr>
            <a:normAutofit/>
          </a:bodyPr>
          <a:lstStyle/>
          <a:p>
            <a:r>
              <a:rPr lang="en-US" altLang="zh-CN" b="1">
                <a:solidFill>
                  <a:schemeClr val="tx1"/>
                </a:solidFill>
                <a:latin typeface="Arial" panose="020B0604020202020204" pitchFamily="34" charset="0"/>
                <a:cs typeface="Arial" panose="020B0604020202020204" pitchFamily="34" charset="0"/>
              </a:rPr>
              <a:t>Word</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count</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guidance:</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3000</a:t>
            </a:r>
            <a:r>
              <a:rPr lang="zh-CN" altLang="en-US">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cs typeface="Arial" panose="020B0604020202020204" pitchFamily="34" charset="0"/>
              </a:rPr>
              <a:t>words</a:t>
            </a:r>
            <a:r>
              <a:rPr lang="zh-CN" altLang="en-US">
                <a:solidFill>
                  <a:schemeClr val="tx1"/>
                </a:solidFill>
                <a:latin typeface="Arial" panose="020B0604020202020204" pitchFamily="34" charset="0"/>
                <a:cs typeface="Arial" panose="020B0604020202020204" pitchFamily="34" charset="0"/>
              </a:rPr>
              <a:t> </a:t>
            </a:r>
            <a:endParaRPr lang="en-US" altLang="zh-CN">
              <a:solidFill>
                <a:schemeClr val="tx1"/>
              </a:solidFill>
              <a:latin typeface="Arial" panose="020B0604020202020204" pitchFamily="34" charset="0"/>
              <a:cs typeface="Arial" panose="020B0604020202020204" pitchFamily="34" charset="0"/>
            </a:endParaRPr>
          </a:p>
          <a:p>
            <a:r>
              <a:rPr lang="en-US" altLang="zh-CN" b="1">
                <a:solidFill>
                  <a:schemeClr val="tx1"/>
                </a:solidFill>
                <a:latin typeface="Arial" panose="020B0604020202020204" pitchFamily="34" charset="0"/>
                <a:cs typeface="Arial" panose="020B0604020202020204" pitchFamily="34" charset="0"/>
              </a:rPr>
              <a:t>Due</a:t>
            </a:r>
            <a:r>
              <a:rPr lang="zh-CN" altLang="en-US" b="1">
                <a:solidFill>
                  <a:schemeClr val="tx1"/>
                </a:solidFill>
                <a:latin typeface="Arial" panose="020B0604020202020204" pitchFamily="34" charset="0"/>
                <a:cs typeface="Arial" panose="020B0604020202020204" pitchFamily="34" charset="0"/>
              </a:rPr>
              <a:t> </a:t>
            </a:r>
            <a:r>
              <a:rPr lang="en-US" altLang="zh-CN" b="1">
                <a:solidFill>
                  <a:schemeClr val="tx1"/>
                </a:solidFill>
                <a:latin typeface="Arial" panose="020B0604020202020204" pitchFamily="34" charset="0"/>
                <a:cs typeface="Arial" panose="020B0604020202020204" pitchFamily="34" charset="0"/>
              </a:rPr>
              <a:t>date:</a:t>
            </a:r>
            <a:r>
              <a:rPr lang="zh-CN" altLang="en-US" b="1">
                <a:solidFill>
                  <a:schemeClr val="tx1"/>
                </a:solidFill>
                <a:latin typeface="Arial" panose="020B0604020202020204" pitchFamily="34" charset="0"/>
                <a:cs typeface="Arial" panose="020B0604020202020204" pitchFamily="34" charset="0"/>
              </a:rPr>
              <a:t> </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Monday</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Week</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NZ"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9</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(7</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NZ"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April</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 2025),</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9:00</a:t>
            </a:r>
            <a:r>
              <a:rPr lang="zh-CN" altLang="en-US">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a:solidFill>
                  <a:schemeClr val="tx1"/>
                </a:solidFill>
                <a:latin typeface="Arial" panose="020B0604020202020204" pitchFamily="34" charset="0"/>
                <a:ea typeface="ヒラギノ角ゴ Pro W3" panose="020B0300000000000000" pitchFamily="34" charset="-128"/>
                <a:cs typeface="Arial" panose="020B0604020202020204" pitchFamily="34" charset="0"/>
              </a:rPr>
              <a:t>AM</a:t>
            </a:r>
          </a:p>
        </p:txBody>
      </p:sp>
    </p:spTree>
    <p:extLst>
      <p:ext uri="{BB962C8B-B14F-4D97-AF65-F5344CB8AC3E}">
        <p14:creationId xmlns:p14="http://schemas.microsoft.com/office/powerpoint/2010/main" val="3249292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2" y="982132"/>
            <a:ext cx="9601196" cy="1007981"/>
          </a:xfrm>
        </p:spPr>
        <p:txBody>
          <a:bodyPr/>
          <a:lstStyle/>
          <a:p>
            <a:r>
              <a:rPr lang="en-NZ" b="1">
                <a:latin typeface="Arial" panose="020B0604020202020204" pitchFamily="34" charset="0"/>
                <a:cs typeface="Arial" panose="020B0604020202020204" pitchFamily="34" charset="0"/>
              </a:rPr>
              <a:t>Homework</a:t>
            </a:r>
            <a:endParaRPr lang="en-AU" b="1">
              <a:latin typeface="Arial" panose="020B0604020202020204" pitchFamily="34" charset="0"/>
              <a:cs typeface="Arial" panose="020B0604020202020204" pitchFamily="34" charset="0"/>
            </a:endParaRPr>
          </a:p>
        </p:txBody>
      </p:sp>
      <p:sp>
        <p:nvSpPr>
          <p:cNvPr id="9" name="Content Placeholder 2"/>
          <p:cNvSpPr>
            <a:spLocks noGrp="1"/>
          </p:cNvSpPr>
          <p:nvPr>
            <p:ph idx="1"/>
          </p:nvPr>
        </p:nvSpPr>
        <p:spPr>
          <a:xfrm>
            <a:off x="1325828" y="2703443"/>
            <a:ext cx="8915400" cy="3976028"/>
          </a:xfrm>
        </p:spPr>
        <p:txBody>
          <a:bodyPr>
            <a:normAutofit/>
          </a:bodyPr>
          <a:lstStyle/>
          <a:p>
            <a:pPr marL="457200" indent="-457200">
              <a:buAutoNum type="arabicPeriod"/>
            </a:pPr>
            <a:r>
              <a:rPr lang="en-NZ" sz="2000">
                <a:solidFill>
                  <a:schemeClr val="tx1"/>
                </a:solidFill>
                <a:latin typeface="Arial" pitchFamily="34" charset="0"/>
                <a:cs typeface="Arial" pitchFamily="34" charset="0"/>
              </a:rPr>
              <a:t>Categorize your variables from the dataset as categorical or numerical.</a:t>
            </a:r>
          </a:p>
          <a:p>
            <a:pPr marL="457200" indent="-457200">
              <a:buAutoNum type="arabicPeriod"/>
            </a:pPr>
            <a:r>
              <a:rPr lang="en-NZ" sz="2000">
                <a:solidFill>
                  <a:schemeClr val="tx1"/>
                </a:solidFill>
                <a:latin typeface="Arial" pitchFamily="34" charset="0"/>
                <a:cs typeface="Arial" pitchFamily="34" charset="0"/>
              </a:rPr>
              <a:t>Identify 3 business problems from your dataset that you would like to address.</a:t>
            </a:r>
          </a:p>
          <a:p>
            <a:pPr marL="457200" indent="-457200">
              <a:buAutoNum type="arabicPeriod"/>
            </a:pPr>
            <a:r>
              <a:rPr lang="en-NZ" sz="2000">
                <a:solidFill>
                  <a:schemeClr val="tx1"/>
                </a:solidFill>
                <a:latin typeface="Arial" pitchFamily="34" charset="0"/>
                <a:cs typeface="Arial" pitchFamily="34" charset="0"/>
              </a:rPr>
              <a:t>Perform descriptive analysis (descriptive statistics using data analysis </a:t>
            </a:r>
            <a:r>
              <a:rPr lang="en-NZ" sz="2000" err="1">
                <a:solidFill>
                  <a:schemeClr val="tx1"/>
                </a:solidFill>
                <a:latin typeface="Arial" pitchFamily="34" charset="0"/>
                <a:cs typeface="Arial" pitchFamily="34" charset="0"/>
              </a:rPr>
              <a:t>toolpak</a:t>
            </a:r>
            <a:r>
              <a:rPr lang="en-NZ" sz="2000">
                <a:solidFill>
                  <a:schemeClr val="tx1"/>
                </a:solidFill>
                <a:latin typeface="Arial" pitchFamily="34" charset="0"/>
                <a:cs typeface="Arial" pitchFamily="34" charset="0"/>
              </a:rPr>
              <a:t>, pivot tables etc) on your dataset to address your problem(s). </a:t>
            </a:r>
          </a:p>
          <a:p>
            <a:pPr marL="457200" indent="-457200">
              <a:buAutoNum type="arabicPeriod"/>
            </a:pPr>
            <a:r>
              <a:rPr lang="en-NZ" sz="2000">
                <a:solidFill>
                  <a:schemeClr val="tx1"/>
                </a:solidFill>
                <a:latin typeface="Arial" pitchFamily="34" charset="0"/>
                <a:cs typeface="Arial" pitchFamily="34" charset="0"/>
              </a:rPr>
              <a:t>Interpret the analysis results.</a:t>
            </a:r>
          </a:p>
          <a:p>
            <a:pPr marL="457200" indent="-457200">
              <a:buAutoNum type="arabicPeriod"/>
            </a:pPr>
            <a:r>
              <a:rPr lang="en-NZ" sz="2000">
                <a:solidFill>
                  <a:schemeClr val="tx1"/>
                </a:solidFill>
                <a:latin typeface="Arial" pitchFamily="34" charset="0"/>
                <a:cs typeface="Arial" pitchFamily="34" charset="0"/>
              </a:rPr>
              <a:t>Try to perform diagnostic analysis (t-test and ANOVA) on your dataset to address your problem(s).</a:t>
            </a: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sz="2000">
              <a:solidFill>
                <a:schemeClr val="tx1"/>
              </a:solidFill>
              <a:latin typeface="Arial" pitchFamily="34" charset="0"/>
              <a:cs typeface="Arial" pitchFamily="34" charset="0"/>
            </a:endParaRPr>
          </a:p>
          <a:p>
            <a:pPr marL="457200" indent="-457200">
              <a:buAutoNum type="arabicPeriod"/>
            </a:pPr>
            <a:endParaRPr lang="en-NZ" b="1">
              <a:solidFill>
                <a:srgbClr val="1D2125"/>
              </a:solidFill>
              <a:latin typeface="Arial" panose="020B0604020202020204" pitchFamily="34" charset="0"/>
              <a:cs typeface="Arial" panose="020B0604020202020204" pitchFamily="34" charset="0"/>
            </a:endParaRPr>
          </a:p>
          <a:p>
            <a:pPr marL="457200" indent="-457200">
              <a:buAutoNum type="arabicPeriod"/>
            </a:pPr>
            <a:endParaRPr lang="en-US">
              <a:solidFill>
                <a:schemeClr val="tx1"/>
              </a:solidFill>
            </a:endParaRPr>
          </a:p>
        </p:txBody>
      </p:sp>
    </p:spTree>
    <p:extLst>
      <p:ext uri="{BB962C8B-B14F-4D97-AF65-F5344CB8AC3E}">
        <p14:creationId xmlns:p14="http://schemas.microsoft.com/office/powerpoint/2010/main" val="257112420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3E1C4C7BA5ED4094D04BB904A5E7AB" ma:contentTypeVersion="4" ma:contentTypeDescription="Create a new document." ma:contentTypeScope="" ma:versionID="149470d6a2e38a69316f2096364dac83">
  <xsd:schema xmlns:xsd="http://www.w3.org/2001/XMLSchema" xmlns:xs="http://www.w3.org/2001/XMLSchema" xmlns:p="http://schemas.microsoft.com/office/2006/metadata/properties" xmlns:ns2="2e870598-80c1-4ed7-a5cf-d50e51ea1f44" targetNamespace="http://schemas.microsoft.com/office/2006/metadata/properties" ma:root="true" ma:fieldsID="a107eb985a642ca95cbe6c890a64103e" ns2:_="">
    <xsd:import namespace="2e870598-80c1-4ed7-a5cf-d50e51ea1f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870598-80c1-4ed7-a5cf-d50e51ea1f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45AB4C-922C-421D-8B2A-F0BAF4B97BA7}">
  <ds:schemaRefs>
    <ds:schemaRef ds:uri="2e870598-80c1-4ed7-a5cf-d50e51ea1f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CDEC25-73F0-48C8-8CE9-CE3DB940D3BF}">
  <ds:schemaRefs>
    <ds:schemaRef ds:uri="03b210eb-a7de-4b47-ad24-d62341b079b1"/>
    <ds:schemaRef ds:uri="22af72f0-df75-4851-a469-3e8a66795582"/>
    <ds:schemaRef ds:uri="b9cc3f67-5b7c-4875-a629-52a60bd98ffe"/>
    <ds:schemaRef ds:uri="bb0f1b5c-7cc7-4cf0-876f-ee0bbde77cd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E9CCE74-591F-46D6-B484-23A9975DEF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TM02900743[[fn=Organic]]</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Organic</vt:lpstr>
      <vt:lpstr>MAMC01803 Analytics for Managers</vt:lpstr>
      <vt:lpstr>In this lecture:</vt:lpstr>
      <vt:lpstr>Individual task and group discussion: Finding your dataset for Assessment Two</vt:lpstr>
      <vt:lpstr>Individual task and group discussion: Finding your dataset for Assessment Two</vt:lpstr>
      <vt:lpstr>Diagnostic analytics</vt:lpstr>
      <vt:lpstr>T-Test</vt:lpstr>
      <vt:lpstr>T-Test</vt:lpstr>
      <vt:lpstr>ANOVA</vt:lpstr>
      <vt:lpstr>Exercise: Diagnostic analytics </vt:lpstr>
      <vt:lpstr>Assessment Two</vt:lpstr>
      <vt:lpstr>Assessment Two</vt:lpstr>
      <vt:lpstr>Assessment Two</vt:lpstr>
      <vt:lpstr>Assessment Two</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Jishuo Sun</dc:creator>
  <cp:revision>1</cp:revision>
  <dcterms:created xsi:type="dcterms:W3CDTF">2021-09-12T02:15:48Z</dcterms:created>
  <dcterms:modified xsi:type="dcterms:W3CDTF">2025-03-04T21:47:23Z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0x010100503E1C4C7BA5ED4094D04BB904A5E7AB</vt:lpwstr>
  </property>
  <property fmtid="{D5CDD505-2E9C-101B-9397-08002B2CF9AE}" pid="3" name="MediaServiceImageTags">
    <vt:lpwstr/>
  </property>
</Properties>
</file>