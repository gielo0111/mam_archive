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8" r:id="rId4"/>
  </p:sldMasterIdLst>
  <p:notesMasterIdLst>
    <p:notesMasterId r:id="rId17"/>
  </p:notesMasterIdLst>
  <p:sldIdLst>
    <p:sldId id="256" r:id="rId5"/>
    <p:sldId id="257" r:id="rId6"/>
    <p:sldId id="467" r:id="rId7"/>
    <p:sldId id="475" r:id="rId8"/>
    <p:sldId id="476" r:id="rId9"/>
    <p:sldId id="477" r:id="rId10"/>
    <p:sldId id="473" r:id="rId11"/>
    <p:sldId id="474" r:id="rId12"/>
    <p:sldId id="472" r:id="rId13"/>
    <p:sldId id="469" r:id="rId14"/>
    <p:sldId id="471" r:id="rId15"/>
    <p:sldId id="4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ECB76B-F78C-1126-CA9C-DAA4952DC08F}" v="6" dt="2025-03-06T21:48:36.219"/>
    <p1510:client id="{A3E581F8-F7FA-414C-7709-9925B2B98225}" v="2" dt="2025-03-06T20:47:15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John Ford Viloria" userId="S::kvil351@futureskills.co.nz::56f2c8a7-8395-431f-80a2-1897225ab5b1" providerId="AD" clId="Web-{99ECB76B-F78C-1126-CA9C-DAA4952DC08F}"/>
    <pc:docChg chg="modSld">
      <pc:chgData name="Kate John Ford Viloria" userId="S::kvil351@futureskills.co.nz::56f2c8a7-8395-431f-80a2-1897225ab5b1" providerId="AD" clId="Web-{99ECB76B-F78C-1126-CA9C-DAA4952DC08F}" dt="2025-03-06T21:45:17.792" v="4" actId="20577"/>
      <pc:docMkLst>
        <pc:docMk/>
      </pc:docMkLst>
      <pc:sldChg chg="modSp">
        <pc:chgData name="Kate John Ford Viloria" userId="S::kvil351@futureskills.co.nz::56f2c8a7-8395-431f-80a2-1897225ab5b1" providerId="AD" clId="Web-{99ECB76B-F78C-1126-CA9C-DAA4952DC08F}" dt="2025-03-06T21:45:17.792" v="4" actId="20577"/>
        <pc:sldMkLst>
          <pc:docMk/>
          <pc:sldMk cId="3210454072" sldId="477"/>
        </pc:sldMkLst>
        <pc:spChg chg="mod">
          <ac:chgData name="Kate John Ford Viloria" userId="S::kvil351@futureskills.co.nz::56f2c8a7-8395-431f-80a2-1897225ab5b1" providerId="AD" clId="Web-{99ECB76B-F78C-1126-CA9C-DAA4952DC08F}" dt="2025-03-06T21:45:17.792" v="4" actId="20577"/>
          <ac:spMkLst>
            <pc:docMk/>
            <pc:sldMk cId="3210454072" sldId="477"/>
            <ac:spMk id="3" creationId="{00000000-0000-0000-0000-000000000000}"/>
          </ac:spMkLst>
        </pc:spChg>
      </pc:sldChg>
    </pc:docChg>
  </pc:docChgLst>
  <pc:docChgLst>
    <pc:chgData name="Suman Thapa" userId="S::stha585@futureskills.co.nz::b3cbeb76-d767-485b-b421-85e3b9d788c9" providerId="AD" clId="Web-{A3E581F8-F7FA-414C-7709-9925B2B98225}"/>
    <pc:docChg chg="modSld">
      <pc:chgData name="Suman Thapa" userId="S::stha585@futureskills.co.nz::b3cbeb76-d767-485b-b421-85e3b9d788c9" providerId="AD" clId="Web-{A3E581F8-F7FA-414C-7709-9925B2B98225}" dt="2025-03-06T20:47:15.895" v="1"/>
      <pc:docMkLst>
        <pc:docMk/>
      </pc:docMkLst>
      <pc:sldChg chg="delSp">
        <pc:chgData name="Suman Thapa" userId="S::stha585@futureskills.co.nz::b3cbeb76-d767-485b-b421-85e3b9d788c9" providerId="AD" clId="Web-{A3E581F8-F7FA-414C-7709-9925B2B98225}" dt="2025-03-06T20:47:15.895" v="1"/>
        <pc:sldMkLst>
          <pc:docMk/>
          <pc:sldMk cId="105840852" sldId="473"/>
        </pc:sldMkLst>
        <pc:spChg chg="del">
          <ac:chgData name="Suman Thapa" userId="S::stha585@futureskills.co.nz::b3cbeb76-d767-485b-b421-85e3b9d788c9" providerId="AD" clId="Web-{A3E581F8-F7FA-414C-7709-9925B2B98225}" dt="2025-03-06T20:47:15.895" v="1"/>
          <ac:spMkLst>
            <pc:docMk/>
            <pc:sldMk cId="105840852" sldId="473"/>
            <ac:spMk id="2" creationId="{206748A6-D79F-9B80-79A8-69B889145034}"/>
          </ac:spMkLst>
        </pc:spChg>
        <pc:spChg chg="del">
          <ac:chgData name="Suman Thapa" userId="S::stha585@futureskills.co.nz::b3cbeb76-d767-485b-b421-85e3b9d788c9" providerId="AD" clId="Web-{A3E581F8-F7FA-414C-7709-9925B2B98225}" dt="2025-03-06T20:47:13.739" v="0"/>
          <ac:spMkLst>
            <pc:docMk/>
            <pc:sldMk cId="105840852" sldId="473"/>
            <ac:spMk id="3" creationId="{2F3D08D2-4BEB-B340-7C5F-36221EB48E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4D690-4374-C247-A0E8-AF66082E0C44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9537B-D83B-914F-8020-FB860BBD1AD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60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96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507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88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169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538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36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0062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89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719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16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17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774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963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619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103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487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92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E9D7D0-7EF9-764C-B09F-8386B5E2699F}" type="datetimeFigureOut">
              <a:rPr lang="en-AU" smtClean="0"/>
              <a:pPr/>
              <a:t>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757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sticsbyjim.com/hypothesis-testing/t-tests-excel/" TargetMode="External"/><Relationship Id="rId7" Type="http://schemas.openxmlformats.org/officeDocument/2006/relationships/hyperlink" Target="https://statisticsbyjim.com/basics/excel-correlation/" TargetMode="External"/><Relationship Id="rId2" Type="http://schemas.openxmlformats.org/officeDocument/2006/relationships/hyperlink" Target="https://futureskills.sharepoint.com/:b:/r/sites/MAMC01803AnalyticsforManagers/Class%20Materials/Week%204/APA%20format%20for%20statistical%20notation%20and%20other%20things.pdf?csf=1&amp;web=1&amp;e=FxTrr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l-statistics.com/chi-square-and-f-distributions/independence-testing/" TargetMode="External"/><Relationship Id="rId5" Type="http://schemas.openxmlformats.org/officeDocument/2006/relationships/hyperlink" Target="https://www.youtube.com/watch?v=Ki5S9kmN2hI;%20https://real-statistics.com/chi-square-and-f-distributions/independence-testing/" TargetMode="External"/><Relationship Id="rId4" Type="http://schemas.openxmlformats.org/officeDocument/2006/relationships/hyperlink" Target="https://statisticsbyjim.com/anova/one-way-anova-excel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MAMC01803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Managers</a:t>
            </a:r>
            <a:endParaRPr lang="en-AU" sz="42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2):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Diagnostic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ia Ora sign art, carved of wood– TroubleMaker.co.nz">
            <a:extLst>
              <a:ext uri="{FF2B5EF4-FFF2-40B4-BE49-F238E27FC236}">
                <a16:creationId xmlns:a16="http://schemas.microsoft.com/office/drawing/2014/main" id="{E296C797-36E8-8A6C-9D11-E50BE7DF9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7659" y="1455932"/>
            <a:ext cx="3507678" cy="197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A8F4E7C-FF9A-CD80-FDF1-0E7E88B5A7E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841" y="487942"/>
            <a:ext cx="4914411" cy="545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025" y="643160"/>
            <a:ext cx="8911687" cy="1280890"/>
          </a:xfrm>
        </p:spPr>
        <p:txBody>
          <a:bodyPr/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lecture: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166" y="2524835"/>
            <a:ext cx="9950459" cy="2633911"/>
          </a:xfrm>
        </p:spPr>
        <p:txBody>
          <a:bodyPr>
            <a:normAutofit/>
          </a:bodyPr>
          <a:lstStyle/>
          <a:p>
            <a:r>
              <a:rPr lang="en-US" altLang="zh-CN" sz="2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sz="2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zh-CN" altLang="en-US" sz="2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100" b="1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100" b="1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2100" b="1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r>
              <a:rPr lang="zh-CN" altLang="en-US" sz="2100" b="1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  <a:r>
              <a:rPr lang="zh-CN" altLang="en-US" sz="2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diagnostic</a:t>
            </a:r>
            <a:r>
              <a:rPr lang="zh-CN" altLang="en-US" sz="21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</p:txBody>
      </p:sp>
      <p:pic>
        <p:nvPicPr>
          <p:cNvPr id="1030" name="Picture 6" descr="Diagnostic Analytics - Methods, Tools and Examples">
            <a:extLst>
              <a:ext uri="{FF2B5EF4-FFF2-40B4-BE49-F238E27FC236}">
                <a16:creationId xmlns:a16="http://schemas.microsoft.com/office/drawing/2014/main" id="{375397FE-CB5E-9671-40B4-A67E86BB0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650" y="3972740"/>
            <a:ext cx="5129349" cy="288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81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045" y="659367"/>
            <a:ext cx="9353910" cy="1280890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 Square Test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2416919"/>
            <a:ext cx="9353910" cy="397602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Chi-square test is a way to see if there is a connection between two variables or if something happens by chance.</a:t>
            </a:r>
            <a:endParaRPr lang="en-NZ" altLang="zh-CN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compares what actually happened </a:t>
            </a:r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(observed values)</a:t>
            </a:r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with what you expected to happen </a:t>
            </a:r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(expected values) </a:t>
            </a:r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with what actually happens.</a:t>
            </a:r>
            <a:endParaRPr lang="en-US" sz="28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Helps you figure out if the difference is significant or not in the observed (actual) values.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045" y="659367"/>
            <a:ext cx="9353910" cy="1280890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 Square Test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2054561"/>
            <a:ext cx="9353910" cy="3976028"/>
          </a:xfrm>
        </p:spPr>
        <p:txBody>
          <a:bodyPr>
            <a:normAutofit fontScale="92500"/>
          </a:bodyPr>
          <a:lstStyle/>
          <a:p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Example: You want to see if gender influences movie genre preference (horror VS romance) or if the preferences are the same regardless of gender. </a:t>
            </a:r>
          </a:p>
          <a:p>
            <a:r>
              <a:rPr lang="en-NZ" altLang="zh-CN" sz="2200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  <a:t>You will create 2 tables: </a:t>
            </a:r>
            <a:br>
              <a:rPr lang="en-NZ" altLang="zh-CN" sz="2200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</a:br>
            <a:r>
              <a:rPr lang="en-NZ" altLang="zh-CN" sz="2200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en-NZ" altLang="zh-CN" sz="2200" b="1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  <a:t>Observed values: </a:t>
            </a:r>
            <a:r>
              <a:rPr lang="en-NZ" altLang="zh-CN" sz="2200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  <a:t>The actual number of males who watch horror and romance, and the actual number of females who watch horror and romance (this comes from your dataset). </a:t>
            </a:r>
            <a:br>
              <a:rPr lang="en-NZ" altLang="zh-CN" sz="2200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</a:br>
            <a:r>
              <a:rPr lang="en-NZ" altLang="zh-CN" sz="2200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  <a:t>2)</a:t>
            </a:r>
            <a:r>
              <a:rPr lang="en-NZ" altLang="zh-CN" sz="2200" b="1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  <a:t> Expected values: </a:t>
            </a:r>
            <a:r>
              <a:rPr lang="en-NZ" altLang="zh-CN" sz="2200">
                <a:solidFill>
                  <a:srgbClr val="1D2125"/>
                </a:solidFill>
                <a:latin typeface="Arial" pitchFamily="34" charset="0"/>
                <a:cs typeface="Arial" pitchFamily="34" charset="0"/>
              </a:rPr>
              <a:t>your expected number of males who watch horror and romance, and expected number of females who watch horror and romance (this needs to be calculated).</a:t>
            </a:r>
          </a:p>
          <a:p>
            <a:r>
              <a:rPr lang="en-NZ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Formula to calculate expected values: </a:t>
            </a:r>
            <a:r>
              <a:rPr lang="en-NZ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row total * column total / grand total</a:t>
            </a:r>
            <a:endParaRPr lang="en-US" sz="22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045" y="659367"/>
            <a:ext cx="9353910" cy="1280890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2054561"/>
            <a:ext cx="9353910" cy="3976028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purpose of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correlation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is to measure the relationship or connection between two variables. </a:t>
            </a:r>
          </a:p>
          <a:p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helps to determine whether and how strongly two variables are related. </a:t>
            </a:r>
          </a:p>
          <a:p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Correlation can tell you if an increase in one variable is associated with an increase (or decrease) in another variable.</a:t>
            </a:r>
          </a:p>
          <a:p>
            <a:r>
              <a:rPr lang="en-NZ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Example: increase in temperature increases jacket sales (positive correlation).</a:t>
            </a:r>
            <a:br>
              <a:rPr lang="en-NZ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NZ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Increase in exercise decreases weight (negative correlation).</a:t>
            </a:r>
            <a:endParaRPr lang="en-US" sz="2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045" y="659367"/>
            <a:ext cx="9353910" cy="1280890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2054561"/>
            <a:ext cx="9353910" cy="3976028"/>
          </a:xfrm>
        </p:spPr>
        <p:txBody>
          <a:bodyPr>
            <a:normAutofit lnSpcReduction="10000"/>
          </a:bodyPr>
          <a:lstStyle/>
          <a:p>
            <a:r>
              <a:rPr lang="en-NZ" sz="2200">
                <a:solidFill>
                  <a:schemeClr val="tx1"/>
                </a:solidFill>
                <a:latin typeface="Arial"/>
                <a:cs typeface="Arial"/>
              </a:rPr>
              <a:t>To perform correlation: </a:t>
            </a:r>
          </a:p>
          <a:p>
            <a:r>
              <a:rPr lang="en-NZ" sz="2200">
                <a:solidFill>
                  <a:schemeClr val="tx1"/>
                </a:solidFill>
                <a:latin typeface="Arial"/>
                <a:cs typeface="Arial"/>
              </a:rPr>
              <a:t>1) calculate </a:t>
            </a:r>
            <a:r>
              <a:rPr lang="en-NZ" sz="2200" b="1">
                <a:solidFill>
                  <a:schemeClr val="tx1"/>
                </a:solidFill>
                <a:latin typeface="Arial"/>
                <a:cs typeface="Arial"/>
              </a:rPr>
              <a:t>correlation coefficient (r) </a:t>
            </a:r>
            <a:r>
              <a:rPr lang="en-NZ" sz="2200">
                <a:solidFill>
                  <a:schemeClr val="tx1"/>
                </a:solidFill>
                <a:latin typeface="Arial"/>
                <a:cs typeface="Arial"/>
              </a:rPr>
              <a:t>which measure the degree of relationship between the 2 variables. </a:t>
            </a:r>
            <a:br>
              <a:rPr lang="en-NZ" sz="2200">
                <a:latin typeface="Arial" pitchFamily="34" charset="0"/>
                <a:cs typeface="Arial" pitchFamily="34" charset="0"/>
              </a:rPr>
            </a:b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If r is </a:t>
            </a:r>
            <a:r>
              <a:rPr lang="en-NZ" sz="2000" b="1">
                <a:solidFill>
                  <a:schemeClr val="tx1"/>
                </a:solidFill>
                <a:latin typeface="Arial"/>
                <a:cs typeface="Arial"/>
              </a:rPr>
              <a:t>close to 1, there is a very strong positive </a:t>
            </a: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relationship between the 2 variables.</a:t>
            </a:r>
            <a:br>
              <a:rPr lang="en-NZ" sz="2000">
                <a:latin typeface="Arial" pitchFamily="34" charset="0"/>
                <a:cs typeface="Arial" pitchFamily="34" charset="0"/>
              </a:rPr>
            </a:b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If r is </a:t>
            </a:r>
            <a:r>
              <a:rPr lang="en-NZ" sz="2000" b="1">
                <a:solidFill>
                  <a:schemeClr val="tx1"/>
                </a:solidFill>
                <a:latin typeface="Arial"/>
                <a:cs typeface="Arial"/>
              </a:rPr>
              <a:t>close to -1, there is a very strong negative </a:t>
            </a: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relationship between the 2 variables. </a:t>
            </a:r>
            <a:endParaRPr lang="en-NZ" sz="220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NZ" sz="2200">
                <a:solidFill>
                  <a:schemeClr val="tx1"/>
                </a:solidFill>
                <a:latin typeface="Arial"/>
                <a:cs typeface="Arial"/>
              </a:rPr>
              <a:t>2) perform </a:t>
            </a:r>
            <a:r>
              <a:rPr lang="en-NZ" sz="2200" b="1">
                <a:solidFill>
                  <a:schemeClr val="tx1"/>
                </a:solidFill>
                <a:latin typeface="Arial"/>
                <a:cs typeface="Arial"/>
              </a:rPr>
              <a:t>regression</a:t>
            </a:r>
            <a:r>
              <a:rPr lang="en-NZ" sz="2200">
                <a:solidFill>
                  <a:schemeClr val="tx1"/>
                </a:solidFill>
                <a:latin typeface="Arial"/>
                <a:cs typeface="Arial"/>
              </a:rPr>
              <a:t> to get </a:t>
            </a:r>
            <a:r>
              <a:rPr lang="en-NZ" sz="2200" b="1">
                <a:solidFill>
                  <a:schemeClr val="tx1"/>
                </a:solidFill>
                <a:latin typeface="Arial"/>
                <a:cs typeface="Arial"/>
              </a:rPr>
              <a:t>p value </a:t>
            </a:r>
            <a:r>
              <a:rPr lang="en-NZ" sz="2200">
                <a:solidFill>
                  <a:schemeClr val="tx1"/>
                </a:solidFill>
                <a:latin typeface="Arial"/>
                <a:cs typeface="Arial"/>
              </a:rPr>
              <a:t>to test the significance.</a:t>
            </a:r>
            <a:br>
              <a:rPr lang="en-NZ" sz="2200">
                <a:latin typeface="Arial" pitchFamily="34" charset="0"/>
                <a:cs typeface="Arial" pitchFamily="34" charset="0"/>
              </a:rPr>
            </a:b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 If p value is </a:t>
            </a:r>
            <a:r>
              <a:rPr lang="en-NZ" sz="2000" b="1">
                <a:solidFill>
                  <a:schemeClr val="tx1"/>
                </a:solidFill>
                <a:latin typeface="Arial"/>
                <a:cs typeface="Arial"/>
              </a:rPr>
              <a:t>less than or equal to 0.05</a:t>
            </a: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, then the</a:t>
            </a:r>
            <a:r>
              <a:rPr lang="en-NZ" sz="2000" b="1">
                <a:solidFill>
                  <a:schemeClr val="tx1"/>
                </a:solidFill>
                <a:latin typeface="Arial"/>
                <a:cs typeface="Arial"/>
              </a:rPr>
              <a:t> correlation is significant</a:t>
            </a: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.</a:t>
            </a:r>
            <a:r>
              <a:rPr lang="en-NZ" sz="2000"/>
              <a:t> </a:t>
            </a:r>
            <a:endParaRPr lang="en-US" sz="2000" b="1"/>
          </a:p>
          <a:p>
            <a:r>
              <a:rPr lang="en-NZ" sz="2200">
                <a:solidFill>
                  <a:schemeClr val="tx1"/>
                </a:solidFill>
                <a:latin typeface="Arial"/>
                <a:cs typeface="Arial"/>
              </a:rPr>
              <a:t>E.g. If r = 0.80 and p value = 0.02, there is a statistically significant very strong positive relationship between the 2 variables.</a:t>
            </a:r>
          </a:p>
          <a:p>
            <a:endParaRPr lang="en-US" sz="2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y the Rank method, the value of R is -0.73 it suggests a: a. fairly strong  negative relationship b. fairly strong positive relationship c. Perfect  negative d. Perfect positive | Homework.Study.com">
            <a:extLst>
              <a:ext uri="{FF2B5EF4-FFF2-40B4-BE49-F238E27FC236}">
                <a16:creationId xmlns:a16="http://schemas.microsoft.com/office/drawing/2014/main" id="{033155A8-2ABB-F871-45A6-EA1B5BC72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991" y="95302"/>
            <a:ext cx="6961318" cy="666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40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045" y="659367"/>
            <a:ext cx="9353910" cy="1280890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Diagnostic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1956882"/>
            <a:ext cx="9353910" cy="397602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zh-CN" b="1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lease</a:t>
            </a:r>
            <a:r>
              <a:rPr lang="zh-CN" altLang="en-US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lang="zh-CN" altLang="en-US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following</a:t>
            </a:r>
            <a:r>
              <a:rPr lang="zh-CN" altLang="en-US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lang="en-US" altLang="zh-CN" b="1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NZ" altLang="zh-CN" b="1" i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b="1" i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zh-CN" altLang="en-US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materials</a:t>
            </a:r>
            <a:r>
              <a:rPr lang="zh-CN" altLang="en-US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lang="zh-CN" altLang="en-US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Chi-square/Correlation</a:t>
            </a:r>
            <a:r>
              <a:rPr lang="zh-CN" altLang="en-US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(see</a:t>
            </a:r>
            <a:r>
              <a:rPr lang="zh-CN" altLang="en-US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Teams</a:t>
            </a:r>
            <a:r>
              <a:rPr lang="zh-CN" altLang="en-US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group)</a:t>
            </a:r>
          </a:p>
          <a:p>
            <a:pPr algn="l"/>
            <a:r>
              <a:rPr lang="en-NZ" altLang="zh-CN" i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the data set provided on teams to run chi square and correlation</a:t>
            </a:r>
            <a:endParaRPr lang="en-US" altLang="zh-CN" i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the interpretation of the results in a word document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9850" lvl="1"/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your files on Teams Files-&gt; class activities-&gt; Week 4 Session 2 </a:t>
            </a:r>
          </a:p>
          <a:p>
            <a:pPr algn="l"/>
            <a:endParaRPr lang="en-NZ" altLang="zh-CN" b="1">
              <a:solidFill>
                <a:srgbClr val="1D21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1EEE2-9CAD-A0FA-706E-7BAB9D8E7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>
                <a:latin typeface="Arial" panose="020B0604020202020204" pitchFamily="34" charset="0"/>
                <a:cs typeface="Arial" panose="020B0604020202020204" pitchFamily="34" charset="0"/>
              </a:rPr>
              <a:t>Useful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readings</a:t>
            </a:r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BD2E41-A390-14FF-6E89-DDBD761AE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384" y="2492679"/>
            <a:ext cx="9601196" cy="2952778"/>
          </a:xfrm>
        </p:spPr>
        <p:txBody>
          <a:bodyPr>
            <a:normAutofit lnSpcReduction="10000"/>
          </a:bodyPr>
          <a:lstStyle/>
          <a:p>
            <a:pPr algn="l"/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How to report statistics in 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APA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style:</a:t>
            </a:r>
          </a:p>
          <a:p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How to do </a:t>
            </a:r>
            <a:r>
              <a:rPr lang="en-NZ" altLang="zh-CN" b="1" i="1"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https://statisticsbyjim.com/hypothesis-testing/t-tests-excel/"/>
              </a:rPr>
              <a:t>t </a:t>
            </a:r>
            <a:r>
              <a:rPr lang="en-NZ" altLang="zh-CN" b="1"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https://statisticsbyjim.com/hypothesis-testing/t-tests-excel/"/>
              </a:rPr>
              <a:t>test</a:t>
            </a:r>
            <a:r>
              <a:rPr lang="en-NZ" altLang="zh-CN" b="1" i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Excel:</a:t>
            </a:r>
          </a:p>
          <a:p>
            <a:pPr algn="l"/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How to do 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ANOVA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Excel:</a:t>
            </a:r>
          </a:p>
          <a:p>
            <a:pPr algn="l"/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How to do 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video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the explanation of Chi-square tests 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Excel:</a:t>
            </a:r>
          </a:p>
          <a:p>
            <a:pPr algn="l"/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How to do 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Correlation</a:t>
            </a:r>
            <a:r>
              <a:rPr lang="en-NZ" altLang="zh-C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Excel:</a:t>
            </a:r>
          </a:p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218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2EB2A1B-E422-3C9A-400C-D62AA4503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69" y="2047163"/>
            <a:ext cx="10427920" cy="407534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FF13C9B-B2E5-F597-3E0A-D68864B06353}"/>
              </a:ext>
            </a:extLst>
          </p:cNvPr>
          <p:cNvSpPr/>
          <p:nvPr/>
        </p:nvSpPr>
        <p:spPr>
          <a:xfrm>
            <a:off x="2882348" y="2623930"/>
            <a:ext cx="5784574" cy="278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C7FA64-54AE-C213-8E01-B5EDEE793A83}"/>
              </a:ext>
            </a:extLst>
          </p:cNvPr>
          <p:cNvSpPr/>
          <p:nvPr/>
        </p:nvSpPr>
        <p:spPr>
          <a:xfrm>
            <a:off x="2087690" y="5007035"/>
            <a:ext cx="6305195" cy="278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1124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730469" cy="1303867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A7B6CD-411F-21F7-591C-630B9FE34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269" y="607423"/>
            <a:ext cx="5925033" cy="5643154"/>
          </a:xfrm>
          <a:prstGeom prst="rect">
            <a:avLst/>
          </a:prstGeom>
        </p:spPr>
      </p:pic>
      <p:sp>
        <p:nvSpPr>
          <p:cNvPr id="4" name="内容占位符 4">
            <a:extLst>
              <a:ext uri="{FF2B5EF4-FFF2-40B4-BE49-F238E27FC236}">
                <a16:creationId xmlns:a16="http://schemas.microsoft.com/office/drawing/2014/main" id="{3FB33F61-A8E6-29C8-E26D-84C915E10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17" y="2692376"/>
            <a:ext cx="3650278" cy="2505926"/>
          </a:xfrm>
        </p:spPr>
        <p:txBody>
          <a:bodyPr>
            <a:normAutofit/>
          </a:bodyPr>
          <a:lstStyle/>
          <a:p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guidance: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3000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Monday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Week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9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(7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April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2025),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9:00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AM</a:t>
            </a:r>
          </a:p>
        </p:txBody>
      </p:sp>
      <p:sp>
        <p:nvSpPr>
          <p:cNvPr id="2050" name="AutoShape 2" descr="https://auc-powerpoint.officeapps.live.com/pods/GetClipboardImage.ashx?Id=71eb0f23-ccac-44c9-b691-a890c75dc06a&amp;DC=GAU1&amp;pkey=7ff725df-0f6f-463f-9576-ddada92161ff&amp;wdwaccluster=GAU1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https://auc-powerpoint.officeapps.live.com/pods/GetClipboardImage.ashx?Id=6f8625bb-abb6-4cc6-948b-8ac55bd012d3&amp;DC=GAU1&amp;pkey=b5a78a3d-6bf6-4772-81b8-836d10dad403&amp;wdwaccluster=GAU1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92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07981"/>
          </a:xfrm>
        </p:spPr>
        <p:txBody>
          <a:bodyPr/>
          <a:lstStyle/>
          <a:p>
            <a:r>
              <a:rPr lang="en-NZ" b="1">
                <a:latin typeface="Arial" panose="020B0604020202020204" pitchFamily="34" charset="0"/>
                <a:cs typeface="Arial" panose="020B0604020202020204" pitchFamily="34" charset="0"/>
              </a:rPr>
              <a:t>Homework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325828" y="2703443"/>
            <a:ext cx="8915400" cy="397602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NZ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Categorize your variables from the dataset as categorical or numerical.</a:t>
            </a:r>
          </a:p>
          <a:p>
            <a:pPr marL="457200" indent="-457200">
              <a:buAutoNum type="arabicPeriod"/>
            </a:pPr>
            <a:r>
              <a:rPr lang="en-NZ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Identify 3 business problems from your dataset that you would like to address.</a:t>
            </a:r>
          </a:p>
          <a:p>
            <a:pPr marL="457200" indent="-457200">
              <a:buAutoNum type="arabicPeriod"/>
            </a:pPr>
            <a:r>
              <a:rPr lang="en-NZ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Perform descriptive analysis (descriptive statistics, pivot tables, graphs etc) on your dataset to address your problem(s). Interpret the analysis results.</a:t>
            </a:r>
          </a:p>
          <a:p>
            <a:pPr marL="457200" indent="-457200">
              <a:buAutoNum type="arabicPeriod"/>
            </a:pPr>
            <a:r>
              <a:rPr lang="en-NZ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Perform diagnostic analysis (t-test, ANOVA, chi-square test, correlation with regression) on your dataset to address your problem(s). Interpret the analysis results.</a:t>
            </a:r>
          </a:p>
          <a:p>
            <a:pPr marL="457200" indent="-457200">
              <a:buAutoNum type="arabicPeriod"/>
            </a:pP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AutoNum type="arabicPeriod"/>
            </a:pP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AutoNum type="arabicPeriod"/>
            </a:pP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AutoNum type="arabicPeriod"/>
            </a:pPr>
            <a:endParaRPr lang="en-NZ" b="1">
              <a:solidFill>
                <a:srgbClr val="1D21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124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E1C4C7BA5ED4094D04BB904A5E7AB" ma:contentTypeVersion="4" ma:contentTypeDescription="Create a new document." ma:contentTypeScope="" ma:versionID="149470d6a2e38a69316f2096364dac83">
  <xsd:schema xmlns:xsd="http://www.w3.org/2001/XMLSchema" xmlns:xs="http://www.w3.org/2001/XMLSchema" xmlns:p="http://schemas.microsoft.com/office/2006/metadata/properties" xmlns:ns2="2e870598-80c1-4ed7-a5cf-d50e51ea1f44" targetNamespace="http://schemas.microsoft.com/office/2006/metadata/properties" ma:root="true" ma:fieldsID="a107eb985a642ca95cbe6c890a64103e" ns2:_="">
    <xsd:import namespace="2e870598-80c1-4ed7-a5cf-d50e51ea1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70598-80c1-4ed7-a5cf-d50e51ea1f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02C551-1829-42D5-8E3C-43B17426957C}">
  <ds:schemaRefs>
    <ds:schemaRef ds:uri="2e870598-80c1-4ed7-a5cf-d50e51ea1f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A5B4ED-E3CB-44C0-8673-48320BCB91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B5ECDC-7AA9-4210-8354-6348B97D0735}">
  <ds:schemaRefs>
    <ds:schemaRef ds:uri="03b210eb-a7de-4b47-ad24-d62341b079b1"/>
    <ds:schemaRef ds:uri="22af72f0-df75-4851-a469-3e8a66795582"/>
    <ds:schemaRef ds:uri="b9cc3f67-5b7c-4875-a629-52a60bd98ffe"/>
    <ds:schemaRef ds:uri="bb0f1b5c-7cc7-4cf0-876f-ee0bbde77c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Organic</vt:lpstr>
      <vt:lpstr>MAMC01803 Analytics for Managers</vt:lpstr>
      <vt:lpstr>In this lecture:</vt:lpstr>
      <vt:lpstr>Chi Square Test </vt:lpstr>
      <vt:lpstr>Chi Square Test </vt:lpstr>
      <vt:lpstr>Correlation </vt:lpstr>
      <vt:lpstr>Correlation </vt:lpstr>
      <vt:lpstr>PowerPoint Presentation</vt:lpstr>
      <vt:lpstr>Diagnostic analytics </vt:lpstr>
      <vt:lpstr>Useful readings</vt:lpstr>
      <vt:lpstr>Assessment Two</vt:lpstr>
      <vt:lpstr>Assessment Two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Jishuo Sun</dc:creator>
  <cp:revision>2</cp:revision>
  <dcterms:created xsi:type="dcterms:W3CDTF">2021-09-12T02:15:48Z</dcterms:created>
  <dcterms:modified xsi:type="dcterms:W3CDTF">2025-03-07T09:31:35Z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0x010100503E1C4C7BA5ED4094D04BB904A5E7AB</vt:lpwstr>
  </property>
  <property fmtid="{D5CDD505-2E9C-101B-9397-08002B2CF9AE}" pid="3" name="MediaServiceImageTags">
    <vt:lpwstr/>
  </property>
</Properties>
</file>