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</p:sldMasterIdLst>
  <p:notesMasterIdLst>
    <p:notesMasterId r:id="rId20"/>
  </p:notesMasterIdLst>
  <p:sldIdLst>
    <p:sldId id="256" r:id="rId5"/>
    <p:sldId id="257" r:id="rId6"/>
    <p:sldId id="307" r:id="rId7"/>
    <p:sldId id="308" r:id="rId8"/>
    <p:sldId id="309" r:id="rId9"/>
    <p:sldId id="312" r:id="rId10"/>
    <p:sldId id="313" r:id="rId11"/>
    <p:sldId id="476" r:id="rId12"/>
    <p:sldId id="314" r:id="rId13"/>
    <p:sldId id="315" r:id="rId14"/>
    <p:sldId id="477" r:id="rId15"/>
    <p:sldId id="478" r:id="rId16"/>
    <p:sldId id="479" r:id="rId17"/>
    <p:sldId id="475" r:id="rId18"/>
    <p:sldId id="4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35683-6B3D-E0EB-B7CD-16CDA48DFA5E}" v="2" dt="2025-03-10T22:25:32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/>
    <p:restoredTop sz="96327"/>
  </p:normalViewPr>
  <p:slideViewPr>
    <p:cSldViewPr snapToGrid="0" snapToObjects="1">
      <p:cViewPr>
        <p:scale>
          <a:sx n="70" d="100"/>
          <a:sy n="70" d="100"/>
        </p:scale>
        <p:origin x="-1098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S::shikha.shethia@futureskills.co.nz::18e3e2a2-0349-4937-a54d-b40040399c9e" providerId="AD" clId="Web-{CED35683-6B3D-E0EB-B7CD-16CDA48DFA5E}"/>
    <pc:docChg chg="delSld">
      <pc:chgData name="Shikha Shethia" userId="S::shikha.shethia@futureskills.co.nz::18e3e2a2-0349-4937-a54d-b40040399c9e" providerId="AD" clId="Web-{CED35683-6B3D-E0EB-B7CD-16CDA48DFA5E}" dt="2025-03-10T22:25:32.031" v="1"/>
      <pc:docMkLst>
        <pc:docMk/>
      </pc:docMkLst>
      <pc:sldChg chg="del">
        <pc:chgData name="Shikha Shethia" userId="S::shikha.shethia@futureskills.co.nz::18e3e2a2-0349-4937-a54d-b40040399c9e" providerId="AD" clId="Web-{CED35683-6B3D-E0EB-B7CD-16CDA48DFA5E}" dt="2025-03-10T22:25:31.077" v="0"/>
        <pc:sldMkLst>
          <pc:docMk/>
          <pc:sldMk cId="2267247619" sldId="310"/>
        </pc:sldMkLst>
      </pc:sldChg>
      <pc:sldChg chg="del">
        <pc:chgData name="Shikha Shethia" userId="S::shikha.shethia@futureskills.co.nz::18e3e2a2-0349-4937-a54d-b40040399c9e" providerId="AD" clId="Web-{CED35683-6B3D-E0EB-B7CD-16CDA48DFA5E}" dt="2025-03-10T22:25:32.031" v="1"/>
        <pc:sldMkLst>
          <pc:docMk/>
          <pc:sldMk cId="314716813" sldId="31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Aircraft overhauls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</c:numCache>
            </c:num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147</c:v>
                </c:pt>
                <c:pt idx="1">
                  <c:v>175</c:v>
                </c:pt>
                <c:pt idx="2">
                  <c:v>150</c:v>
                </c:pt>
                <c:pt idx="3">
                  <c:v>191</c:v>
                </c:pt>
                <c:pt idx="4">
                  <c:v>188</c:v>
                </c:pt>
                <c:pt idx="5">
                  <c:v>179</c:v>
                </c:pt>
                <c:pt idx="6">
                  <c:v>201</c:v>
                </c:pt>
                <c:pt idx="7">
                  <c:v>220</c:v>
                </c:pt>
                <c:pt idx="8">
                  <c:v>209</c:v>
                </c:pt>
                <c:pt idx="9">
                  <c:v>220</c:v>
                </c:pt>
                <c:pt idx="10">
                  <c:v>240</c:v>
                </c:pt>
                <c:pt idx="11">
                  <c:v>235</c:v>
                </c:pt>
                <c:pt idx="12">
                  <c:v>261</c:v>
                </c:pt>
                <c:pt idx="13">
                  <c:v>270</c:v>
                </c:pt>
                <c:pt idx="14">
                  <c:v>272</c:v>
                </c:pt>
                <c:pt idx="15">
                  <c:v>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30-4511-9BBE-C6862A4E13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Moving Average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</c:numCache>
            </c:numRef>
          </c:cat>
          <c:val>
            <c:numRef>
              <c:f>Sheet1!$C$2:$C$17</c:f>
              <c:numCache>
                <c:formatCode>General</c:formatCode>
                <c:ptCount val="16"/>
                <c:pt idx="2">
                  <c:v>170.2</c:v>
                </c:pt>
                <c:pt idx="3">
                  <c:v>176.6</c:v>
                </c:pt>
                <c:pt idx="4">
                  <c:v>181.8</c:v>
                </c:pt>
                <c:pt idx="5">
                  <c:v>195.8</c:v>
                </c:pt>
                <c:pt idx="6">
                  <c:v>199.4</c:v>
                </c:pt>
                <c:pt idx="7">
                  <c:v>205.8</c:v>
                </c:pt>
                <c:pt idx="8">
                  <c:v>218</c:v>
                </c:pt>
                <c:pt idx="9">
                  <c:v>224.8</c:v>
                </c:pt>
                <c:pt idx="10">
                  <c:v>233</c:v>
                </c:pt>
                <c:pt idx="11">
                  <c:v>245.2</c:v>
                </c:pt>
                <c:pt idx="12">
                  <c:v>255.6</c:v>
                </c:pt>
                <c:pt idx="13">
                  <c:v>263.60000000000002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30-4511-9BBE-C6862A4E13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502080"/>
        <c:axId val="179721344"/>
      </c:lineChart>
      <c:catAx>
        <c:axId val="1795020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NZ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21344"/>
        <c:crosses val="autoZero"/>
        <c:auto val="0"/>
        <c:lblAlgn val="ctr"/>
        <c:lblOffset val="100"/>
        <c:tickLblSkip val="1"/>
        <c:noMultiLvlLbl val="0"/>
      </c:catAx>
      <c:valAx>
        <c:axId val="179721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NZ"/>
                  <a:t>Number of Overhauls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502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4D690-4374-C247-A0E8-AF66082E0C44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9537B-D83B-914F-8020-FB860BBD1AD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60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29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47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17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538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21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89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611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28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509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27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776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21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08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421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653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310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05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E9D7D0-7EF9-764C-B09F-8386B5E2699F}" type="datetimeFigureOut">
              <a:rPr lang="en-AU" smtClean="0"/>
              <a:pPr/>
              <a:t>10/03/2025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91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MAMC01803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endParaRPr lang="en-AU" sz="42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1):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(Forecasting)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ia Ora sign art, carved of wood– TroubleMaker.co.nz">
            <a:extLst>
              <a:ext uri="{FF2B5EF4-FFF2-40B4-BE49-F238E27FC236}">
                <a16:creationId xmlns:a16="http://schemas.microsoft.com/office/drawing/2014/main" id="{E296C797-36E8-8A6C-9D11-E50BE7DF9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28984" y="1470903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956D7CF-B716-DDC4-1A7A-E64897B2C1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841" y="526354"/>
            <a:ext cx="4914411" cy="545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166" y="419053"/>
            <a:ext cx="8911687" cy="1280890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422" y="1692021"/>
            <a:ext cx="9950459" cy="3777622"/>
          </a:xfrm>
        </p:spPr>
        <p:txBody>
          <a:bodyPr>
            <a:normAutofit/>
          </a:bodyPr>
          <a:lstStyle/>
          <a:p>
            <a:r>
              <a:rPr lang="en-US" altLang="zh-CN" sz="3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3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3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  <a:p>
            <a:pPr lvl="1"/>
            <a:endParaRPr lang="en-US" altLang="zh-CN" sz="19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Predictive Analytics? How does it work? Examples &amp; Benefits">
            <a:extLst>
              <a:ext uri="{FF2B5EF4-FFF2-40B4-BE49-F238E27FC236}">
                <a16:creationId xmlns:a16="http://schemas.microsoft.com/office/drawing/2014/main" id="{1211832E-0E02-0036-8463-5647AA3B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439" y="2792818"/>
            <a:ext cx="4970721" cy="331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81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4077-1C92-41F1-9D7B-DCA09DFE9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89525"/>
            <a:ext cx="9601196" cy="883244"/>
          </a:xfrm>
        </p:spPr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</a:t>
            </a:r>
            <a:r>
              <a:rPr lang="en-NZ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tics</a:t>
            </a:r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2FCE7-08EF-4349-99F0-B951D0E3F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144" y="1572769"/>
            <a:ext cx="10131552" cy="4595707"/>
          </a:xfrm>
        </p:spPr>
        <p:txBody>
          <a:bodyPr>
            <a:noAutofit/>
          </a:bodyPr>
          <a:lstStyle/>
          <a:p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term </a:t>
            </a:r>
            <a:r>
              <a:rPr lang="en-NZ" sz="2500" b="1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predictive analytics </a:t>
            </a:r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to the use of statistics and modelling techniques to make predictions about </a:t>
            </a:r>
            <a:r>
              <a:rPr lang="en-NZ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and performance.</a:t>
            </a:r>
          </a:p>
          <a:p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analytics looks at </a:t>
            </a:r>
            <a:r>
              <a:rPr lang="en-NZ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and historical data patterns </a:t>
            </a:r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NZ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if those patterns are likely to emerge again</a:t>
            </a:r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be looking at:</a:t>
            </a:r>
          </a:p>
          <a:p>
            <a:pPr lvl="1"/>
            <a:r>
              <a:rPr lang="en-NZ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 and Time Series  </a:t>
            </a:r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 We will be doing this today </a:t>
            </a:r>
          </a:p>
          <a:p>
            <a:pPr lvl="1"/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  <a:p>
            <a:pPr lvl="1"/>
            <a:r>
              <a:rPr lang="en-NZ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</a:t>
            </a:r>
          </a:p>
        </p:txBody>
      </p:sp>
    </p:spTree>
    <p:extLst>
      <p:ext uri="{BB962C8B-B14F-4D97-AF65-F5344CB8AC3E}">
        <p14:creationId xmlns:p14="http://schemas.microsoft.com/office/powerpoint/2010/main" val="418041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1FB98E-1089-4472-ABA5-6C445D94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Time Series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E1F8F8-8B82-4B7A-9C80-3CE208EFD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51652"/>
            <a:ext cx="9601196" cy="3882887"/>
          </a:xfrm>
        </p:spPr>
        <p:txBody>
          <a:bodyPr>
            <a:normAutofit fontScale="77500" lnSpcReduction="20000"/>
          </a:bodyPr>
          <a:lstStyle/>
          <a:p>
            <a:r>
              <a:rPr lang="en-NZ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sequence of measurements taken at successive points in time. In other words, something that you track regularly for a period of time.</a:t>
            </a:r>
          </a:p>
          <a:p>
            <a:r>
              <a:rPr lang="en-NZ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 </a:t>
            </a:r>
            <a:r>
              <a:rPr lang="en-U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 every noon for the next week, or the stock price every hour for the next week. </a:t>
            </a:r>
            <a:br>
              <a:rPr lang="en-U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list of temperatures or stock prices is a time series because the data is recorded at specific time intervals (every day at noon or every hour).</a:t>
            </a:r>
          </a:p>
          <a:p>
            <a:r>
              <a:rPr lang="en-U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series helps you identify patterns over time or make predictions about future data.</a:t>
            </a:r>
            <a:endParaRPr lang="en-NZ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0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622A-7497-45AD-B939-6A5D89DB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97C07-A8EA-4AEB-B50A-34B132BF1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Z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Time-Series Forecasting Methods </a:t>
            </a:r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to the process of forecasting future outcomes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time series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through various statistical techniques. In predictive analytics, forecasting is used to predict trends, behavior, or events that are likely to happen in the future. </a:t>
            </a:r>
          </a:p>
          <a:p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series: used to </a:t>
            </a:r>
            <a:r>
              <a:rPr lang="en-NZ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 data over time</a:t>
            </a:r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Forecasting: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the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from the time series to predict what will happen in the future.</a:t>
            </a:r>
            <a:endParaRPr lang="en-NZ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Z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1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F510-6718-46B2-A6D5-AB8FA3B66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78932"/>
            <a:ext cx="9601196" cy="1303867"/>
          </a:xfrm>
        </p:spPr>
        <p:txBody>
          <a:bodyPr/>
          <a:lstStyle/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Moving Average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moving average in time series forecasting is a method used to smooth out fluctuations in data by averaging values over a specific number of periods. This helps in identifying trends by reducing short-term fluctuations. </a:t>
            </a:r>
          </a:p>
          <a:p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E.g.: tracking your daily step count for a week. Some days you walk a lot, and some days you walk less. Instead of looking at just one day at a time, you take the average of the last few days to see the overall trend.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3982" y="5216324"/>
            <a:ext cx="3297721" cy="659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1066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34886" y="821634"/>
            <a:ext cx="1044271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Let’s say you own a small bakery, and you track your daily sales. Your sales for the last five days are:</a:t>
            </a:r>
          </a:p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Monday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$200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Tuesday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$250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Wednesday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$180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Thursday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$300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Friday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$270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Some days are higher, some are lower—it’s a bit unpredictable. To get a clearer picture of your sales trend, you calculate a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3-day moving average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For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Wednesday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the 3-day moving average (using Monday, Tuesday, and Wednesday) is: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(200 + 250 + 180)/3=$210.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For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Thursday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(using Tuesday, Wednesday, and Thursday):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(250+180+300)/3=$243.3.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For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Friday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(using Wednesday, Thursday, and Friday):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(180+300+270)/3=$250.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This way, instead of focusing on daily ups and downs, you see a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smoother trend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Sales started at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$210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then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increased to $243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further increased to $250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 This suggests a positive trend—your bakery sales are improving over the week.</a:t>
            </a:r>
          </a:p>
        </p:txBody>
      </p:sp>
    </p:spTree>
    <p:extLst>
      <p:ext uri="{BB962C8B-B14F-4D97-AF65-F5344CB8AC3E}">
        <p14:creationId xmlns:p14="http://schemas.microsoft.com/office/powerpoint/2010/main" val="39763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34887" y="2557670"/>
            <a:ext cx="105619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Helps you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plan inventory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(if sales are increasing, stock more ingredients).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Assists in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staffing decisions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(if sales peak on certain days, schedule more employees).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Improves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forecasting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(so you can predict future sales and set targets).</a:t>
            </a:r>
          </a:p>
        </p:txBody>
      </p:sp>
      <p:sp>
        <p:nvSpPr>
          <p:cNvPr id="3" name="Rectangle 2"/>
          <p:cNvSpPr/>
          <p:nvPr/>
        </p:nvSpPr>
        <p:spPr>
          <a:xfrm>
            <a:off x="987287" y="1524000"/>
            <a:ext cx="10561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" pitchFamily="34" charset="0"/>
                <a:cs typeface="Arial" pitchFamily="34" charset="0"/>
              </a:rPr>
              <a:t>Why is this useful?</a:t>
            </a:r>
          </a:p>
        </p:txBody>
      </p:sp>
    </p:spTree>
    <p:extLst>
      <p:ext uri="{BB962C8B-B14F-4D97-AF65-F5344CB8AC3E}">
        <p14:creationId xmlns:p14="http://schemas.microsoft.com/office/powerpoint/2010/main" val="397634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6955-CE74-48A7-A700-EBB32D6C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4090"/>
            <a:ext cx="9601196" cy="1303867"/>
          </a:xfrm>
        </p:spPr>
        <p:txBody>
          <a:bodyPr/>
          <a:lstStyle/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Moving Average Graph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77DE001-8B6E-4C50-A9BD-B12568213A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2018089"/>
              </p:ext>
            </p:extLst>
          </p:nvPr>
        </p:nvGraphicFramePr>
        <p:xfrm>
          <a:off x="1087583" y="1895259"/>
          <a:ext cx="9809016" cy="4086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691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595C-A448-4A44-A690-88623D86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Exponential Smoothing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5402" y="2531165"/>
            <a:ext cx="9601196" cy="331893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Exponential smoothing is a forecasting method that </a:t>
            </a:r>
            <a:r>
              <a:rPr lang="en-US" sz="2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gives more importance to recent data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while still considering past data. </a:t>
            </a:r>
          </a:p>
          <a:p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Unlike a simple moving average, which treats all past values equally, exponential smoothing assigns a </a:t>
            </a:r>
            <a:r>
              <a:rPr lang="en-US" sz="2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higher weight to recent sales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a </a:t>
            </a:r>
            <a:r>
              <a:rPr lang="en-US" sz="2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lower weight to older sales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This makes it more responsive to recent changes in trends.</a:t>
            </a:r>
          </a:p>
        </p:txBody>
      </p:sp>
    </p:spTree>
    <p:extLst>
      <p:ext uri="{BB962C8B-B14F-4D97-AF65-F5344CB8AC3E}">
        <p14:creationId xmlns:p14="http://schemas.microsoft.com/office/powerpoint/2010/main" val="1993768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595C-A448-4A44-A690-88623D86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Exponential Smoothing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5401" y="2531165"/>
            <a:ext cx="10194233" cy="3604592"/>
          </a:xfrm>
        </p:spPr>
        <p:txBody>
          <a:bodyPr>
            <a:normAutofit fontScale="55000" lnSpcReduction="20000"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Formula for Exponential Smoothing: 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 = </a:t>
            </a:r>
            <a:r>
              <a:rPr lang="el-GR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α</a:t>
            </a:r>
            <a:r>
              <a:rPr lang="en-NZ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*  </a:t>
            </a:r>
            <a:r>
              <a:rPr lang="en-US" sz="3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Xt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+ (1−</a:t>
            </a:r>
            <a:r>
              <a:rPr lang="el-GR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α)</a:t>
            </a:r>
            <a:r>
              <a:rPr lang="en-NZ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* 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St-1</a:t>
            </a:r>
          </a:p>
          <a:p>
            <a:pPr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Where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St​ = Smoothed value at time </a:t>
            </a:r>
          </a:p>
          <a:p>
            <a:r>
              <a:rPr lang="en-US" sz="3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Xt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= Actual sales at time </a:t>
            </a:r>
          </a:p>
          <a:p>
            <a:r>
              <a:rPr lang="el-GR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α = 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Smoothing factor (between 0 and 1)</a:t>
            </a:r>
          </a:p>
          <a:p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St-1​ = Previous smoothed value</a:t>
            </a:r>
          </a:p>
          <a:p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smoothing factor (</a:t>
            </a:r>
            <a:r>
              <a:rPr lang="el-GR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α)</a:t>
            </a:r>
            <a:r>
              <a:rPr lang="el-GR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determines how much weight is given to recent data:</a:t>
            </a:r>
          </a:p>
          <a:p>
            <a:r>
              <a:rPr lang="en-US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Higher </a:t>
            </a:r>
            <a:r>
              <a:rPr lang="el-GR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α (</a:t>
            </a:r>
            <a:r>
              <a:rPr lang="en-US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e.g., 0.8-0.9)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→ More responsive to recent changes.</a:t>
            </a:r>
          </a:p>
          <a:p>
            <a:r>
              <a:rPr lang="en-US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Lower </a:t>
            </a:r>
            <a:r>
              <a:rPr lang="el-GR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α (</a:t>
            </a:r>
            <a:r>
              <a:rPr lang="en-US" sz="3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e.g., 0.1-0.3)</a:t>
            </a:r>
            <a:r>
              <a:rPr lang="en-US" sz="3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→ More stable, but slower to react to new trends.</a:t>
            </a:r>
          </a:p>
          <a:p>
            <a:endParaRPr lang="en-US" sz="2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768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595C-A448-4A44-A690-88623D86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Using Exponential Smoothing for Bakery Sales Example</a:t>
            </a:r>
            <a:br>
              <a:rPr lang="en-US" b="1" dirty="0"/>
            </a:br>
            <a:endParaRPr lang="en-NZ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5401" y="2531165"/>
            <a:ext cx="10194233" cy="3604592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Given sales data: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Monday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$200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Tuesday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$250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Wednesday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$180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Thursday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$300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Friday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$270</a:t>
            </a:r>
          </a:p>
          <a:p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Let’s assume an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initial smoothed value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(starting point) is Monday’s sales:</a:t>
            </a:r>
            <a:b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S1=200</a:t>
            </a:r>
            <a:b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We choose α=0.5 (giving equal importance to past and recent values).</a:t>
            </a:r>
          </a:p>
          <a:p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Now, we calculate smoothed sales for each day: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Tuesday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S2=0.5*250+(1−0.5)*200=125+100=$225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Wednesday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S3=0.5*180+(1−0.5)*225=$202.5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Thursday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S4=0.5*300+(1−0.5)*202.5=$251.25 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Friday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S5=0.5*270+(1−0.5)*251.25=$260.63</a:t>
            </a:r>
          </a:p>
          <a:p>
            <a:endParaRPr lang="en-US" sz="2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76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595C-A448-4A44-A690-88623D86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 does this tell us?</a:t>
            </a:r>
            <a:br>
              <a:rPr lang="en-US" b="1" dirty="0"/>
            </a:br>
            <a:endParaRPr lang="en-NZ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95401" y="2531165"/>
            <a:ext cx="10194233" cy="36045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smoothed values help </a:t>
            </a:r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reduce daily fluctuations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provide a clearer trend. 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bakery sales are </a:t>
            </a:r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increasing over time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so you might need to prepare for higher demand. 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 you see a </a:t>
            </a:r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downward trend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you can adjust your marketing or pricing strategy.</a:t>
            </a:r>
          </a:p>
        </p:txBody>
      </p:sp>
    </p:spTree>
    <p:extLst>
      <p:ext uri="{BB962C8B-B14F-4D97-AF65-F5344CB8AC3E}">
        <p14:creationId xmlns:p14="http://schemas.microsoft.com/office/powerpoint/2010/main" val="199376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595C-A448-4A44-A690-88623D86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</a:rPr>
              <a:t>Exponential Smoothing 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2FAB1EB-23FC-EACD-C6D4-B6297501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4A8981-9844-A1D0-5F8C-3469B7377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07" y="2222498"/>
            <a:ext cx="5476311" cy="32173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32758B3-2E52-4F4C-4946-F73AB94F5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418" y="2285999"/>
            <a:ext cx="4485945" cy="269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58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045" y="475348"/>
            <a:ext cx="9353910" cy="128089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</a:t>
            </a:r>
            <a:r>
              <a:rPr lang="zh-CN" alt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lang="zh-CN" alt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zh-CN" alt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discussion:</a:t>
            </a:r>
            <a:r>
              <a:rPr lang="zh-CN" alt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sz="3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9779" y="1960055"/>
            <a:ext cx="8915400" cy="3976028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lease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following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NZ" altLang="zh-CN" b="1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(i.e.,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Aircraft.xls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Teams</a:t>
            </a:r>
          </a:p>
          <a:p>
            <a:pPr marL="400050" lvl="1" indent="0">
              <a:buNone/>
            </a:pPr>
            <a:r>
              <a:rPr lang="en-US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Plot the time series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Does the series indicate a particular pattern in the plot in (1)?</a:t>
            </a:r>
          </a:p>
          <a:p>
            <a:pPr marL="400050" lvl="1" indent="0">
              <a:buNone/>
            </a:pPr>
            <a:r>
              <a:rPr lang="en-US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an appropriate method to force the series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NZ" altLang="zh-CN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.g.,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moving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average;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NZ" altLang="zh-CN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xponential</a:t>
            </a:r>
            <a:r>
              <a:rPr lang="en-NZ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NZ" altLang="zh-CN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moothing</a:t>
            </a:r>
            <a:endParaRPr lang="en-NZ" altLang="zh-C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accurate is this method in forecasting the current series?</a:t>
            </a:r>
          </a:p>
          <a:p>
            <a:pPr marL="400050" lvl="1" indent="0">
              <a:buNone/>
            </a:pPr>
            <a:r>
              <a:rPr lang="en-NZ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 Calculate overhaul forecast for years 2021, 2022 and 2023.</a:t>
            </a:r>
          </a:p>
          <a:p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  <a:r>
              <a:rPr lang="zh-CN" altLang="en-US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above</a:t>
            </a:r>
            <a:r>
              <a:rPr lang="zh-CN" altLang="en-US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analysis.</a:t>
            </a:r>
          </a:p>
          <a:p>
            <a:pPr algn="l">
              <a:buNone/>
            </a:pPr>
            <a:endParaRPr lang="en-NZ" altLang="zh-CN" b="1" dirty="0">
              <a:solidFill>
                <a:srgbClr val="1D21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E1C4C7BA5ED4094D04BB904A5E7AB" ma:contentTypeVersion="4" ma:contentTypeDescription="Create a new document." ma:contentTypeScope="" ma:versionID="149470d6a2e38a69316f2096364dac83">
  <xsd:schema xmlns:xsd="http://www.w3.org/2001/XMLSchema" xmlns:xs="http://www.w3.org/2001/XMLSchema" xmlns:p="http://schemas.microsoft.com/office/2006/metadata/properties" xmlns:ns2="2e870598-80c1-4ed7-a5cf-d50e51ea1f44" targetNamespace="http://schemas.microsoft.com/office/2006/metadata/properties" ma:root="true" ma:fieldsID="a107eb985a642ca95cbe6c890a64103e" ns2:_="">
    <xsd:import namespace="2e870598-80c1-4ed7-a5cf-d50e51ea1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70598-80c1-4ed7-a5cf-d50e51ea1f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0518960-94A6-4764-8042-D3E5FA0288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E0A785-1E7B-47B2-93B2-A0A5250947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870598-80c1-4ed7-a5cf-d50e51ea1f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124BCF-F30E-44E2-A816-662B2EDBFC5D}">
  <ds:schemaRefs>
    <ds:schemaRef ds:uri="22af72f0-df75-4851-a469-3e8a6679558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bb0f1b5c-7cc7-4cf0-876f-ee0bbde77cda"/>
    <ds:schemaRef ds:uri="http://www.w3.org/XML/1998/namespace"/>
    <ds:schemaRef ds:uri="http://purl.org/dc/dcmitype/"/>
    <ds:schemaRef ds:uri="b9cc3f67-5b7c-4875-a629-52a60bd98ffe"/>
    <ds:schemaRef ds:uri="03b210eb-a7de-4b47-ad24-d62341b079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5409</TotalTime>
  <Words>1125</Words>
  <Application>Microsoft Office PowerPoint</Application>
  <PresentationFormat>Widescreen</PresentationFormat>
  <Paragraphs>111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Organic</vt:lpstr>
      <vt:lpstr>MAMC01803 Analytics for Managers</vt:lpstr>
      <vt:lpstr>In this lecture:</vt:lpstr>
      <vt:lpstr>Predictive Analytics </vt:lpstr>
      <vt:lpstr>Time Series </vt:lpstr>
      <vt:lpstr>Forecasting</vt:lpstr>
      <vt:lpstr>Moving Average</vt:lpstr>
      <vt:lpstr>PowerPoint Presentation</vt:lpstr>
      <vt:lpstr>PowerPoint Presentation</vt:lpstr>
      <vt:lpstr>Moving Average Graph </vt:lpstr>
      <vt:lpstr>Exponential Smoothing </vt:lpstr>
      <vt:lpstr>Exponential Smoothing </vt:lpstr>
      <vt:lpstr>Using Exponential Smoothing for Bakery Sales Example </vt:lpstr>
      <vt:lpstr>What does this tell us? </vt:lpstr>
      <vt:lpstr>Exponential Smoothing </vt:lpstr>
      <vt:lpstr>Individual tasks and group discussion: Predictive analytics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Jishuo Sun</dc:creator>
  <cp:lastModifiedBy>Hewlett-Packard Company</cp:lastModifiedBy>
  <cp:revision>82</cp:revision>
  <dcterms:created xsi:type="dcterms:W3CDTF">2021-09-12T02:15:48Z</dcterms:created>
  <dcterms:modified xsi:type="dcterms:W3CDTF">2025-03-10T22:25:41Z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0x010100503E1C4C7BA5ED4094D04BB904A5E7AB</vt:lpwstr>
  </property>
  <property fmtid="{D5CDD505-2E9C-101B-9397-08002B2CF9AE}" pid="3" name="MediaServiceImageTags">
    <vt:lpwstr/>
  </property>
</Properties>
</file>