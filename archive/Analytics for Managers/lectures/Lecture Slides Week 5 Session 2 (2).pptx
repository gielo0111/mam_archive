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</p:sldMasterIdLst>
  <p:notesMasterIdLst>
    <p:notesMasterId r:id="rId25"/>
  </p:notesMasterIdLst>
  <p:sldIdLst>
    <p:sldId id="476" r:id="rId5"/>
    <p:sldId id="478" r:id="rId6"/>
    <p:sldId id="440" r:id="rId7"/>
    <p:sldId id="482" r:id="rId8"/>
    <p:sldId id="479" r:id="rId9"/>
    <p:sldId id="272" r:id="rId10"/>
    <p:sldId id="481" r:id="rId11"/>
    <p:sldId id="483" r:id="rId12"/>
    <p:sldId id="484" r:id="rId13"/>
    <p:sldId id="485" r:id="rId14"/>
    <p:sldId id="486" r:id="rId15"/>
    <p:sldId id="487" r:id="rId16"/>
    <p:sldId id="480" r:id="rId17"/>
    <p:sldId id="488" r:id="rId18"/>
    <p:sldId id="489" r:id="rId19"/>
    <p:sldId id="490" r:id="rId20"/>
    <p:sldId id="491" r:id="rId21"/>
    <p:sldId id="492" r:id="rId22"/>
    <p:sldId id="443" r:id="rId23"/>
    <p:sldId id="44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6BCF4A-BE43-7E31-6B87-9A9561A46BD4}" v="15" dt="2025-03-14T20:56:48.680"/>
    <p1510:client id="{64C067D1-BE4A-5F81-9FE3-EA44EFA7E5C2}" v="228" dt="2025-03-13T21:05:19.564"/>
    <p1510:client id="{87A373C7-AD53-DF5B-2181-404E475AC7F3}" v="5" dt="2025-03-13T19:03:01.686"/>
    <p1510:client id="{E9FD729E-7093-5C8F-24CB-604EF19542F0}" v="7" dt="2025-03-13T12:11:46.3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S::shikha.shethia@futureskills.co.nz::18e3e2a2-0349-4937-a54d-b40040399c9e" providerId="AD" clId="Web-{166BCF4A-BE43-7E31-6B87-9A9561A46BD4}"/>
    <pc:docChg chg="modSld">
      <pc:chgData name="Shikha Shethia" userId="S::shikha.shethia@futureskills.co.nz::18e3e2a2-0349-4937-a54d-b40040399c9e" providerId="AD" clId="Web-{166BCF4A-BE43-7E31-6B87-9A9561A46BD4}" dt="2025-03-14T20:56:47.618" v="12" actId="20577"/>
      <pc:docMkLst>
        <pc:docMk/>
      </pc:docMkLst>
      <pc:sldChg chg="modSp">
        <pc:chgData name="Shikha Shethia" userId="S::shikha.shethia@futureskills.co.nz::18e3e2a2-0349-4937-a54d-b40040399c9e" providerId="AD" clId="Web-{166BCF4A-BE43-7E31-6B87-9A9561A46BD4}" dt="2025-03-14T20:56:47.618" v="12" actId="20577"/>
        <pc:sldMkLst>
          <pc:docMk/>
          <pc:sldMk cId="1725443399" sldId="486"/>
        </pc:sldMkLst>
        <pc:spChg chg="mod">
          <ac:chgData name="Shikha Shethia" userId="S::shikha.shethia@futureskills.co.nz::18e3e2a2-0349-4937-a54d-b40040399c9e" providerId="AD" clId="Web-{166BCF4A-BE43-7E31-6B87-9A9561A46BD4}" dt="2025-03-14T20:56:47.618" v="12" actId="20577"/>
          <ac:spMkLst>
            <pc:docMk/>
            <pc:sldMk cId="1725443399" sldId="486"/>
            <ac:spMk id="6" creationId="{00000000-0000-0000-0000-000000000000}"/>
          </ac:spMkLst>
        </pc:spChg>
      </pc:sldChg>
    </pc:docChg>
  </pc:docChgLst>
  <pc:docChgLst>
    <pc:chgData name="Shikha Shethia" userId="S::shikha.shethia@futureskills.co.nz::18e3e2a2-0349-4937-a54d-b40040399c9e" providerId="AD" clId="Web-{E9FD729E-7093-5C8F-24CB-604EF19542F0}"/>
    <pc:docChg chg="modSld">
      <pc:chgData name="Shikha Shethia" userId="S::shikha.shethia@futureskills.co.nz::18e3e2a2-0349-4937-a54d-b40040399c9e" providerId="AD" clId="Web-{E9FD729E-7093-5C8F-24CB-604EF19542F0}" dt="2025-03-13T12:11:45.400" v="2" actId="20577"/>
      <pc:docMkLst>
        <pc:docMk/>
      </pc:docMkLst>
      <pc:sldChg chg="modSp">
        <pc:chgData name="Shikha Shethia" userId="S::shikha.shethia@futureskills.co.nz::18e3e2a2-0349-4937-a54d-b40040399c9e" providerId="AD" clId="Web-{E9FD729E-7093-5C8F-24CB-604EF19542F0}" dt="2025-03-13T12:11:45.400" v="2" actId="20577"/>
        <pc:sldMkLst>
          <pc:docMk/>
          <pc:sldMk cId="361075706" sldId="444"/>
        </pc:sldMkLst>
        <pc:spChg chg="mod">
          <ac:chgData name="Shikha Shethia" userId="S::shikha.shethia@futureskills.co.nz::18e3e2a2-0349-4937-a54d-b40040399c9e" providerId="AD" clId="Web-{E9FD729E-7093-5C8F-24CB-604EF19542F0}" dt="2025-03-13T12:11:45.400" v="2" actId="20577"/>
          <ac:spMkLst>
            <pc:docMk/>
            <pc:sldMk cId="361075706" sldId="444"/>
            <ac:spMk id="5" creationId="{36EADAFE-55E2-D273-D61F-C3D851FD1B09}"/>
          </ac:spMkLst>
        </pc:spChg>
      </pc:sldChg>
    </pc:docChg>
  </pc:docChgLst>
  <pc:docChgLst>
    <pc:chgData name="Shikha Shethia" userId="S::shikha.shethia@futureskills.co.nz::18e3e2a2-0349-4937-a54d-b40040399c9e" providerId="AD" clId="Web-{64C067D1-BE4A-5F81-9FE3-EA44EFA7E5C2}"/>
    <pc:docChg chg="modSld">
      <pc:chgData name="Shikha Shethia" userId="S::shikha.shethia@futureskills.co.nz::18e3e2a2-0349-4937-a54d-b40040399c9e" providerId="AD" clId="Web-{64C067D1-BE4A-5F81-9FE3-EA44EFA7E5C2}" dt="2025-03-13T21:05:19.564" v="227" actId="20577"/>
      <pc:docMkLst>
        <pc:docMk/>
      </pc:docMkLst>
      <pc:sldChg chg="modSp">
        <pc:chgData name="Shikha Shethia" userId="S::shikha.shethia@futureskills.co.nz::18e3e2a2-0349-4937-a54d-b40040399c9e" providerId="AD" clId="Web-{64C067D1-BE4A-5F81-9FE3-EA44EFA7E5C2}" dt="2025-03-13T21:05:19.564" v="227" actId="20577"/>
        <pc:sldMkLst>
          <pc:docMk/>
          <pc:sldMk cId="2242388636" sldId="443"/>
        </pc:sldMkLst>
        <pc:spChg chg="mod">
          <ac:chgData name="Shikha Shethia" userId="S::shikha.shethia@futureskills.co.nz::18e3e2a2-0349-4937-a54d-b40040399c9e" providerId="AD" clId="Web-{64C067D1-BE4A-5F81-9FE3-EA44EFA7E5C2}" dt="2025-03-13T21:05:19.564" v="227" actId="20577"/>
          <ac:spMkLst>
            <pc:docMk/>
            <pc:sldMk cId="2242388636" sldId="443"/>
            <ac:spMk id="3" creationId="{AE7E98DA-27BC-8341-B41E-F25AD6C05C69}"/>
          </ac:spMkLst>
        </pc:spChg>
      </pc:sldChg>
      <pc:sldChg chg="modSp">
        <pc:chgData name="Shikha Shethia" userId="S::shikha.shethia@futureskills.co.nz::18e3e2a2-0349-4937-a54d-b40040399c9e" providerId="AD" clId="Web-{64C067D1-BE4A-5F81-9FE3-EA44EFA7E5C2}" dt="2025-03-13T20:53:53.468" v="202" actId="20577"/>
        <pc:sldMkLst>
          <pc:docMk/>
          <pc:sldMk cId="1412512708" sldId="480"/>
        </pc:sldMkLst>
        <pc:spChg chg="mod">
          <ac:chgData name="Shikha Shethia" userId="S::shikha.shethia@futureskills.co.nz::18e3e2a2-0349-4937-a54d-b40040399c9e" providerId="AD" clId="Web-{64C067D1-BE4A-5F81-9FE3-EA44EFA7E5C2}" dt="2025-03-13T20:53:53.468" v="202" actId="20577"/>
          <ac:spMkLst>
            <pc:docMk/>
            <pc:sldMk cId="1412512708" sldId="480"/>
            <ac:spMk id="9" creationId="{00000000-0000-0000-0000-000000000000}"/>
          </ac:spMkLst>
        </pc:spChg>
      </pc:sldChg>
    </pc:docChg>
  </pc:docChgLst>
  <pc:docChgLst>
    <pc:chgData name="Shikha Shethia" userId="S::shikha.shethia@futureskills.co.nz::18e3e2a2-0349-4937-a54d-b40040399c9e" providerId="AD" clId="Web-{87A373C7-AD53-DF5B-2181-404E475AC7F3}"/>
    <pc:docChg chg="modSld">
      <pc:chgData name="Shikha Shethia" userId="S::shikha.shethia@futureskills.co.nz::18e3e2a2-0349-4937-a54d-b40040399c9e" providerId="AD" clId="Web-{87A373C7-AD53-DF5B-2181-404E475AC7F3}" dt="2025-03-13T19:03:00.858" v="3" actId="20577"/>
      <pc:docMkLst>
        <pc:docMk/>
      </pc:docMkLst>
      <pc:sldChg chg="modSp">
        <pc:chgData name="Shikha Shethia" userId="S::shikha.shethia@futureskills.co.nz::18e3e2a2-0349-4937-a54d-b40040399c9e" providerId="AD" clId="Web-{87A373C7-AD53-DF5B-2181-404E475AC7F3}" dt="2025-03-13T19:03:00.858" v="3" actId="20577"/>
        <pc:sldMkLst>
          <pc:docMk/>
          <pc:sldMk cId="3244425252" sldId="482"/>
        </pc:sldMkLst>
        <pc:spChg chg="mod">
          <ac:chgData name="Shikha Shethia" userId="S::shikha.shethia@futureskills.co.nz::18e3e2a2-0349-4937-a54d-b40040399c9e" providerId="AD" clId="Web-{87A373C7-AD53-DF5B-2181-404E475AC7F3}" dt="2025-03-13T19:03:00.858" v="3" actId="20577"/>
          <ac:spMkLst>
            <pc:docMk/>
            <pc:sldMk cId="3244425252" sldId="482"/>
            <ac:spMk id="3" creationId="{AE7E98DA-27BC-8341-B41E-F25AD6C05C6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unil\Downloads\Regression%20Analysis%20Start%20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unil\Downloads\Regression%20Analysis%20Start%2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Rainfall (mm) Line Fit  Plot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Quantity Sold</c:v>
          </c:tx>
          <c:spPr>
            <a:ln w="19050">
              <a:noFill/>
            </a:ln>
          </c:spPr>
          <c:xVal>
            <c:numRef>
              <c:f>Sheet1!$B$5:$B$23</c:f>
              <c:numCache>
                <c:formatCode>General</c:formatCode>
                <c:ptCount val="19"/>
                <c:pt idx="0">
                  <c:v>58</c:v>
                </c:pt>
                <c:pt idx="1">
                  <c:v>49</c:v>
                </c:pt>
                <c:pt idx="2">
                  <c:v>62</c:v>
                </c:pt>
                <c:pt idx="3">
                  <c:v>100</c:v>
                </c:pt>
                <c:pt idx="4">
                  <c:v>110</c:v>
                </c:pt>
                <c:pt idx="5">
                  <c:v>102</c:v>
                </c:pt>
                <c:pt idx="6">
                  <c:v>84</c:v>
                </c:pt>
                <c:pt idx="7">
                  <c:v>79</c:v>
                </c:pt>
                <c:pt idx="8">
                  <c:v>76</c:v>
                </c:pt>
                <c:pt idx="9">
                  <c:v>80</c:v>
                </c:pt>
                <c:pt idx="10">
                  <c:v>87</c:v>
                </c:pt>
                <c:pt idx="11">
                  <c:v>60</c:v>
                </c:pt>
                <c:pt idx="12">
                  <c:v>54</c:v>
                </c:pt>
                <c:pt idx="13">
                  <c:v>42</c:v>
                </c:pt>
                <c:pt idx="14">
                  <c:v>48</c:v>
                </c:pt>
                <c:pt idx="15">
                  <c:v>88</c:v>
                </c:pt>
                <c:pt idx="16">
                  <c:v>107</c:v>
                </c:pt>
                <c:pt idx="17">
                  <c:v>118</c:v>
                </c:pt>
                <c:pt idx="18">
                  <c:v>91</c:v>
                </c:pt>
              </c:numCache>
            </c:numRef>
          </c:xVal>
          <c:yVal>
            <c:numRef>
              <c:f>Sheet1!$C$5:$C$23</c:f>
              <c:numCache>
                <c:formatCode>#,##0</c:formatCode>
                <c:ptCount val="19"/>
                <c:pt idx="0">
                  <c:v>1861</c:v>
                </c:pt>
                <c:pt idx="1">
                  <c:v>1745</c:v>
                </c:pt>
                <c:pt idx="2">
                  <c:v>1977</c:v>
                </c:pt>
                <c:pt idx="3">
                  <c:v>3908</c:v>
                </c:pt>
                <c:pt idx="4">
                  <c:v>5325</c:v>
                </c:pt>
                <c:pt idx="5">
                  <c:v>4098</c:v>
                </c:pt>
                <c:pt idx="6">
                  <c:v>2968</c:v>
                </c:pt>
                <c:pt idx="7">
                  <c:v>2771</c:v>
                </c:pt>
                <c:pt idx="8">
                  <c:v>2097</c:v>
                </c:pt>
                <c:pt idx="9">
                  <c:v>2254</c:v>
                </c:pt>
                <c:pt idx="10">
                  <c:v>2978</c:v>
                </c:pt>
                <c:pt idx="11">
                  <c:v>2514</c:v>
                </c:pt>
                <c:pt idx="12">
                  <c:v>2205</c:v>
                </c:pt>
                <c:pt idx="13">
                  <c:v>1979</c:v>
                </c:pt>
                <c:pt idx="14">
                  <c:v>2358</c:v>
                </c:pt>
                <c:pt idx="15">
                  <c:v>3490</c:v>
                </c:pt>
                <c:pt idx="16">
                  <c:v>4920</c:v>
                </c:pt>
                <c:pt idx="17">
                  <c:v>5555</c:v>
                </c:pt>
                <c:pt idx="18">
                  <c:v>3499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1DC-4390-88EF-B2E6CFF579E0}"/>
            </c:ext>
          </c:extLst>
        </c:ser>
        <c:ser>
          <c:idx val="1"/>
          <c:order val="1"/>
          <c:tx>
            <c:v>Predicted Quantity Sold</c:v>
          </c:tx>
          <c:spPr>
            <a:ln w="19050">
              <a:noFill/>
            </a:ln>
          </c:spPr>
          <c:trendline>
            <c:trendlineType val="linear"/>
            <c:dispRSqr val="0"/>
            <c:dispEq val="0"/>
          </c:trendline>
          <c:xVal>
            <c:numRef>
              <c:f>Sheet1!$B$5:$B$23</c:f>
              <c:numCache>
                <c:formatCode>General</c:formatCode>
                <c:ptCount val="19"/>
                <c:pt idx="0">
                  <c:v>58</c:v>
                </c:pt>
                <c:pt idx="1">
                  <c:v>49</c:v>
                </c:pt>
                <c:pt idx="2">
                  <c:v>62</c:v>
                </c:pt>
                <c:pt idx="3">
                  <c:v>100</c:v>
                </c:pt>
                <c:pt idx="4">
                  <c:v>110</c:v>
                </c:pt>
                <c:pt idx="5">
                  <c:v>102</c:v>
                </c:pt>
                <c:pt idx="6">
                  <c:v>84</c:v>
                </c:pt>
                <c:pt idx="7">
                  <c:v>79</c:v>
                </c:pt>
                <c:pt idx="8">
                  <c:v>76</c:v>
                </c:pt>
                <c:pt idx="9">
                  <c:v>80</c:v>
                </c:pt>
                <c:pt idx="10">
                  <c:v>87</c:v>
                </c:pt>
                <c:pt idx="11">
                  <c:v>60</c:v>
                </c:pt>
                <c:pt idx="12">
                  <c:v>54</c:v>
                </c:pt>
                <c:pt idx="13">
                  <c:v>42</c:v>
                </c:pt>
                <c:pt idx="14">
                  <c:v>48</c:v>
                </c:pt>
                <c:pt idx="15">
                  <c:v>88</c:v>
                </c:pt>
                <c:pt idx="16">
                  <c:v>107</c:v>
                </c:pt>
                <c:pt idx="17">
                  <c:v>118</c:v>
                </c:pt>
                <c:pt idx="18">
                  <c:v>91</c:v>
                </c:pt>
              </c:numCache>
            </c:numRef>
          </c:xVal>
          <c:yVal>
            <c:numRef>
              <c:f>Sheet1!$P$26:$P$44</c:f>
              <c:numCache>
                <c:formatCode>General</c:formatCode>
                <c:ptCount val="19"/>
                <c:pt idx="0">
                  <c:v>2103.9428114166731</c:v>
                </c:pt>
                <c:pt idx="1">
                  <c:v>1679.6583858498816</c:v>
                </c:pt>
                <c:pt idx="2">
                  <c:v>2292.5136672241356</c:v>
                </c:pt>
                <c:pt idx="3">
                  <c:v>4083.936797395032</c:v>
                </c:pt>
                <c:pt idx="4">
                  <c:v>4555.363936913689</c:v>
                </c:pt>
                <c:pt idx="5">
                  <c:v>4178.2222252987631</c:v>
                </c:pt>
                <c:pt idx="6">
                  <c:v>3329.653374165181</c:v>
                </c:pt>
                <c:pt idx="7">
                  <c:v>3093.9398044058526</c:v>
                </c:pt>
                <c:pt idx="8">
                  <c:v>2952.5116625502551</c:v>
                </c:pt>
                <c:pt idx="9">
                  <c:v>3141.0825183577181</c:v>
                </c:pt>
                <c:pt idx="10">
                  <c:v>3471.0815160207776</c:v>
                </c:pt>
                <c:pt idx="11">
                  <c:v>2198.2282393204041</c:v>
                </c:pt>
                <c:pt idx="12">
                  <c:v>1915.3719556092101</c:v>
                </c:pt>
                <c:pt idx="13">
                  <c:v>1349.6593881868221</c:v>
                </c:pt>
                <c:pt idx="14">
                  <c:v>1632.5156718980161</c:v>
                </c:pt>
                <c:pt idx="15">
                  <c:v>3518.2242299726431</c:v>
                </c:pt>
                <c:pt idx="16">
                  <c:v>4413.9357950580916</c:v>
                </c:pt>
                <c:pt idx="17">
                  <c:v>4932.5056485286141</c:v>
                </c:pt>
                <c:pt idx="18">
                  <c:v>3659.6523718282406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1DC-4390-88EF-B2E6CFF579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0117376"/>
        <c:axId val="172407808"/>
      </c:scatterChart>
      <c:valAx>
        <c:axId val="17011737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Rainfall (mm)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72407808"/>
        <c:crosses val="autoZero"/>
        <c:crossBetween val="midCat"/>
      </c:valAx>
      <c:valAx>
        <c:axId val="17240780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Quantity Sold</a:t>
                </a:r>
              </a:p>
            </c:rich>
          </c:tx>
          <c:overlay val="0"/>
        </c:title>
        <c:numFmt formatCode="#,##0" sourceLinked="1"/>
        <c:majorTickMark val="out"/>
        <c:minorTickMark val="none"/>
        <c:tickLblPos val="nextTo"/>
        <c:crossAx val="170117376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Rainfall (mm) Line Fit  Plot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Quantity Sold</c:v>
          </c:tx>
          <c:spPr>
            <a:ln w="19050">
              <a:noFill/>
            </a:ln>
          </c:spPr>
          <c:xVal>
            <c:numRef>
              <c:f>Sheet1!$B$5:$B$23</c:f>
              <c:numCache>
                <c:formatCode>General</c:formatCode>
                <c:ptCount val="19"/>
                <c:pt idx="0">
                  <c:v>58</c:v>
                </c:pt>
                <c:pt idx="1">
                  <c:v>49</c:v>
                </c:pt>
                <c:pt idx="2">
                  <c:v>62</c:v>
                </c:pt>
                <c:pt idx="3">
                  <c:v>100</c:v>
                </c:pt>
                <c:pt idx="4">
                  <c:v>110</c:v>
                </c:pt>
                <c:pt idx="5">
                  <c:v>102</c:v>
                </c:pt>
                <c:pt idx="6">
                  <c:v>84</c:v>
                </c:pt>
                <c:pt idx="7">
                  <c:v>79</c:v>
                </c:pt>
                <c:pt idx="8">
                  <c:v>76</c:v>
                </c:pt>
                <c:pt idx="9">
                  <c:v>80</c:v>
                </c:pt>
                <c:pt idx="10">
                  <c:v>87</c:v>
                </c:pt>
                <c:pt idx="11">
                  <c:v>60</c:v>
                </c:pt>
                <c:pt idx="12">
                  <c:v>54</c:v>
                </c:pt>
                <c:pt idx="13">
                  <c:v>42</c:v>
                </c:pt>
                <c:pt idx="14">
                  <c:v>48</c:v>
                </c:pt>
                <c:pt idx="15">
                  <c:v>88</c:v>
                </c:pt>
                <c:pt idx="16">
                  <c:v>107</c:v>
                </c:pt>
                <c:pt idx="17">
                  <c:v>118</c:v>
                </c:pt>
                <c:pt idx="18">
                  <c:v>91</c:v>
                </c:pt>
              </c:numCache>
            </c:numRef>
          </c:xVal>
          <c:yVal>
            <c:numRef>
              <c:f>Sheet1!$C$5:$C$23</c:f>
              <c:numCache>
                <c:formatCode>#,##0</c:formatCode>
                <c:ptCount val="19"/>
                <c:pt idx="0">
                  <c:v>1861</c:v>
                </c:pt>
                <c:pt idx="1">
                  <c:v>1745</c:v>
                </c:pt>
                <c:pt idx="2">
                  <c:v>1977</c:v>
                </c:pt>
                <c:pt idx="3">
                  <c:v>3908</c:v>
                </c:pt>
                <c:pt idx="4">
                  <c:v>5325</c:v>
                </c:pt>
                <c:pt idx="5">
                  <c:v>4098</c:v>
                </c:pt>
                <c:pt idx="6">
                  <c:v>2968</c:v>
                </c:pt>
                <c:pt idx="7">
                  <c:v>2771</c:v>
                </c:pt>
                <c:pt idx="8">
                  <c:v>2097</c:v>
                </c:pt>
                <c:pt idx="9">
                  <c:v>2254</c:v>
                </c:pt>
                <c:pt idx="10">
                  <c:v>2978</c:v>
                </c:pt>
                <c:pt idx="11">
                  <c:v>2514</c:v>
                </c:pt>
                <c:pt idx="12">
                  <c:v>2205</c:v>
                </c:pt>
                <c:pt idx="13">
                  <c:v>1979</c:v>
                </c:pt>
                <c:pt idx="14">
                  <c:v>2358</c:v>
                </c:pt>
                <c:pt idx="15">
                  <c:v>3490</c:v>
                </c:pt>
                <c:pt idx="16">
                  <c:v>4920</c:v>
                </c:pt>
                <c:pt idx="17">
                  <c:v>5555</c:v>
                </c:pt>
                <c:pt idx="18">
                  <c:v>3499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DBC-4B91-AD63-8D0D7956B416}"/>
            </c:ext>
          </c:extLst>
        </c:ser>
        <c:ser>
          <c:idx val="1"/>
          <c:order val="1"/>
          <c:tx>
            <c:v>Predicted Quantity Sold</c:v>
          </c:tx>
          <c:spPr>
            <a:ln w="19050">
              <a:noFill/>
            </a:ln>
          </c:spPr>
          <c:trendline>
            <c:trendlineType val="linear"/>
            <c:dispRSqr val="0"/>
            <c:dispEq val="1"/>
            <c:trendlineLbl>
              <c:layout>
                <c:manualLayout>
                  <c:x val="0.33056303748767996"/>
                  <c:y val="-5.1128434213690031E-2"/>
                </c:manualLayout>
              </c:layout>
              <c:tx>
                <c:rich>
                  <a:bodyPr/>
                  <a:lstStyle/>
                  <a:p>
                    <a:pPr>
                      <a:defRPr/>
                    </a:pPr>
                    <a:r>
                      <a:rPr lang="en-US" sz="2000" b="1" baseline="0">
                        <a:solidFill>
                          <a:schemeClr val="tx1"/>
                        </a:solidFill>
                      </a:rPr>
                      <a:t>y = 47.143x - 630.33</a:t>
                    </a:r>
                    <a:endParaRPr lang="en-US" sz="2000" b="1">
                      <a:solidFill>
                        <a:schemeClr val="tx1"/>
                      </a:solidFill>
                    </a:endParaRPr>
                  </a:p>
                </c:rich>
              </c:tx>
              <c:numFmt formatCode="General" sourceLinked="0"/>
              <c:spPr>
                <a:solidFill>
                  <a:srgbClr val="FFFF00"/>
                </a:solidFill>
              </c:spPr>
            </c:trendlineLbl>
          </c:trendline>
          <c:xVal>
            <c:numRef>
              <c:f>Sheet1!$B$5:$B$23</c:f>
              <c:numCache>
                <c:formatCode>General</c:formatCode>
                <c:ptCount val="19"/>
                <c:pt idx="0">
                  <c:v>58</c:v>
                </c:pt>
                <c:pt idx="1">
                  <c:v>49</c:v>
                </c:pt>
                <c:pt idx="2">
                  <c:v>62</c:v>
                </c:pt>
                <c:pt idx="3">
                  <c:v>100</c:v>
                </c:pt>
                <c:pt idx="4">
                  <c:v>110</c:v>
                </c:pt>
                <c:pt idx="5">
                  <c:v>102</c:v>
                </c:pt>
                <c:pt idx="6">
                  <c:v>84</c:v>
                </c:pt>
                <c:pt idx="7">
                  <c:v>79</c:v>
                </c:pt>
                <c:pt idx="8">
                  <c:v>76</c:v>
                </c:pt>
                <c:pt idx="9">
                  <c:v>80</c:v>
                </c:pt>
                <c:pt idx="10">
                  <c:v>87</c:v>
                </c:pt>
                <c:pt idx="11">
                  <c:v>60</c:v>
                </c:pt>
                <c:pt idx="12">
                  <c:v>54</c:v>
                </c:pt>
                <c:pt idx="13">
                  <c:v>42</c:v>
                </c:pt>
                <c:pt idx="14">
                  <c:v>48</c:v>
                </c:pt>
                <c:pt idx="15">
                  <c:v>88</c:v>
                </c:pt>
                <c:pt idx="16">
                  <c:v>107</c:v>
                </c:pt>
                <c:pt idx="17">
                  <c:v>118</c:v>
                </c:pt>
                <c:pt idx="18">
                  <c:v>91</c:v>
                </c:pt>
              </c:numCache>
            </c:numRef>
          </c:xVal>
          <c:yVal>
            <c:numRef>
              <c:f>Sheet1!$P$26:$P$44</c:f>
              <c:numCache>
                <c:formatCode>General</c:formatCode>
                <c:ptCount val="19"/>
                <c:pt idx="0">
                  <c:v>2103.9428114166731</c:v>
                </c:pt>
                <c:pt idx="1">
                  <c:v>1679.6583858498816</c:v>
                </c:pt>
                <c:pt idx="2">
                  <c:v>2292.5136672241356</c:v>
                </c:pt>
                <c:pt idx="3">
                  <c:v>4083.936797395032</c:v>
                </c:pt>
                <c:pt idx="4">
                  <c:v>4555.363936913689</c:v>
                </c:pt>
                <c:pt idx="5">
                  <c:v>4178.2222252987631</c:v>
                </c:pt>
                <c:pt idx="6">
                  <c:v>3329.653374165181</c:v>
                </c:pt>
                <c:pt idx="7">
                  <c:v>3093.9398044058526</c:v>
                </c:pt>
                <c:pt idx="8">
                  <c:v>2952.5116625502551</c:v>
                </c:pt>
                <c:pt idx="9">
                  <c:v>3141.0825183577181</c:v>
                </c:pt>
                <c:pt idx="10">
                  <c:v>3471.0815160207776</c:v>
                </c:pt>
                <c:pt idx="11">
                  <c:v>2198.2282393204041</c:v>
                </c:pt>
                <c:pt idx="12">
                  <c:v>1915.3719556092101</c:v>
                </c:pt>
                <c:pt idx="13">
                  <c:v>1349.6593881868221</c:v>
                </c:pt>
                <c:pt idx="14">
                  <c:v>1632.5156718980161</c:v>
                </c:pt>
                <c:pt idx="15">
                  <c:v>3518.2242299726431</c:v>
                </c:pt>
                <c:pt idx="16">
                  <c:v>4413.9357950580916</c:v>
                </c:pt>
                <c:pt idx="17">
                  <c:v>4932.5056485286141</c:v>
                </c:pt>
                <c:pt idx="18">
                  <c:v>3659.6523718282406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DBC-4B91-AD63-8D0D7956B4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8340224"/>
        <c:axId val="158342144"/>
      </c:scatterChart>
      <c:valAx>
        <c:axId val="15834022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Rainfall (mm)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158342144"/>
        <c:crosses val="autoZero"/>
        <c:crossBetween val="midCat"/>
      </c:valAx>
      <c:valAx>
        <c:axId val="15834214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Quantity Sold</a:t>
                </a:r>
              </a:p>
            </c:rich>
          </c:tx>
          <c:overlay val="0"/>
        </c:title>
        <c:numFmt formatCode="#,##0" sourceLinked="1"/>
        <c:majorTickMark val="out"/>
        <c:minorTickMark val="none"/>
        <c:tickLblPos val="nextTo"/>
        <c:crossAx val="158340224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4D690-4374-C247-A0E8-AF66082E0C44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AU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69537B-D83B-914F-8020-FB860BBD1AD4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7607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90364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9036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8291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1477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17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5384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21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8897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611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28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5098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27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7763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821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08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421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36534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3102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1058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E9D7D0-7EF9-764C-B09F-8386B5E2699F}" type="datetimeFigureOut">
              <a:rPr lang="en-AU" smtClean="0"/>
              <a:pPr/>
              <a:t>14/03/2025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B9C53C8-D80C-9241-87E4-A1E3C25A1C09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70917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altair.com/altair-ai-studio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MAMC01803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42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4200" b="1">
                <a:latin typeface="Arial" panose="020B0604020202020204" pitchFamily="34" charset="0"/>
                <a:cs typeface="Arial" panose="020B0604020202020204" pitchFamily="34" charset="0"/>
              </a:rPr>
              <a:t>Managers</a:t>
            </a:r>
            <a:endParaRPr lang="en-AU" sz="42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Week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(Session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2):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(Regression)</a:t>
            </a:r>
          </a:p>
        </p:txBody>
      </p:sp>
      <p:pic>
        <p:nvPicPr>
          <p:cNvPr id="4" name="Picture 2" descr="Kia Ora sign art, carved of wood– TroubleMaker.co.nz">
            <a:extLst>
              <a:ext uri="{FF2B5EF4-FFF2-40B4-BE49-F238E27FC236}">
                <a16:creationId xmlns:a16="http://schemas.microsoft.com/office/drawing/2014/main" id="{E296C797-36E8-8A6C-9D11-E50BE7DF9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35718" y="1378232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3A7A26-5EBF-03D8-6E33-CB23776FE6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8097" y="236435"/>
            <a:ext cx="4914411" cy="5450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7824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7166" y="628984"/>
            <a:ext cx="8911687" cy="1280890"/>
          </a:xfrm>
        </p:spPr>
        <p:txBody>
          <a:bodyPr/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this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lecture: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7166" y="1381125"/>
            <a:ext cx="9950459" cy="3777622"/>
          </a:xfrm>
        </p:spPr>
        <p:txBody>
          <a:bodyPr>
            <a:normAutofit/>
          </a:bodyPr>
          <a:lstStyle/>
          <a:p>
            <a:endParaRPr lang="en-US" altLang="zh-CN" sz="2100" b="1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100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100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zh-CN" altLang="en-US" sz="2100" b="1" i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 sz="21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21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1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Forecast sheet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altLang="zh-CN" sz="21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  <a:r>
              <a:rPr lang="zh-CN" altLang="en-US" sz="21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2:</a:t>
            </a:r>
            <a:r>
              <a:rPr lang="zh-CN" altLang="en-US" sz="21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Predictive</a:t>
            </a:r>
            <a:r>
              <a:rPr lang="zh-CN" altLang="en-US" sz="21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analytics</a:t>
            </a:r>
            <a:r>
              <a:rPr lang="zh-CN" altLang="en-US" sz="21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1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Regression</a:t>
            </a:r>
            <a:r>
              <a:rPr lang="en-US" altLang="zh-CN" sz="2100" b="1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0" indent="0">
              <a:buNone/>
            </a:pPr>
            <a:endParaRPr lang="en-US" altLang="zh-CN" sz="21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1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altLang="zh-CN" sz="21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19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at is Predictive Analytics? How does it work? Examples &amp; Benefits">
            <a:extLst>
              <a:ext uri="{FF2B5EF4-FFF2-40B4-BE49-F238E27FC236}">
                <a16:creationId xmlns:a16="http://schemas.microsoft.com/office/drawing/2014/main" id="{1211832E-0E02-0036-8463-5647AA3B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938" y="3291220"/>
            <a:ext cx="4970721" cy="3313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06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411" y="628984"/>
            <a:ext cx="8911687" cy="1280890"/>
          </a:xfrm>
        </p:spPr>
        <p:txBody>
          <a:bodyPr/>
          <a:lstStyle/>
          <a:p>
            <a:r>
              <a:rPr lang="en-NZ" b="1">
                <a:latin typeface="Arial" panose="020B0604020202020204" pitchFamily="34" charset="0"/>
                <a:cs typeface="Arial" panose="020B0604020202020204" pitchFamily="34" charset="0"/>
              </a:rPr>
              <a:t>Forecast sheet on Excel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055" y="2168320"/>
            <a:ext cx="10195302" cy="3313814"/>
          </a:xfrm>
        </p:spPr>
        <p:txBody>
          <a:bodyPr>
            <a:normAutofit/>
          </a:bodyPr>
          <a:lstStyle/>
          <a:p>
            <a:endParaRPr lang="en-US" altLang="zh-CN" sz="2500" b="1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800">
                <a:latin typeface="Arial" pitchFamily="34" charset="0"/>
                <a:cs typeface="Arial" pitchFamily="34" charset="0"/>
              </a:rPr>
              <a:t>The </a:t>
            </a:r>
            <a:r>
              <a:rPr lang="en-US" sz="2800" b="1">
                <a:latin typeface="Arial" pitchFamily="34" charset="0"/>
                <a:cs typeface="Arial" pitchFamily="34" charset="0"/>
              </a:rPr>
              <a:t>Forecast Sheet</a:t>
            </a:r>
            <a:r>
              <a:rPr lang="en-US" sz="2800">
                <a:latin typeface="Arial" pitchFamily="34" charset="0"/>
                <a:cs typeface="Arial" pitchFamily="34" charset="0"/>
              </a:rPr>
              <a:t> in Excel is used to create </a:t>
            </a:r>
            <a:r>
              <a:rPr lang="en-US" sz="2800" b="1">
                <a:latin typeface="Arial" pitchFamily="34" charset="0"/>
                <a:cs typeface="Arial" pitchFamily="34" charset="0"/>
              </a:rPr>
              <a:t>predictions based on historical data</a:t>
            </a:r>
            <a:r>
              <a:rPr lang="en-US" sz="2800">
                <a:latin typeface="Arial" pitchFamily="34" charset="0"/>
                <a:cs typeface="Arial" pitchFamily="34" charset="0"/>
              </a:rPr>
              <a:t> using </a:t>
            </a:r>
            <a:r>
              <a:rPr lang="en-US" sz="2800" b="1">
                <a:latin typeface="Arial" pitchFamily="34" charset="0"/>
                <a:cs typeface="Arial" pitchFamily="34" charset="0"/>
              </a:rPr>
              <a:t>time series forecasting</a:t>
            </a:r>
            <a:r>
              <a:rPr lang="en-US" sz="2800">
                <a:latin typeface="Arial" pitchFamily="34" charset="0"/>
                <a:cs typeface="Arial" pitchFamily="34" charset="0"/>
              </a:rPr>
              <a:t>.</a:t>
            </a:r>
          </a:p>
          <a:p>
            <a:pPr lvl="1"/>
            <a:r>
              <a:rPr lang="en-NZ" altLang="zh-CN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You can use this </a:t>
            </a:r>
            <a:r>
              <a:rPr lang="en-NZ" altLang="zh-CN" sz="2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after moving average.</a:t>
            </a:r>
            <a:endParaRPr lang="en-US" altLang="zh-CN" sz="25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42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96" y="424070"/>
            <a:ext cx="10588487" cy="1280890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Use the Forecast Sheet in Excel?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055" y="2425147"/>
            <a:ext cx="10195302" cy="3313814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>
                <a:solidFill>
                  <a:schemeClr val="tx1"/>
                </a:solidFill>
              </a:rPr>
              <a:t>Select Your Data:</a:t>
            </a:r>
            <a:r>
              <a:rPr lang="en-US" sz="2800">
                <a:solidFill>
                  <a:schemeClr val="tx1"/>
                </a:solidFill>
              </a:rPr>
              <a:t> Ensure your data has </a:t>
            </a:r>
            <a:r>
              <a:rPr lang="en-US" sz="2800" b="1">
                <a:solidFill>
                  <a:schemeClr val="tx1"/>
                </a:solidFill>
              </a:rPr>
              <a:t>dates (or time periods) in one column</a:t>
            </a:r>
            <a:r>
              <a:rPr lang="en-US" sz="2800">
                <a:solidFill>
                  <a:schemeClr val="tx1"/>
                </a:solidFill>
              </a:rPr>
              <a:t> and </a:t>
            </a:r>
            <a:r>
              <a:rPr lang="en-US" sz="2800" b="1">
                <a:solidFill>
                  <a:schemeClr val="tx1"/>
                </a:solidFill>
              </a:rPr>
              <a:t>values in another</a:t>
            </a:r>
            <a:r>
              <a:rPr lang="en-US" sz="2800">
                <a:solidFill>
                  <a:schemeClr val="tx1"/>
                </a:solidFill>
              </a:rPr>
              <a:t>.</a:t>
            </a:r>
          </a:p>
          <a:p>
            <a:r>
              <a:rPr lang="en-US" sz="2800" b="1">
                <a:solidFill>
                  <a:schemeClr val="tx1"/>
                </a:solidFill>
              </a:rPr>
              <a:t>Go to the "Data" Tab → Click "Forecast Sheet."</a:t>
            </a:r>
            <a:endParaRPr lang="en-US" sz="2800">
              <a:solidFill>
                <a:schemeClr val="tx1"/>
              </a:solidFill>
            </a:endParaRPr>
          </a:p>
          <a:p>
            <a:r>
              <a:rPr lang="en-US" sz="2800" b="1">
                <a:solidFill>
                  <a:schemeClr val="tx1"/>
                </a:solidFill>
              </a:rPr>
              <a:t>Choose Forecast Type:</a:t>
            </a:r>
            <a:r>
              <a:rPr lang="en-US" sz="2800">
                <a:solidFill>
                  <a:schemeClr val="tx1"/>
                </a:solidFill>
              </a:rPr>
              <a:t> </a:t>
            </a:r>
            <a:r>
              <a:rPr lang="en-US" sz="2800" b="1">
                <a:solidFill>
                  <a:schemeClr val="tx1"/>
                </a:solidFill>
              </a:rPr>
              <a:t>Line Chart</a:t>
            </a:r>
            <a:r>
              <a:rPr lang="en-US" sz="2800">
                <a:solidFill>
                  <a:schemeClr val="tx1"/>
                </a:solidFill>
              </a:rPr>
              <a:t> (for trends).</a:t>
            </a:r>
          </a:p>
          <a:p>
            <a:r>
              <a:rPr lang="en-US" sz="2800" b="1">
                <a:solidFill>
                  <a:schemeClr val="tx1"/>
                </a:solidFill>
              </a:rPr>
              <a:t>Set Forecast Period &amp; Options:</a:t>
            </a:r>
            <a:r>
              <a:rPr lang="en-US" sz="2800">
                <a:solidFill>
                  <a:schemeClr val="tx1"/>
                </a:solidFill>
              </a:rPr>
              <a:t> Choose how far into the future to predict.</a:t>
            </a:r>
          </a:p>
          <a:p>
            <a:r>
              <a:rPr lang="en-US" sz="2800" b="1">
                <a:solidFill>
                  <a:schemeClr val="tx1"/>
                </a:solidFill>
              </a:rPr>
              <a:t>Click "Create"</a:t>
            </a:r>
            <a:r>
              <a:rPr lang="en-US" sz="2800">
                <a:solidFill>
                  <a:schemeClr val="tx1"/>
                </a:solidFill>
              </a:rPr>
              <a:t> to generate the forecast.</a:t>
            </a:r>
          </a:p>
          <a:p>
            <a:endParaRPr lang="en-US" altLang="zh-CN" sz="2500" b="1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42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B3109F-404C-4008-893E-5C290135B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5BEEFD-28F5-41C6-8FC0-73909D7CD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Z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simple linear regression is a method to predict if one variable influences another variable, using a straight line. </a:t>
            </a:r>
          </a:p>
          <a:p>
            <a:r>
              <a:rPr lang="en-NZ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 linear regression, each observation consists of two values: One value is for the </a:t>
            </a:r>
            <a:r>
              <a:rPr lang="en-NZ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dependent variable (Y) </a:t>
            </a:r>
            <a:r>
              <a:rPr lang="en-NZ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 one value is for the </a:t>
            </a:r>
            <a:r>
              <a:rPr lang="en-NZ" sz="2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independent variable (X). </a:t>
            </a:r>
          </a:p>
          <a:p>
            <a:r>
              <a:rPr lang="en-NZ" sz="22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 this simple model</a:t>
            </a:r>
            <a:r>
              <a:rPr lang="en-NZ" sz="2200">
                <a:solidFill>
                  <a:schemeClr val="tx1"/>
                </a:solidFill>
                <a:highlight>
                  <a:srgbClr val="FFFF00"/>
                </a:highlight>
                <a:latin typeface="Arial" pitchFamily="34" charset="0"/>
                <a:cs typeface="Arial" pitchFamily="34" charset="0"/>
              </a:rPr>
              <a:t>, a straight line tells us the relationship between the dependent variable and the independent variable</a:t>
            </a:r>
            <a:r>
              <a:rPr lang="en-NZ" sz="2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856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/>
          <a:lstStyle/>
          <a:p>
            <a:r>
              <a:rPr lang="en-NZ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2" y="1735784"/>
            <a:ext cx="9601196" cy="2485953"/>
          </a:xfrm>
        </p:spPr>
        <p:txBody>
          <a:bodyPr>
            <a:noAutofit/>
          </a:bodyPr>
          <a:lstStyle/>
          <a:p>
            <a:r>
              <a:rPr lang="en-NZ" sz="1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 regression line can show a positive linear relationship, a negative linear relationship, or no relationship.</a:t>
            </a:r>
          </a:p>
          <a:p>
            <a:r>
              <a:rPr lang="en-NZ" sz="1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1) </a:t>
            </a:r>
            <a:r>
              <a:rPr lang="en-NZ"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Positive relationship: </a:t>
            </a:r>
            <a:r>
              <a:rPr lang="en-US" sz="1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 one variable increases, the other variable also increases.</a:t>
            </a:r>
          </a:p>
          <a:p>
            <a:r>
              <a:rPr lang="en-NZ" sz="1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2) </a:t>
            </a:r>
            <a:r>
              <a:rPr lang="en-NZ"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 relationship</a:t>
            </a:r>
            <a:r>
              <a:rPr lang="en-NZ" sz="1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</a:t>
            </a:r>
            <a:r>
              <a:rPr lang="en-US" sz="1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There is no clear pattern or association between the two variables</a:t>
            </a:r>
            <a:r>
              <a:rPr lang="en-US" sz="2000"/>
              <a:t>.</a:t>
            </a:r>
          </a:p>
          <a:p>
            <a:r>
              <a:rPr lang="en-NZ" sz="1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3) </a:t>
            </a:r>
            <a:r>
              <a:rPr lang="en-NZ" sz="18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Negative relationship: </a:t>
            </a:r>
            <a:r>
              <a:rPr lang="en-US" sz="1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As one variable increases, the other variable decreases.</a:t>
            </a:r>
            <a:endParaRPr lang="en-NZ" sz="20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/>
              <a:t>AM811001 20-AIC-05 Week 3 Session 1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D646D6-6650-468D-9E50-47F8D35EBD6A}"/>
              </a:ext>
            </a:extLst>
          </p:cNvPr>
          <p:cNvCxnSpPr/>
          <p:nvPr/>
        </p:nvCxnSpPr>
        <p:spPr>
          <a:xfrm>
            <a:off x="1620763" y="4159340"/>
            <a:ext cx="0" cy="135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109E0E-542B-4BCD-84DB-9E6C841F2BC9}"/>
              </a:ext>
            </a:extLst>
          </p:cNvPr>
          <p:cNvCxnSpPr/>
          <p:nvPr/>
        </p:nvCxnSpPr>
        <p:spPr>
          <a:xfrm>
            <a:off x="5464630" y="4159340"/>
            <a:ext cx="0" cy="135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D4751B-E7E0-433E-B750-F7BEDB5C04DF}"/>
              </a:ext>
            </a:extLst>
          </p:cNvPr>
          <p:cNvCxnSpPr/>
          <p:nvPr/>
        </p:nvCxnSpPr>
        <p:spPr>
          <a:xfrm>
            <a:off x="9201252" y="4159340"/>
            <a:ext cx="0" cy="13546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7612A0-45C4-49CD-B47D-B07AC60EDABE}"/>
              </a:ext>
            </a:extLst>
          </p:cNvPr>
          <p:cNvCxnSpPr/>
          <p:nvPr/>
        </p:nvCxnSpPr>
        <p:spPr>
          <a:xfrm>
            <a:off x="1632051" y="5514006"/>
            <a:ext cx="1636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C1E31A-84AB-4655-BBCD-A152474C84C7}"/>
              </a:ext>
            </a:extLst>
          </p:cNvPr>
          <p:cNvCxnSpPr/>
          <p:nvPr/>
        </p:nvCxnSpPr>
        <p:spPr>
          <a:xfrm>
            <a:off x="5464630" y="5514006"/>
            <a:ext cx="1636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28D4592-8B96-457E-896E-00F9C4C09492}"/>
              </a:ext>
            </a:extLst>
          </p:cNvPr>
          <p:cNvCxnSpPr/>
          <p:nvPr/>
        </p:nvCxnSpPr>
        <p:spPr>
          <a:xfrm>
            <a:off x="9201252" y="5524677"/>
            <a:ext cx="1636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9AC9B78-C1C4-4F6C-BBB3-7832A244DFC1}"/>
              </a:ext>
            </a:extLst>
          </p:cNvPr>
          <p:cNvCxnSpPr/>
          <p:nvPr/>
        </p:nvCxnSpPr>
        <p:spPr>
          <a:xfrm flipV="1">
            <a:off x="1790096" y="4301068"/>
            <a:ext cx="1230489" cy="110631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7AF4FA-7D03-49AB-A122-BC6BF3EBA78A}"/>
              </a:ext>
            </a:extLst>
          </p:cNvPr>
          <p:cNvCxnSpPr>
            <a:cxnSpLocks/>
          </p:cNvCxnSpPr>
          <p:nvPr/>
        </p:nvCxnSpPr>
        <p:spPr>
          <a:xfrm flipV="1">
            <a:off x="5549296" y="4836672"/>
            <a:ext cx="1552223" cy="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06190B-6ADE-418C-A114-6962FBDC30B1}"/>
              </a:ext>
            </a:extLst>
          </p:cNvPr>
          <p:cNvCxnSpPr>
            <a:cxnSpLocks/>
          </p:cNvCxnSpPr>
          <p:nvPr/>
        </p:nvCxnSpPr>
        <p:spPr>
          <a:xfrm flipH="1" flipV="1">
            <a:off x="9421385" y="4301068"/>
            <a:ext cx="1241777" cy="106494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1411" y="628984"/>
            <a:ext cx="8911687" cy="1280890"/>
          </a:xfrm>
        </p:spPr>
        <p:txBody>
          <a:bodyPr/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zh-CN" altLang="en-US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task: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603" y="1931342"/>
            <a:ext cx="10195302" cy="3313814"/>
          </a:xfrm>
        </p:spPr>
        <p:txBody>
          <a:bodyPr>
            <a:normAutofit/>
          </a:bodyPr>
          <a:lstStyle/>
          <a:p>
            <a:endParaRPr lang="en-US" altLang="zh-CN" sz="2500" b="1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Download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r>
              <a:rPr lang="zh-CN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“Regression Analysis- Umbrella Company” from teams-&gt; files-&gt; class activities (week 5 session 2)</a:t>
            </a:r>
          </a:p>
          <a:p>
            <a:pPr marL="457200" lvl="1" indent="0">
              <a:buNone/>
            </a:pPr>
            <a:r>
              <a:rPr lang="en-US" altLang="zh-CN" sz="2500" b="1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zh-CN" altLang="en-US" sz="2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cs typeface="Arial" panose="020B0604020202020204" pitchFamily="34" charset="0"/>
              </a:rPr>
              <a:t>Conduct</a:t>
            </a:r>
            <a:r>
              <a:rPr lang="zh-CN" altLang="en-US" sz="2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cs typeface="Arial" panose="020B0604020202020204" pitchFamily="34" charset="0"/>
              </a:rPr>
              <a:t>linear</a:t>
            </a:r>
            <a:r>
              <a:rPr lang="zh-CN" altLang="en-US" sz="2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cs typeface="Arial" panose="020B0604020202020204" pitchFamily="34" charset="0"/>
              </a:rPr>
              <a:t>regression</a:t>
            </a:r>
            <a:r>
              <a:rPr lang="zh-CN" altLang="en-US" sz="2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zh-CN" altLang="en-US" sz="25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500" b="1">
                <a:latin typeface="Arial" panose="020B0604020202020204" pitchFamily="34" charset="0"/>
                <a:cs typeface="Arial" panose="020B0604020202020204" pitchFamily="34" charset="0"/>
              </a:rPr>
              <a:t>Excel</a:t>
            </a:r>
          </a:p>
          <a:p>
            <a:pPr lvl="1"/>
            <a:endParaRPr lang="en-US" altLang="zh-CN" sz="25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at is Predictive Analytics? How does it work? Examples &amp; Benefits">
            <a:extLst>
              <a:ext uri="{FF2B5EF4-FFF2-40B4-BE49-F238E27FC236}">
                <a16:creationId xmlns:a16="http://schemas.microsoft.com/office/drawing/2014/main" id="{1211832E-0E02-0036-8463-5647AA3BBE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889" y="3862249"/>
            <a:ext cx="4213123" cy="280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4425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NZ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(association)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/>
              <a:t>AM811001 20-AIC-05 Week 3 Session 1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906890" y="1735138"/>
            <a:ext cx="8668345" cy="4216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NZ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(association)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2" y="1735784"/>
            <a:ext cx="9601196" cy="4346964"/>
          </a:xfrm>
        </p:spPr>
        <p:txBody>
          <a:bodyPr>
            <a:noAutofit/>
          </a:bodyPr>
          <a:lstStyle/>
          <a:p>
            <a:r>
              <a:rPr lang="en-NZ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 Square: </a:t>
            </a:r>
            <a:r>
              <a:rPr lang="en-NZ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What % of the dependent variable can be explained by the independent variable. E.g. If r square is 80%, then 80% of the dependent variable (umbrella sales) is due to the independent variable (rainfall). The remaining 20% is due to other factors such as promotions, advertising etc.</a:t>
            </a:r>
          </a:p>
          <a:p>
            <a:r>
              <a:rPr lang="en-NZ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Independent variable (rainfall) coefficient: </a:t>
            </a:r>
            <a:r>
              <a:rPr lang="en-NZ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 every increase in the independent variable, that is how much the dependent variable increases by. E.g. For every mm of rainfall, the umbrella company sells around 47 umbrellas.</a:t>
            </a:r>
          </a:p>
          <a:p>
            <a:r>
              <a:rPr lang="en-NZ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 value for the independent variable (rainfall): </a:t>
            </a:r>
            <a:r>
              <a:rPr lang="en-NZ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if it is less than or equal to 0.05, there is a statistically significant relationship between the 2 variables (umbrella sales and rainfall). </a:t>
            </a: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/>
              <a:t>AM811001 20-AIC-05 Week 3 Session 1</a:t>
            </a:r>
          </a:p>
        </p:txBody>
      </p:sp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 fontScale="90000"/>
          </a:bodyPr>
          <a:lstStyle/>
          <a:p>
            <a:r>
              <a:rPr lang="en-NZ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(association)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2" y="1735784"/>
            <a:ext cx="9601196" cy="4346964"/>
          </a:xfrm>
        </p:spPr>
        <p:txBody>
          <a:bodyPr>
            <a:noAutofit/>
          </a:bodyPr>
          <a:lstStyle/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/>
              <a:t>AM811001 20-AIC-05 Week 3 Session 1</a:t>
            </a:r>
          </a:p>
        </p:txBody>
      </p:sp>
      <p:graphicFrame>
        <p:nvGraphicFramePr>
          <p:cNvPr id="6" name="Chart 5"/>
          <p:cNvGraphicFramePr/>
          <p:nvPr/>
        </p:nvGraphicFramePr>
        <p:xfrm>
          <a:off x="2213114" y="1946167"/>
          <a:ext cx="7281502" cy="41365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/>
          </a:bodyPr>
          <a:lstStyle/>
          <a:p>
            <a:r>
              <a:rPr lang="en-NZ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(prediction)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/>
              <a:t>AM811001 20-AIC-05 Week 3 Session 1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1447802" y="1888184"/>
            <a:ext cx="9601196" cy="434696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800" b="1" dirty="0">
                <a:latin typeface="Arial"/>
                <a:cs typeface="Arial"/>
              </a:rPr>
              <a:t>Formula for predicting (sales):</a:t>
            </a:r>
            <a:r>
              <a:rPr lang="en-US" sz="2800" dirty="0">
                <a:latin typeface="Arial"/>
                <a:cs typeface="Arial"/>
              </a:rPr>
              <a:t> Y=</a:t>
            </a:r>
            <a:r>
              <a:rPr lang="en-US" sz="2800" dirty="0" err="1">
                <a:latin typeface="Arial"/>
                <a:cs typeface="Arial"/>
              </a:rPr>
              <a:t>mX+b</a:t>
            </a:r>
            <a:endParaRPr lang="en-US" sz="2800" dirty="0">
              <a:latin typeface="Arial"/>
              <a:cs typeface="Arial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800" dirty="0">
                <a:latin typeface="Arial"/>
                <a:cs typeface="Arial"/>
              </a:rPr>
              <a:t>Where: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Y = The thing we are predicting (sales).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X = The factor we use to predict (rainfall mm).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m = Slope (how much does the dependent variable (umbrella sales) change by when independent variable increases(rainfall)). This value is given to us after we perform regression on excel.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000" dirty="0">
                <a:latin typeface="Arial"/>
                <a:cs typeface="Arial"/>
              </a:rPr>
              <a:t>b = Intercept (what is the dependent variable value (umbrella sales) when independent variable (rainfall) = 0). This value is given to us after we perform regression on excel.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endParaRPr kumimoji="0" lang="en-NZ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tabLst/>
              <a:defRPr/>
            </a:pPr>
            <a:endParaRPr kumimoji="0" lang="en-NZ" sz="20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95402" y="642299"/>
            <a:ext cx="9601196" cy="1303867"/>
          </a:xfrm>
        </p:spPr>
        <p:txBody>
          <a:bodyPr>
            <a:normAutofit/>
          </a:bodyPr>
          <a:lstStyle/>
          <a:p>
            <a:r>
              <a:rPr lang="en-NZ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 (prediction)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95402" y="1735784"/>
            <a:ext cx="9601196" cy="4346964"/>
          </a:xfrm>
        </p:spPr>
        <p:txBody>
          <a:bodyPr>
            <a:noAutofit/>
          </a:bodyPr>
          <a:lstStyle/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523F27-0814-4F04-8AF7-89CB051ABE77}"/>
              </a:ext>
            </a:extLst>
          </p:cNvPr>
          <p:cNvSpPr txBox="1"/>
          <p:nvPr/>
        </p:nvSpPr>
        <p:spPr>
          <a:xfrm>
            <a:off x="9945189" y="6611779"/>
            <a:ext cx="2246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1000"/>
              <a:t>AM811001 20-AIC-05 Week 3 Session 1</a:t>
            </a:r>
          </a:p>
        </p:txBody>
      </p:sp>
      <p:graphicFrame>
        <p:nvGraphicFramePr>
          <p:cNvPr id="7" name="Chart 6"/>
          <p:cNvGraphicFramePr/>
          <p:nvPr/>
        </p:nvGraphicFramePr>
        <p:xfrm>
          <a:off x="2213114" y="1946167"/>
          <a:ext cx="8203095" cy="3951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25443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Z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Example: predicting umbrella sales from rainfall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2054087"/>
            <a:ext cx="9601196" cy="4346964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How much will the umbrella sales be if rainfall is at 50mm? </a:t>
            </a:r>
          </a:p>
          <a:p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Formula: </a:t>
            </a:r>
            <a:r>
              <a:rPr lang="en-US" sz="2000">
                <a:latin typeface="Arial"/>
                <a:cs typeface="Arial"/>
              </a:rPr>
              <a:t>Y=</a:t>
            </a:r>
            <a:r>
              <a:rPr lang="en-US" sz="2000" err="1">
                <a:latin typeface="Arial"/>
                <a:cs typeface="Arial"/>
              </a:rPr>
              <a:t>mX+b</a:t>
            </a:r>
            <a:endParaRPr lang="en-US" sz="2000">
              <a:latin typeface="Arial"/>
              <a:cs typeface="Arial"/>
            </a:endParaRPr>
          </a:p>
          <a:p>
            <a:r>
              <a:rPr lang="en-NZ" sz="2000">
                <a:latin typeface="Arial" pitchFamily="34" charset="0"/>
                <a:cs typeface="Arial" pitchFamily="34" charset="0"/>
              </a:rPr>
              <a:t>Equation from regression: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 = 47.143x - 630.33</a:t>
            </a:r>
          </a:p>
          <a:p>
            <a:r>
              <a:rPr lang="en-NZ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Umbrella sales = 47.143 * 50 – 630.33 = 1727 approx.</a:t>
            </a:r>
            <a:endParaRPr lang="en-US" sz="20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SzPct val="114999"/>
            </a:pPr>
            <a:endParaRPr lang="en-NZ" sz="2000" b="1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SzPct val="114999"/>
            </a:pPr>
            <a:r>
              <a:rPr lang="en-NZ" sz="2000" b="1">
                <a:solidFill>
                  <a:schemeClr val="tx1"/>
                </a:solidFill>
                <a:latin typeface="Arial"/>
                <a:cs typeface="Arial"/>
              </a:rPr>
              <a:t>If 1 variable is categorical: </a:t>
            </a: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multiple linear regression (need to convert categorical variables into codes. E.g. gender male = 1 and female = 0).</a:t>
            </a: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SzPct val="114999"/>
            </a:pPr>
            <a:r>
              <a:rPr lang="en-NZ" sz="2000" b="1">
                <a:solidFill>
                  <a:schemeClr val="tx1"/>
                </a:solidFill>
                <a:latin typeface="Arial"/>
                <a:cs typeface="Arial"/>
              </a:rPr>
              <a:t>Decision trees and random forests:</a:t>
            </a:r>
            <a:r>
              <a:rPr lang="en-NZ" sz="2000">
                <a:solidFill>
                  <a:schemeClr val="tx1"/>
                </a:solidFill>
                <a:latin typeface="Arial"/>
                <a:cs typeface="Arial"/>
              </a:rPr>
              <a:t> can be used to predict both numerical and categorical data.</a:t>
            </a: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SzPct val="114999"/>
            </a:pPr>
            <a:endParaRPr lang="en-NZ" sz="2000" b="1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>
              <a:solidFill>
                <a:srgbClr val="262626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NZ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Recap: analytics techniques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2054087"/>
            <a:ext cx="9601196" cy="4346964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3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Descriptive analytics: </a:t>
            </a:r>
          </a:p>
          <a:p>
            <a:r>
              <a:rPr lang="en-US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Used to summarize and visualize data to find patterns &amp; trends.</a:t>
            </a:r>
            <a:endParaRPr lang="en-NZ" sz="28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28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Box plots, pivot table, column graph, bar graph, descriptive statistics (mean and std deviation). </a:t>
            </a:r>
          </a:p>
          <a:p>
            <a:endParaRPr lang="en-NZ" sz="3200" b="1">
              <a:latin typeface="Arial" pitchFamily="34" charset="0"/>
              <a:cs typeface="Arial" pitchFamily="34" charset="0"/>
            </a:endParaRPr>
          </a:p>
          <a:p>
            <a:endParaRPr lang="en-US" sz="2000"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198"/>
            <a:ext cx="9601196" cy="1303867"/>
          </a:xfrm>
        </p:spPr>
        <p:txBody>
          <a:bodyPr>
            <a:normAutofit/>
          </a:bodyPr>
          <a:lstStyle/>
          <a:p>
            <a:r>
              <a:rPr lang="en-NZ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Recap: analytics techniques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1020418"/>
            <a:ext cx="9601196" cy="5115339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3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Diagnostic analytics: </a:t>
            </a:r>
          </a:p>
          <a:p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Used to find relationships &amp; causes in data.</a:t>
            </a:r>
          </a:p>
          <a:p>
            <a:r>
              <a:rPr lang="en-NZ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 tests: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Compare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two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groups (1 numerical and 1 categorical variable across both groups) to check if they are significantly different to each other (p value should be less than or equal to 0.05). Example: sales of item A </a:t>
            </a:r>
            <a:r>
              <a:rPr lang="en-US" sz="200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vs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sales of item B. </a:t>
            </a:r>
          </a:p>
          <a:p>
            <a:r>
              <a:rPr lang="en-NZ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ANOVA: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Compare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three or more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groups (1 numerical and 1 categorical variable across all groups) to check if they are significantly different to each other (p value should be less than or equal to 0.05). Example: sales of item A </a:t>
            </a:r>
            <a:r>
              <a:rPr lang="en-US" sz="200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vs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sales of item B </a:t>
            </a:r>
            <a:r>
              <a:rPr lang="en-US" sz="200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vs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sales of item C.</a:t>
            </a: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198"/>
            <a:ext cx="9601196" cy="1303867"/>
          </a:xfrm>
        </p:spPr>
        <p:txBody>
          <a:bodyPr>
            <a:normAutofit/>
          </a:bodyPr>
          <a:lstStyle/>
          <a:p>
            <a:r>
              <a:rPr lang="en-NZ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Recap: analytics techniques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1020418"/>
            <a:ext cx="9601196" cy="5115339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3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Diagnostic analytics: </a:t>
            </a:r>
          </a:p>
          <a:p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Used to find relationships &amp; causes in data.</a:t>
            </a:r>
          </a:p>
          <a:p>
            <a:r>
              <a:rPr lang="en-NZ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Chi Square Test: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Check relationships between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categorical variables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. Example: gender and types of products purchased. Create 2 tables for observed and expected values and generate chi square test p value. If p value is less than or equal to 0.05, there is a statistically significant relationship between both the categorical variables. </a:t>
            </a:r>
          </a:p>
          <a:p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Correlation &amp; Regression: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Measure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strength, direction and significance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of relationships between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one dependent and one independent numerical variables.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Example: checking if ad spending affects sales. Correlation coefficient (r) from correlation tells you the strength and direction of the relationship. And p value (less than or equal to 0.05) tells you the significance of the relationship. </a:t>
            </a: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US" sz="2000"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1EC0-7E10-4BF4-AEF0-AA66B0A3D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30198"/>
            <a:ext cx="9601196" cy="1303867"/>
          </a:xfrm>
        </p:spPr>
        <p:txBody>
          <a:bodyPr>
            <a:normAutofit/>
          </a:bodyPr>
          <a:lstStyle/>
          <a:p>
            <a:r>
              <a:rPr lang="en-NZ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Recap: analytics techniques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idx="1"/>
          </p:nvPr>
        </p:nvSpPr>
        <p:spPr>
          <a:xfrm>
            <a:off x="1295402" y="1020418"/>
            <a:ext cx="9601196" cy="5115339"/>
          </a:xfrm>
        </p:spPr>
        <p:txBody>
          <a:bodyPr>
            <a:noAutofit/>
          </a:bodyPr>
          <a:lstStyle/>
          <a:p>
            <a:pPr>
              <a:buNone/>
            </a:pP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NZ" sz="32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Predictive analytics: </a:t>
            </a:r>
          </a:p>
          <a:p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Used to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make future predictions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based on past data. </a:t>
            </a:r>
          </a:p>
          <a:p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Time Series Forecasting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used on time based data.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Moving average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or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exponential smoothing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 see smoothed trend line. Can be paired with the ‘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forecast sheet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’ option under the data tab to predict future values. </a:t>
            </a:r>
          </a:p>
          <a:p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Simple Linear Regression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 used to predict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one dependent variable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based on another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independent variable (both need to be numerical). Example: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Predict Sales using Ad Spending as the independent variable.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See r square, coefficient and p value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of the independent variable (ad spending),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and regression line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to understand the association between 2 variables. See </a:t>
            </a:r>
            <a:r>
              <a:rPr lang="en-US" sz="2000" b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regression equation and regression line </a:t>
            </a:r>
            <a:r>
              <a:rPr lang="en-US" sz="200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to predict future sales. </a:t>
            </a:r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2000"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endParaRPr lang="en-NZ" sz="200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050" name="AutoShape 2" descr="https://auc-powerpoint.officeapps.live.com/pods/GetClipboardImage.ashx?Id=51956416-6289-4fed-a367-f883c0ddfd11&amp;DC=GAU1&amp;pkey=c4359187-3f33-4186-8a4d-1f37a62ab740&amp;wdwaccluster=GAU1"/>
          <p:cNvSpPr>
            <a:spLocks noChangeAspect="1" noChangeArrowheads="1"/>
          </p:cNvSpPr>
          <p:nvPr/>
        </p:nvSpPr>
        <p:spPr bwMode="auto">
          <a:xfrm>
            <a:off x="2190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12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1230" y="496197"/>
            <a:ext cx="9811990" cy="935038"/>
          </a:xfrm>
        </p:spPr>
        <p:txBody>
          <a:bodyPr>
            <a:normAutofit/>
          </a:bodyPr>
          <a:lstStyle/>
          <a:p>
            <a:r>
              <a:rPr lang="en-NZ" altLang="zh-CN" sz="3600" b="1">
                <a:latin typeface="Arial" panose="020B0604020202020204" pitchFamily="34" charset="0"/>
                <a:cs typeface="Arial" panose="020B0604020202020204" pitchFamily="34" charset="0"/>
              </a:rPr>
              <a:t>Homework</a:t>
            </a:r>
            <a:endParaRPr lang="en-US" altLang="en-US" sz="3600" b="1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EADAFE-55E2-D273-D61F-C3D851FD1B09}"/>
              </a:ext>
            </a:extLst>
          </p:cNvPr>
          <p:cNvSpPr txBox="1"/>
          <p:nvPr/>
        </p:nvSpPr>
        <p:spPr>
          <a:xfrm>
            <a:off x="891230" y="1431235"/>
            <a:ext cx="1054601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Categorize your variables from the dataset as categorical or numerical.​</a:t>
            </a:r>
            <a:b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Identify 3 business problems from your dataset that you would like to address.</a:t>
            </a:r>
            <a:b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>
              <a:buFont typeface="Arial" pitchFamily="34" charset="0"/>
              <a:buChar char="•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Perform descriptive analysis (descriptive statistics, pivot tables, graphs etc) on your dataset to address your problem(s). Interpret the analysis results.​</a:t>
            </a:r>
            <a:b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Perform diagnostic analysis (t-test, ANOVA, chi-square test, correlation with regression) on your dataset to address your problem(s). Interpret the analysis results.</a:t>
            </a:r>
            <a:b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altLang="zh-CN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altLang="zh-CN" sz="2200">
                <a:latin typeface="Arial" panose="020B0604020202020204" pitchFamily="34" charset="0"/>
                <a:cs typeface="Arial" panose="020B0604020202020204" pitchFamily="34" charset="0"/>
              </a:rPr>
              <a:t>Perform predictive analysis (time series forecasting, simple linear regression) on your dataset to address your problem(s). Interpret the analysis results.</a:t>
            </a:r>
          </a:p>
          <a:p>
            <a:endParaRPr lang="en-US" altLang="zh-CN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757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77EDC-B1CD-8242-AA40-F65A9951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018" y="628984"/>
            <a:ext cx="8911687" cy="1280890"/>
          </a:xfrm>
        </p:spPr>
        <p:txBody>
          <a:bodyPr/>
          <a:lstStyle/>
          <a:p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Preparation:</a:t>
            </a:r>
            <a:endParaRPr lang="en-AU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7E98DA-27BC-8341-B41E-F25AD6C05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018" y="1909874"/>
            <a:ext cx="9950459" cy="3777622"/>
          </a:xfrm>
        </p:spPr>
        <p:txBody>
          <a:bodyPr>
            <a:normAutofit/>
          </a:bodyPr>
          <a:lstStyle/>
          <a:p>
            <a:endParaRPr lang="en-US" altLang="zh-CN" sz="2100" b="1" i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100" b="1" i="0">
                <a:solidFill>
                  <a:srgbClr val="FF0000"/>
                </a:solidFill>
                <a:effectLst/>
                <a:latin typeface="Arial"/>
                <a:cs typeface="Arial"/>
              </a:rPr>
              <a:t>Before</a:t>
            </a:r>
            <a:r>
              <a:rPr lang="zh-CN" altLang="en-US" sz="2100" b="1" i="0">
                <a:solidFill>
                  <a:srgbClr val="FF0000"/>
                </a:solidFill>
                <a:effectLst/>
                <a:latin typeface="Arial"/>
                <a:cs typeface="Arial"/>
              </a:rPr>
              <a:t> </a:t>
            </a:r>
            <a:r>
              <a:rPr lang="en-US" altLang="zh-CN" sz="2100" b="1" i="0">
                <a:solidFill>
                  <a:srgbClr val="FF0000"/>
                </a:solidFill>
                <a:effectLst/>
                <a:latin typeface="Arial"/>
                <a:cs typeface="Arial"/>
              </a:rPr>
              <a:t>next</a:t>
            </a:r>
            <a:r>
              <a:rPr lang="zh-CN" altLang="en-US" sz="2100" b="1" i="0">
                <a:solidFill>
                  <a:srgbClr val="FF0000"/>
                </a:solidFill>
                <a:effectLst/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session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(Week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6):</a:t>
            </a:r>
          </a:p>
          <a:p>
            <a:pPr marL="457200" lvl="1" indent="0">
              <a:buNone/>
            </a:pPr>
            <a:r>
              <a:rPr lang="en-US" altLang="zh-CN" sz="1700" b="1">
                <a:latin typeface="Arial"/>
                <a:cs typeface="Arial"/>
              </a:rPr>
              <a:t>Make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sure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you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have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your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dataset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ready</a:t>
            </a:r>
          </a:p>
          <a:p>
            <a:pPr marL="457200" lvl="1" indent="0">
              <a:buNone/>
            </a:pPr>
            <a:r>
              <a:rPr lang="en-US" altLang="zh-CN" sz="1700" b="1">
                <a:latin typeface="Arial"/>
                <a:cs typeface="Arial"/>
              </a:rPr>
              <a:t>Download</a:t>
            </a:r>
            <a:r>
              <a:rPr lang="zh-CN" altLang="en-US" sz="1700" b="1">
                <a:latin typeface="Arial"/>
                <a:cs typeface="Arial"/>
              </a:rPr>
              <a:t> Alter AI</a:t>
            </a:r>
            <a:r>
              <a:rPr lang="en-US" altLang="zh-CN" sz="1700" b="1">
                <a:latin typeface="Arial"/>
                <a:cs typeface="Arial"/>
              </a:rPr>
              <a:t> Studio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(</a:t>
            </a:r>
            <a:r>
              <a:rPr lang="en-US" sz="1700" b="1">
                <a:solidFill>
                  <a:schemeClr val="tx1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Comprehensive AI and Machine Learning Development | Altair AI Studio</a:t>
            </a:r>
            <a:r>
              <a:rPr lang="en-US" altLang="zh-CN" sz="1700" b="1">
                <a:latin typeface="Arial"/>
                <a:cs typeface="Arial"/>
              </a:rPr>
              <a:t>) </a:t>
            </a:r>
          </a:p>
          <a:p>
            <a:pPr marL="457200" lvl="1" indent="0">
              <a:buNone/>
            </a:pPr>
            <a:endParaRPr lang="en-US" altLang="zh-CN" sz="17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The following week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(Session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1,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Week</a:t>
            </a:r>
            <a:r>
              <a:rPr lang="zh-CN" altLang="en-US" sz="210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NZ" altLang="zh-CN" sz="2100" b="1">
                <a:solidFill>
                  <a:srgbClr val="FF0000"/>
                </a:solidFill>
                <a:latin typeface="Arial"/>
                <a:cs typeface="Arial"/>
              </a:rPr>
              <a:t>7</a:t>
            </a:r>
            <a:r>
              <a:rPr lang="en-US" altLang="zh-CN" sz="2100" b="1">
                <a:solidFill>
                  <a:srgbClr val="FF0000"/>
                </a:solidFill>
                <a:latin typeface="Arial"/>
                <a:cs typeface="Arial"/>
              </a:rPr>
              <a:t>):</a:t>
            </a:r>
          </a:p>
          <a:p>
            <a:pPr marL="0" indent="0">
              <a:buNone/>
            </a:pPr>
            <a:r>
              <a:rPr lang="en-US" altLang="zh-CN" sz="1700" b="1">
                <a:latin typeface="Arial"/>
                <a:cs typeface="Arial"/>
              </a:rPr>
              <a:t>Discuss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with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each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of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you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regarding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your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data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analysis.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Please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prepare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your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analysis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before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US" altLang="zh-CN" sz="1700" b="1">
                <a:latin typeface="Arial"/>
                <a:cs typeface="Arial"/>
              </a:rPr>
              <a:t>Week</a:t>
            </a:r>
            <a:r>
              <a:rPr lang="zh-CN" altLang="en-US" sz="1700" b="1">
                <a:latin typeface="Arial"/>
                <a:cs typeface="Arial"/>
              </a:rPr>
              <a:t> </a:t>
            </a:r>
            <a:r>
              <a:rPr lang="en-NZ" altLang="zh-CN" sz="1700" b="1">
                <a:latin typeface="Arial"/>
                <a:cs typeface="Arial"/>
              </a:rPr>
              <a:t>7 session 1</a:t>
            </a:r>
            <a:r>
              <a:rPr lang="en-US" altLang="zh-CN" sz="1700" b="1">
                <a:latin typeface="Arial"/>
                <a:cs typeface="Arial"/>
              </a:rPr>
              <a:t>.</a:t>
            </a:r>
          </a:p>
          <a:p>
            <a:pPr marL="0" indent="0">
              <a:buNone/>
            </a:pPr>
            <a:endParaRPr lang="en-US" altLang="zh-CN" sz="17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altLang="zh-CN" sz="19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3886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4758" y="821746"/>
            <a:ext cx="9811990" cy="935038"/>
          </a:xfrm>
        </p:spPr>
        <p:txBody>
          <a:bodyPr>
            <a:normAutofit/>
          </a:bodyPr>
          <a:lstStyle/>
          <a:p>
            <a:r>
              <a:rPr lang="en-US" altLang="zh-CN" sz="3600" b="1">
                <a:latin typeface="Arial" panose="020B0604020202020204" pitchFamily="34" charset="0"/>
                <a:cs typeface="Arial" panose="020B0604020202020204" pitchFamily="34" charset="0"/>
              </a:rPr>
              <a:t>Feedback</a:t>
            </a:r>
            <a:r>
              <a:rPr lang="zh-CN" altLang="en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>
                <a:latin typeface="Arial" panose="020B0604020202020204" pitchFamily="34" charset="0"/>
                <a:cs typeface="Arial" panose="020B0604020202020204" pitchFamily="34" charset="0"/>
              </a:rPr>
              <a:t>opportunity</a:t>
            </a:r>
            <a:r>
              <a:rPr lang="zh-CN" altLang="en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zh-CN" altLang="en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>
                <a:latin typeface="Arial" panose="020B0604020202020204" pitchFamily="34" charset="0"/>
                <a:cs typeface="Arial" panose="020B0604020202020204" pitchFamily="34" charset="0"/>
              </a:rPr>
              <a:t>Assessment</a:t>
            </a:r>
            <a:r>
              <a:rPr lang="zh-CN" altLang="en-US" sz="36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600" b="1">
                <a:latin typeface="Arial" panose="020B0604020202020204" pitchFamily="34" charset="0"/>
                <a:cs typeface="Arial" panose="020B0604020202020204" pitchFamily="34" charset="0"/>
              </a:rPr>
              <a:t>Two</a:t>
            </a:r>
            <a:endParaRPr lang="en-US" altLang="en-US" sz="3600" b="1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EADAFE-55E2-D273-D61F-C3D851FD1B09}"/>
              </a:ext>
            </a:extLst>
          </p:cNvPr>
          <p:cNvSpPr txBox="1"/>
          <p:nvPr/>
        </p:nvSpPr>
        <p:spPr>
          <a:xfrm>
            <a:off x="891230" y="1756784"/>
            <a:ext cx="105460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altLang="zh-CN" sz="2200">
                <a:latin typeface="Arial" panose="020B0604020202020204" pitchFamily="34" charset="0"/>
                <a:cs typeface="Arial" panose="020B0604020202020204" pitchFamily="34" charset="0"/>
              </a:rPr>
              <a:t>Will discuss in week 6 session 2.</a:t>
            </a:r>
            <a:endParaRPr lang="en-US" altLang="zh-CN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 txBox="1">
            <a:spLocks noChangeArrowheads="1"/>
          </p:cNvSpPr>
          <p:nvPr/>
        </p:nvSpPr>
        <p:spPr>
          <a:xfrm>
            <a:off x="754757" y="2584174"/>
            <a:ext cx="10509591" cy="79513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altLang="en-US" sz="3600" b="1" i="0" u="none" strike="noStrike" kern="1200" cap="none" spc="0" normalizeH="0" baseline="0" noProof="0">
                <a:ln w="3175" cmpd="sng"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Student research</a:t>
            </a:r>
            <a:r>
              <a:rPr lang="en-NZ" altLang="en-US" sz="3600" b="1">
                <a:ln w="3175" cmpd="sng">
                  <a:noFill/>
                </a:ln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forum next Tuesday (18 March)</a:t>
            </a:r>
            <a:endParaRPr kumimoji="0" lang="en-US" altLang="en-US" sz="3600" b="1" i="0" u="none" strike="noStrike" kern="1200" cap="none" spc="0" normalizeH="0" baseline="0" noProof="0">
              <a:ln w="3175" cmpd="sng"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5" name="文本框 2">
            <a:extLst>
              <a:ext uri="{FF2B5EF4-FFF2-40B4-BE49-F238E27FC236}">
                <a16:creationId xmlns:a16="http://schemas.microsoft.com/office/drawing/2014/main" id="{36EADAFE-55E2-D273-D61F-C3D851FD1B09}"/>
              </a:ext>
            </a:extLst>
          </p:cNvPr>
          <p:cNvSpPr txBox="1"/>
          <p:nvPr/>
        </p:nvSpPr>
        <p:spPr>
          <a:xfrm>
            <a:off x="891230" y="3379304"/>
            <a:ext cx="10546012" cy="15696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>
                <a:latin typeface="Arial" pitchFamily="34" charset="0"/>
                <a:cs typeface="Arial" pitchFamily="34" charset="0"/>
              </a:rPr>
              <a:t>Time: 12pm -1.30 pm </a:t>
            </a:r>
          </a:p>
          <a:p>
            <a:r>
              <a:rPr lang="en-US" sz="2400">
                <a:latin typeface="Arial"/>
                <a:cs typeface="Arial"/>
              </a:rPr>
              <a:t>Room: 700. </a:t>
            </a:r>
          </a:p>
          <a:p>
            <a:r>
              <a:rPr lang="en-US" sz="2400" b="1">
                <a:latin typeface="Arial" pitchFamily="34" charset="0"/>
                <a:cs typeface="Arial" pitchFamily="34" charset="0"/>
              </a:rPr>
              <a:t>Please do attend the research forum, particularly those who intend to do thesis/professional projects for your Master's degree</a:t>
            </a:r>
            <a:r>
              <a:rPr lang="en-US" sz="2400">
                <a:latin typeface="Arial" pitchFamily="34" charset="0"/>
                <a:cs typeface="Arial" pitchFamily="34" charset="0"/>
              </a:rPr>
              <a:t>. </a:t>
            </a:r>
            <a:endParaRPr lang="en-US" altLang="zh-CN" sz="220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7570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3E1C4C7BA5ED4094D04BB904A5E7AB" ma:contentTypeVersion="4" ma:contentTypeDescription="Create a new document." ma:contentTypeScope="" ma:versionID="149470d6a2e38a69316f2096364dac83">
  <xsd:schema xmlns:xsd="http://www.w3.org/2001/XMLSchema" xmlns:xs="http://www.w3.org/2001/XMLSchema" xmlns:p="http://schemas.microsoft.com/office/2006/metadata/properties" xmlns:ns2="2e870598-80c1-4ed7-a5cf-d50e51ea1f44" targetNamespace="http://schemas.microsoft.com/office/2006/metadata/properties" ma:root="true" ma:fieldsID="a107eb985a642ca95cbe6c890a64103e" ns2:_="">
    <xsd:import namespace="2e870598-80c1-4ed7-a5cf-d50e51ea1f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870598-80c1-4ed7-a5cf-d50e51ea1f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5A5626-F8F6-4A4C-9F15-BC87A80DA909}">
  <ds:schemaRefs>
    <ds:schemaRef ds:uri="2e870598-80c1-4ed7-a5cf-d50e51ea1f4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0518960-94A6-4764-8042-D3E5FA02886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124BCF-F30E-44E2-A816-662B2EDBFC5D}">
  <ds:schemaRefs>
    <ds:schemaRef ds:uri="03b210eb-a7de-4b47-ad24-d62341b079b1"/>
    <ds:schemaRef ds:uri="22af72f0-df75-4851-a469-3e8a66795582"/>
    <ds:schemaRef ds:uri="b9cc3f67-5b7c-4875-a629-52a60bd98ffe"/>
    <ds:schemaRef ds:uri="bb0f1b5c-7cc7-4cf0-876f-ee0bbde77c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Application>Microsoft Office PowerPoint</Application>
  <PresentationFormat>Widescreen</PresentationFormat>
  <Slides>20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Organic</vt:lpstr>
      <vt:lpstr>MAMC01803 Analytics for Managers</vt:lpstr>
      <vt:lpstr>In this lecture:</vt:lpstr>
      <vt:lpstr>Forecast sheet on Excel</vt:lpstr>
      <vt:lpstr>How to Use the Forecast Sheet in Excel?</vt:lpstr>
      <vt:lpstr>Simple Linear Regression </vt:lpstr>
      <vt:lpstr>Simple Linear Regression</vt:lpstr>
      <vt:lpstr>In class task:</vt:lpstr>
      <vt:lpstr>Simple Linear Regression (association)</vt:lpstr>
      <vt:lpstr>Simple Linear Regression (association)</vt:lpstr>
      <vt:lpstr>Simple Linear Regression (association)</vt:lpstr>
      <vt:lpstr>Simple Linear Regression (prediction)</vt:lpstr>
      <vt:lpstr>Simple Linear Regression (prediction)</vt:lpstr>
      <vt:lpstr>Example: predicting umbrella sales from rainfall</vt:lpstr>
      <vt:lpstr>Recap: analytics techniques</vt:lpstr>
      <vt:lpstr>Recap: analytics techniques</vt:lpstr>
      <vt:lpstr>Recap: analytics techniques</vt:lpstr>
      <vt:lpstr>Recap: analytics techniques</vt:lpstr>
      <vt:lpstr>Homework</vt:lpstr>
      <vt:lpstr>Preparation:</vt:lpstr>
      <vt:lpstr>Feedback opportunity for Assessment Two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Jishuo Sun</dc:creator>
  <cp:revision>7</cp:revision>
  <dcterms:created xsi:type="dcterms:W3CDTF">2021-09-12T02:15:48Z</dcterms:created>
  <dcterms:modified xsi:type="dcterms:W3CDTF">2025-03-14T20:56:51Z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0x010100503E1C4C7BA5ED4094D04BB904A5E7AB</vt:lpwstr>
  </property>
  <property fmtid="{D5CDD505-2E9C-101B-9397-08002B2CF9AE}" pid="3" name="MediaServiceImageTags">
    <vt:lpwstr/>
  </property>
</Properties>
</file>