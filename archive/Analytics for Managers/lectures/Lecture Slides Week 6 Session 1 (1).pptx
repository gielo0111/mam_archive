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6" r:id="rId4"/>
  </p:sldMasterIdLst>
  <p:notesMasterIdLst>
    <p:notesMasterId r:id="rId12"/>
  </p:notesMasterIdLst>
  <p:sldIdLst>
    <p:sldId id="256" r:id="rId5"/>
    <p:sldId id="258" r:id="rId6"/>
    <p:sldId id="261" r:id="rId7"/>
    <p:sldId id="262" r:id="rId8"/>
    <p:sldId id="260" r:id="rId9"/>
    <p:sldId id="257"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C010"/>
    <a:srgbClr val="D20C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270"/>
    <p:restoredTop sz="96327"/>
  </p:normalViewPr>
  <p:slideViewPr>
    <p:cSldViewPr snapToGrid="0" snapToObjects="1">
      <p:cViewPr varScale="1">
        <p:scale>
          <a:sx n="79" d="100"/>
          <a:sy n="79" d="100"/>
        </p:scale>
        <p:origin x="12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84D690-4374-C247-A0E8-AF66082E0C44}" type="datetimeFigureOut">
              <a:rPr lang="en-AU" smtClean="0"/>
              <a:t>23/02/2025</a:t>
            </a:fld>
            <a:endParaRPr lang="en-AU"/>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AU"/>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69537B-D83B-914F-8020-FB860BBD1AD4}" type="slidenum">
              <a:rPr lang="en-AU" smtClean="0"/>
              <a:t>‹#›</a:t>
            </a:fld>
            <a:endParaRPr lang="en-AU"/>
          </a:p>
        </p:txBody>
      </p:sp>
    </p:spTree>
    <p:extLst>
      <p:ext uri="{BB962C8B-B14F-4D97-AF65-F5344CB8AC3E}">
        <p14:creationId xmlns:p14="http://schemas.microsoft.com/office/powerpoint/2010/main" val="517607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DE9D7D0-7EF9-764C-B09F-8386B5E2699F}" type="datetimeFigureOut">
              <a:rPr lang="en-AU" smtClean="0"/>
              <a:t>23/02/2025</a:t>
            </a:fld>
            <a:endParaRPr lang="en-AU"/>
          </a:p>
        </p:txBody>
      </p:sp>
      <p:sp>
        <p:nvSpPr>
          <p:cNvPr id="5" name="Footer Placeholder 4"/>
          <p:cNvSpPr>
            <a:spLocks noGrp="1"/>
          </p:cNvSpPr>
          <p:nvPr>
            <p:ph type="ftr" sz="quarter" idx="11"/>
          </p:nvPr>
        </p:nvSpPr>
        <p:spPr>
          <a:xfrm>
            <a:off x="2692397" y="5037663"/>
            <a:ext cx="5214635" cy="279400"/>
          </a:xfrm>
        </p:spPr>
        <p:txBody>
          <a:bodyPr/>
          <a:lstStyle/>
          <a:p>
            <a:endParaRPr lang="en-AU"/>
          </a:p>
        </p:txBody>
      </p:sp>
      <p:sp>
        <p:nvSpPr>
          <p:cNvPr id="6" name="Slide Number Placeholder 5"/>
          <p:cNvSpPr>
            <a:spLocks noGrp="1"/>
          </p:cNvSpPr>
          <p:nvPr>
            <p:ph type="sldNum" sz="quarter" idx="12"/>
          </p:nvPr>
        </p:nvSpPr>
        <p:spPr>
          <a:xfrm>
            <a:off x="8956900" y="5037663"/>
            <a:ext cx="551167" cy="279400"/>
          </a:xfrm>
        </p:spPr>
        <p:txBody>
          <a:bodyPr/>
          <a:lstStyle/>
          <a:p>
            <a:fld id="{BB9C53C8-D80C-9241-87E4-A1E3C25A1C09}" type="slidenum">
              <a:rPr lang="en-AU" smtClean="0"/>
              <a:t>‹#›</a:t>
            </a:fld>
            <a:endParaRPr lang="en-AU"/>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9526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E9D7D0-7EF9-764C-B09F-8386B5E2699F}" type="datetimeFigureOut">
              <a:rPr lang="en-AU" smtClean="0"/>
              <a:t>23/02/2025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t>‹#›</a:t>
            </a:fld>
            <a:endParaRPr lang="en-AU"/>
          </a:p>
        </p:txBody>
      </p:sp>
    </p:spTree>
    <p:extLst>
      <p:ext uri="{BB962C8B-B14F-4D97-AF65-F5344CB8AC3E}">
        <p14:creationId xmlns:p14="http://schemas.microsoft.com/office/powerpoint/2010/main" val="3518969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E9D7D0-7EF9-764C-B09F-8386B5E2699F}" type="datetimeFigureOut">
              <a:rPr lang="en-AU" smtClean="0"/>
              <a:t>23/02/2025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t>‹#›</a:t>
            </a:fld>
            <a:endParaRPr lang="en-AU"/>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390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E9D7D0-7EF9-764C-B09F-8386B5E2699F}" type="datetimeFigureOut">
              <a:rPr lang="en-AU" smtClean="0"/>
              <a:t>23/02/2025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B9C53C8-D80C-9241-87E4-A1E3C25A1C09}" type="slidenum">
              <a:rPr lang="en-AU" smtClean="0"/>
              <a:t>‹#›</a:t>
            </a:fld>
            <a:endParaRPr lang="en-AU"/>
          </a:p>
        </p:txBody>
      </p:sp>
    </p:spTree>
    <p:extLst>
      <p:ext uri="{BB962C8B-B14F-4D97-AF65-F5344CB8AC3E}">
        <p14:creationId xmlns:p14="http://schemas.microsoft.com/office/powerpoint/2010/main" val="378110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E9D7D0-7EF9-764C-B09F-8386B5E2699F}" type="datetimeFigureOut">
              <a:rPr lang="en-AU" smtClean="0"/>
              <a:t>23/02/2025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B9C53C8-D80C-9241-87E4-A1E3C25A1C09}" type="slidenum">
              <a:rPr lang="en-AU" smtClean="0"/>
              <a:t>‹#›</a:t>
            </a:fld>
            <a:endParaRPr lang="en-AU"/>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9717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E9D7D0-7EF9-764C-B09F-8386B5E2699F}" type="datetimeFigureOut">
              <a:rPr lang="en-AU" smtClean="0"/>
              <a:t>23/02/2025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B9C53C8-D80C-9241-87E4-A1E3C25A1C09}" type="slidenum">
              <a:rPr lang="en-AU" smtClean="0"/>
              <a:t>‹#›</a:t>
            </a:fld>
            <a:endParaRPr lang="en-A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1126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E9D7D0-7EF9-764C-B09F-8386B5E2699F}" type="datetimeFigureOut">
              <a:rPr lang="en-AU" smtClean="0"/>
              <a:t>23/02/2025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B9C53C8-D80C-9241-87E4-A1E3C25A1C09}" type="slidenum">
              <a:rPr lang="en-AU" smtClean="0"/>
              <a:t>‹#›</a:t>
            </a:fld>
            <a:endParaRPr lang="en-AU"/>
          </a:p>
        </p:txBody>
      </p:sp>
    </p:spTree>
    <p:extLst>
      <p:ext uri="{BB962C8B-B14F-4D97-AF65-F5344CB8AC3E}">
        <p14:creationId xmlns:p14="http://schemas.microsoft.com/office/powerpoint/2010/main" val="873335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E9D7D0-7EF9-764C-B09F-8386B5E2699F}" type="datetimeFigureOut">
              <a:rPr lang="en-AU" smtClean="0"/>
              <a:t>23/02/2025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B9C53C8-D80C-9241-87E4-A1E3C25A1C09}" type="slidenum">
              <a:rPr lang="en-AU" smtClean="0"/>
              <a:t>‹#›</a:t>
            </a:fld>
            <a:endParaRPr lang="en-AU"/>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6228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E9D7D0-7EF9-764C-B09F-8386B5E2699F}" type="datetimeFigureOut">
              <a:rPr lang="en-AU" smtClean="0"/>
              <a:t>23/02/2025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B9C53C8-D80C-9241-87E4-A1E3C25A1C09}" type="slidenum">
              <a:rPr lang="en-AU" smtClean="0"/>
              <a:t>‹#›</a:t>
            </a:fld>
            <a:endParaRPr lang="en-AU"/>
          </a:p>
        </p:txBody>
      </p:sp>
    </p:spTree>
    <p:extLst>
      <p:ext uri="{BB962C8B-B14F-4D97-AF65-F5344CB8AC3E}">
        <p14:creationId xmlns:p14="http://schemas.microsoft.com/office/powerpoint/2010/main" val="3434025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E9D7D0-7EF9-764C-B09F-8386B5E2699F}" type="datetimeFigureOut">
              <a:rPr lang="en-AU" smtClean="0"/>
              <a:t>23/02/2025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B9C53C8-D80C-9241-87E4-A1E3C25A1C09}" type="slidenum">
              <a:rPr lang="en-AU" smtClean="0"/>
              <a:t>‹#›</a:t>
            </a:fld>
            <a:endParaRPr lang="en-AU"/>
          </a:p>
        </p:txBody>
      </p:sp>
    </p:spTree>
    <p:extLst>
      <p:ext uri="{BB962C8B-B14F-4D97-AF65-F5344CB8AC3E}">
        <p14:creationId xmlns:p14="http://schemas.microsoft.com/office/powerpoint/2010/main" val="4271272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E9D7D0-7EF9-764C-B09F-8386B5E2699F}" type="datetimeFigureOut">
              <a:rPr lang="en-AU" smtClean="0"/>
              <a:t>23/02/2025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t>‹#›</a:t>
            </a:fld>
            <a:endParaRPr lang="en-AU"/>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54191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E9D7D0-7EF9-764C-B09F-8386B5E2699F}" type="datetimeFigureOut">
              <a:rPr lang="en-AU" smtClean="0"/>
              <a:t>23/02/2025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t>‹#›</a:t>
            </a:fld>
            <a:endParaRPr lang="en-AU"/>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99532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E9D7D0-7EF9-764C-B09F-8386B5E2699F}" type="datetimeFigureOut">
              <a:rPr lang="en-AU" smtClean="0"/>
              <a:t>23/02/2025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t>‹#›</a:t>
            </a:fld>
            <a:endParaRPr lang="en-AU"/>
          </a:p>
        </p:txBody>
      </p:sp>
    </p:spTree>
    <p:extLst>
      <p:ext uri="{BB962C8B-B14F-4D97-AF65-F5344CB8AC3E}">
        <p14:creationId xmlns:p14="http://schemas.microsoft.com/office/powerpoint/2010/main" val="405215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E9D7D0-7EF9-764C-B09F-8386B5E2699F}" type="datetimeFigureOut">
              <a:rPr lang="en-AU" smtClean="0"/>
              <a:t>23/02/2025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t>‹#›</a:t>
            </a:fld>
            <a:endParaRPr lang="en-AU"/>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79555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E9D7D0-7EF9-764C-B09F-8386B5E2699F}" type="datetimeFigureOut">
              <a:rPr lang="en-AU" smtClean="0"/>
              <a:t>23/02/2025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t>‹#›</a:t>
            </a:fld>
            <a:endParaRPr lang="en-AU"/>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7874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E9D7D0-7EF9-764C-B09F-8386B5E2699F}" type="datetimeFigureOut">
              <a:rPr lang="en-AU" smtClean="0"/>
              <a:t>23/02/2025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t>‹#›</a:t>
            </a:fld>
            <a:endParaRPr lang="en-A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74068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E9D7D0-7EF9-764C-B09F-8386B5E2699F}" type="datetimeFigureOut">
              <a:rPr lang="en-AU" smtClean="0"/>
              <a:t>23/02/2025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9C53C8-D80C-9241-87E4-A1E3C25A1C09}" type="slidenum">
              <a:rPr lang="en-AU" smtClean="0"/>
              <a:t>‹#›</a:t>
            </a:fld>
            <a:endParaRPr lang="en-AU"/>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1031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E9D7D0-7EF9-764C-B09F-8386B5E2699F}" type="datetimeFigureOut">
              <a:rPr lang="en-AU" smtClean="0"/>
              <a:t>23/02/2025</a:t>
            </a:fld>
            <a:endParaRPr lang="en-AU"/>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B9C53C8-D80C-9241-87E4-A1E3C25A1C09}" type="slidenum">
              <a:rPr lang="en-AU" smtClean="0"/>
              <a:t>‹#›</a:t>
            </a:fld>
            <a:endParaRPr lang="en-AU"/>
          </a:p>
        </p:txBody>
      </p:sp>
    </p:spTree>
    <p:extLst>
      <p:ext uri="{BB962C8B-B14F-4D97-AF65-F5344CB8AC3E}">
        <p14:creationId xmlns:p14="http://schemas.microsoft.com/office/powerpoint/2010/main" val="268804543"/>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admin.altairone.com/register" TargetMode="External"/><Relationship Id="rId2" Type="http://schemas.openxmlformats.org/officeDocument/2006/relationships/hyperlink" Target="https://my.rapidminer.com/nexus/account/index.html#download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online.hbs.edu/blog/post/prescriptive-analytic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learn.microsoft.com/en-us/credentials/certifications/data-analyst-associate/?practice-assessment-type=certification" TargetMode="External"/><Relationship Id="rId2" Type="http://schemas.openxmlformats.org/officeDocument/2006/relationships/hyperlink" Target="https://academy.rapidminer.com/pages/certification" TargetMode="External"/><Relationship Id="rId1" Type="http://schemas.openxmlformats.org/officeDocument/2006/relationships/slideLayout" Target="../slideLayouts/slideLayout2.xml"/><Relationship Id="rId6" Type="http://schemas.openxmlformats.org/officeDocument/2006/relationships/hyperlink" Target="https://www.youtube.com/watch?app=desktop&amp;v=X_bHxrgaqas" TargetMode="External"/><Relationship Id="rId5" Type="http://schemas.openxmlformats.org/officeDocument/2006/relationships/hyperlink" Target="https://www.coursera.org/professional-certificates/google-data-analytics" TargetMode="External"/><Relationship Id="rId4" Type="http://schemas.openxmlformats.org/officeDocument/2006/relationships/hyperlink" Target="https://www.coursera.org/professional-certificates/microsoft-power-bi-data-analys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academy.rapidminer.com/learn/video/importing-data-in-rapidminer-studio" TargetMode="External"/><Relationship Id="rId2" Type="http://schemas.openxmlformats.org/officeDocument/2006/relationships/hyperlink" Target="https://www.youtube.com/watch?v=pzvT6Z_b6MA" TargetMode="External"/><Relationship Id="rId1" Type="http://schemas.openxmlformats.org/officeDocument/2006/relationships/slideLayout" Target="../slideLayouts/slideLayout2.xml"/><Relationship Id="rId5" Type="http://schemas.openxmlformats.org/officeDocument/2006/relationships/hyperlink" Target="https://academy.rapidminer.com/learn/video/auto-model-clustering-outliers" TargetMode="External"/><Relationship Id="rId4" Type="http://schemas.openxmlformats.org/officeDocument/2006/relationships/hyperlink" Target="https://academy.rapidminer.com/learn/video/turbo-prep-data-cleans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BBFCA9-33B3-1540-904F-A1E7F6D079F4}"/>
              </a:ext>
            </a:extLst>
          </p:cNvPr>
          <p:cNvSpPr>
            <a:spLocks noGrp="1"/>
          </p:cNvSpPr>
          <p:nvPr>
            <p:ph type="ctrTitle"/>
          </p:nvPr>
        </p:nvSpPr>
        <p:spPr>
          <a:xfrm>
            <a:off x="2589211" y="1729590"/>
            <a:ext cx="8915399" cy="2262781"/>
          </a:xfrm>
        </p:spPr>
        <p:txBody>
          <a:bodyPr>
            <a:normAutofit/>
          </a:bodyPr>
          <a:lstStyle/>
          <a:p>
            <a:r>
              <a:rPr lang="en-US" altLang="zh-CN" sz="4000" b="1" dirty="0">
                <a:latin typeface="Arial" panose="020B0604020202020204" pitchFamily="34" charset="0"/>
                <a:cs typeface="Arial" panose="020B0604020202020204" pitchFamily="34" charset="0"/>
              </a:rPr>
              <a:t>AM811001</a:t>
            </a:r>
            <a:r>
              <a:rPr lang="zh-CN" altLang="en-US" sz="4000" b="1" dirty="0">
                <a:latin typeface="Arial" panose="020B0604020202020204" pitchFamily="34" charset="0"/>
                <a:cs typeface="Arial" panose="020B0604020202020204" pitchFamily="34" charset="0"/>
              </a:rPr>
              <a:t> </a:t>
            </a:r>
            <a:r>
              <a:rPr lang="en-US" altLang="zh-CN" sz="4000" b="1" dirty="0">
                <a:latin typeface="Arial" panose="020B0604020202020204" pitchFamily="34" charset="0"/>
                <a:cs typeface="Arial" panose="020B0604020202020204" pitchFamily="34" charset="0"/>
              </a:rPr>
              <a:t>Analytics</a:t>
            </a:r>
            <a:r>
              <a:rPr lang="zh-CN" altLang="en-US" sz="4000" b="1" dirty="0">
                <a:latin typeface="Arial" panose="020B0604020202020204" pitchFamily="34" charset="0"/>
                <a:cs typeface="Arial" panose="020B0604020202020204" pitchFamily="34" charset="0"/>
              </a:rPr>
              <a:t> </a:t>
            </a:r>
            <a:r>
              <a:rPr lang="en-US" altLang="zh-CN" sz="4000" b="1" dirty="0">
                <a:latin typeface="Arial" panose="020B0604020202020204" pitchFamily="34" charset="0"/>
                <a:cs typeface="Arial" panose="020B0604020202020204" pitchFamily="34" charset="0"/>
              </a:rPr>
              <a:t>for</a:t>
            </a:r>
            <a:r>
              <a:rPr lang="zh-CN" altLang="en-US" sz="4000" b="1" dirty="0">
                <a:latin typeface="Arial" panose="020B0604020202020204" pitchFamily="34" charset="0"/>
                <a:cs typeface="Arial" panose="020B0604020202020204" pitchFamily="34" charset="0"/>
              </a:rPr>
              <a:t> </a:t>
            </a:r>
            <a:r>
              <a:rPr lang="en-US" altLang="zh-CN" sz="4000" b="1" dirty="0">
                <a:latin typeface="Arial" panose="020B0604020202020204" pitchFamily="34" charset="0"/>
                <a:cs typeface="Arial" panose="020B0604020202020204" pitchFamily="34" charset="0"/>
              </a:rPr>
              <a:t>Managers</a:t>
            </a:r>
            <a:endParaRPr lang="en-AU" sz="4000" dirty="0"/>
          </a:p>
        </p:txBody>
      </p:sp>
      <p:sp>
        <p:nvSpPr>
          <p:cNvPr id="3" name="副标题 2">
            <a:extLst>
              <a:ext uri="{FF2B5EF4-FFF2-40B4-BE49-F238E27FC236}">
                <a16:creationId xmlns:a16="http://schemas.microsoft.com/office/drawing/2014/main" id="{AC93C8EE-593C-F74F-990D-83AA3B6C8156}"/>
              </a:ext>
            </a:extLst>
          </p:cNvPr>
          <p:cNvSpPr>
            <a:spLocks noGrp="1"/>
          </p:cNvSpPr>
          <p:nvPr>
            <p:ph type="subTitle" idx="1"/>
          </p:nvPr>
        </p:nvSpPr>
        <p:spPr>
          <a:xfrm>
            <a:off x="2589211" y="4300484"/>
            <a:ext cx="6759741" cy="1126283"/>
          </a:xfrm>
        </p:spPr>
        <p:txBody>
          <a:bodyPr>
            <a:normAutofit/>
          </a:bodyPr>
          <a:lstStyle/>
          <a:p>
            <a:pPr>
              <a:defRPr/>
            </a:pPr>
            <a:r>
              <a:rPr lang="en-US" altLang="zh-CN" sz="2800" dirty="0">
                <a:solidFill>
                  <a:srgbClr val="FF0000"/>
                </a:solidFill>
                <a:latin typeface="Arial" panose="020B0604020202020204" pitchFamily="34" charset="0"/>
                <a:cs typeface="Arial" panose="020B0604020202020204" pitchFamily="34" charset="0"/>
              </a:rPr>
              <a:t>Week</a:t>
            </a:r>
            <a:r>
              <a:rPr lang="zh-CN" altLang="en-US" sz="2800" dirty="0">
                <a:solidFill>
                  <a:srgbClr val="FF0000"/>
                </a:solidFill>
                <a:latin typeface="Arial" panose="020B0604020202020204" pitchFamily="34" charset="0"/>
                <a:cs typeface="Arial" panose="020B0604020202020204" pitchFamily="34" charset="0"/>
              </a:rPr>
              <a:t> </a:t>
            </a:r>
            <a:r>
              <a:rPr lang="en-US" altLang="zh-CN" sz="2800" dirty="0">
                <a:solidFill>
                  <a:srgbClr val="FF0000"/>
                </a:solidFill>
                <a:latin typeface="Arial" panose="020B0604020202020204" pitchFamily="34" charset="0"/>
                <a:cs typeface="Arial" panose="020B0604020202020204" pitchFamily="34" charset="0"/>
              </a:rPr>
              <a:t>6</a:t>
            </a:r>
            <a:r>
              <a:rPr lang="zh-CN" altLang="en-US" sz="2800" dirty="0">
                <a:solidFill>
                  <a:srgbClr val="FF0000"/>
                </a:solidFill>
                <a:latin typeface="Arial" panose="020B0604020202020204" pitchFamily="34" charset="0"/>
                <a:cs typeface="Arial" panose="020B0604020202020204" pitchFamily="34" charset="0"/>
              </a:rPr>
              <a:t> </a:t>
            </a:r>
            <a:r>
              <a:rPr lang="en-US" altLang="zh-CN" sz="2800" dirty="0">
                <a:solidFill>
                  <a:srgbClr val="FF0000"/>
                </a:solidFill>
                <a:latin typeface="Arial" panose="020B0604020202020204" pitchFamily="34" charset="0"/>
                <a:cs typeface="Arial" panose="020B0604020202020204" pitchFamily="34" charset="0"/>
              </a:rPr>
              <a:t>(Session</a:t>
            </a:r>
            <a:r>
              <a:rPr lang="zh-CN" altLang="en-US" sz="2800" dirty="0">
                <a:solidFill>
                  <a:srgbClr val="FF0000"/>
                </a:solidFill>
                <a:latin typeface="Arial" panose="020B0604020202020204" pitchFamily="34" charset="0"/>
                <a:cs typeface="Arial" panose="020B0604020202020204" pitchFamily="34" charset="0"/>
              </a:rPr>
              <a:t> </a:t>
            </a:r>
            <a:r>
              <a:rPr lang="en-US" altLang="zh-CN" sz="2800" dirty="0">
                <a:solidFill>
                  <a:srgbClr val="FF0000"/>
                </a:solidFill>
                <a:latin typeface="Arial" panose="020B0604020202020204" pitchFamily="34" charset="0"/>
                <a:cs typeface="Arial" panose="020B0604020202020204" pitchFamily="34" charset="0"/>
              </a:rPr>
              <a:t>1):</a:t>
            </a:r>
            <a:r>
              <a:rPr lang="zh-CN" altLang="en-US" sz="2800" dirty="0">
                <a:solidFill>
                  <a:srgbClr val="FF0000"/>
                </a:solidFill>
                <a:latin typeface="Arial" panose="020B0604020202020204" pitchFamily="34" charset="0"/>
                <a:cs typeface="Arial" panose="020B0604020202020204" pitchFamily="34" charset="0"/>
              </a:rPr>
              <a:t> </a:t>
            </a:r>
            <a:r>
              <a:rPr lang="en-US" altLang="zh-CN" sz="2800" dirty="0">
                <a:solidFill>
                  <a:srgbClr val="FF0000"/>
                </a:solidFill>
                <a:latin typeface="Arial" panose="020B0604020202020204" pitchFamily="34" charset="0"/>
                <a:cs typeface="Arial" panose="020B0604020202020204" pitchFamily="34" charset="0"/>
              </a:rPr>
              <a:t>Prescriptive Analytics</a:t>
            </a:r>
          </a:p>
        </p:txBody>
      </p:sp>
      <p:pic>
        <p:nvPicPr>
          <p:cNvPr id="4" name="Picture 2" descr="Kia Ora sign art, carved of wood– TroubleMaker.co.nz">
            <a:extLst>
              <a:ext uri="{FF2B5EF4-FFF2-40B4-BE49-F238E27FC236}">
                <a16:creationId xmlns:a16="http://schemas.microsoft.com/office/drawing/2014/main" id="{E296C797-36E8-8A6C-9D11-E50BE7DF94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8976" y="1350200"/>
            <a:ext cx="3314048" cy="186415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B15276D-CCFE-7EB1-A46B-F652BF321D2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3841" y="526354"/>
            <a:ext cx="4914411" cy="545017"/>
          </a:xfrm>
          <a:prstGeom prst="rect">
            <a:avLst/>
          </a:prstGeom>
          <a:noFill/>
          <a:ln>
            <a:noFill/>
          </a:ln>
        </p:spPr>
      </p:pic>
    </p:spTree>
    <p:extLst>
      <p:ext uri="{BB962C8B-B14F-4D97-AF65-F5344CB8AC3E}">
        <p14:creationId xmlns:p14="http://schemas.microsoft.com/office/powerpoint/2010/main" val="1541530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79BD8D-AEB5-5266-9D56-941A9FAB7A58}"/>
              </a:ext>
            </a:extLst>
          </p:cNvPr>
          <p:cNvSpPr>
            <a:spLocks noGrp="1"/>
          </p:cNvSpPr>
          <p:nvPr>
            <p:ph type="title"/>
          </p:nvPr>
        </p:nvSpPr>
        <p:spPr/>
        <p:txBody>
          <a:bodyPr/>
          <a:lstStyle/>
          <a:p>
            <a:r>
              <a:rPr lang="en-AU" b="1" dirty="0">
                <a:latin typeface="Arial" panose="020B0604020202020204" pitchFamily="34" charset="0"/>
                <a:cs typeface="Arial" panose="020B0604020202020204" pitchFamily="34" charset="0"/>
              </a:rPr>
              <a:t>RapidMiner</a:t>
            </a:r>
          </a:p>
        </p:txBody>
      </p:sp>
      <p:sp>
        <p:nvSpPr>
          <p:cNvPr id="3" name="内容占位符 2">
            <a:extLst>
              <a:ext uri="{FF2B5EF4-FFF2-40B4-BE49-F238E27FC236}">
                <a16:creationId xmlns:a16="http://schemas.microsoft.com/office/drawing/2014/main" id="{D99337F9-543D-8D47-DFCD-160977FD008B}"/>
              </a:ext>
            </a:extLst>
          </p:cNvPr>
          <p:cNvSpPr>
            <a:spLocks noGrp="1"/>
          </p:cNvSpPr>
          <p:nvPr>
            <p:ph idx="1"/>
          </p:nvPr>
        </p:nvSpPr>
        <p:spPr/>
        <p:txBody>
          <a:bodyPr/>
          <a:lstStyle/>
          <a:p>
            <a:pPr marL="0" indent="0" rtl="0">
              <a:buNone/>
            </a:pPr>
            <a:r>
              <a:rPr lang="en-NZ" altLang="zh-CN" b="1" dirty="0">
                <a:latin typeface="Arial" panose="020B0604020202020204" pitchFamily="34" charset="0"/>
                <a:cs typeface="Arial" panose="020B0604020202020204" pitchFamily="34" charset="0"/>
              </a:rPr>
              <a:t>Download RapidMiner:</a:t>
            </a:r>
            <a:r>
              <a:rPr lang="en-NZ" altLang="zh-CN" dirty="0">
                <a:latin typeface="Arial" panose="020B0604020202020204" pitchFamily="34" charset="0"/>
                <a:cs typeface="Arial" panose="020B0604020202020204" pitchFamily="34" charset="0"/>
              </a:rPr>
              <a:t> </a:t>
            </a:r>
            <a:r>
              <a:rPr lang="en-NZ" altLang="zh-CN" dirty="0">
                <a:solidFill>
                  <a:srgbClr val="29C010"/>
                </a:solidFill>
                <a:latin typeface="Arial" panose="020B0604020202020204" pitchFamily="34" charset="0"/>
                <a:cs typeface="Arial" panose="020B0604020202020204" pitchFamily="34" charset="0"/>
                <a:hlinkClick r:id="rId2" tooltip="https://my.rapidminer.com/nexus/account/index.html#downloads">
                  <a:extLst>
                    <a:ext uri="{A12FA001-AC4F-418D-AE19-62706E023703}">
                      <ahyp:hlinkClr xmlns:ahyp="http://schemas.microsoft.com/office/drawing/2018/hyperlinkcolor" val="tx"/>
                    </a:ext>
                  </a:extLst>
                </a:hlinkClick>
              </a:rPr>
              <a:t>https://my.rapidminer.com/nexus/account/index.html#downloads</a:t>
            </a:r>
            <a:endParaRPr lang="en-NZ" altLang="zh-CN" dirty="0">
              <a:solidFill>
                <a:srgbClr val="29C010"/>
              </a:solidFill>
              <a:latin typeface="Arial" panose="020B0604020202020204" pitchFamily="34" charset="0"/>
              <a:cs typeface="Arial" panose="020B0604020202020204" pitchFamily="34" charset="0"/>
            </a:endParaRPr>
          </a:p>
          <a:p>
            <a:pPr marL="0" indent="0" rtl="0">
              <a:buNone/>
            </a:pPr>
            <a:r>
              <a:rPr lang="en-NZ" altLang="zh-CN" b="1" dirty="0">
                <a:latin typeface="Arial" panose="020B0604020202020204" pitchFamily="34" charset="0"/>
                <a:cs typeface="Arial" panose="020B0604020202020204" pitchFamily="34" charset="0"/>
              </a:rPr>
              <a:t>Register and apply for the student programme:</a:t>
            </a:r>
            <a:r>
              <a:rPr lang="en-NZ" altLang="zh-CN" dirty="0">
                <a:latin typeface="Arial" panose="020B0604020202020204" pitchFamily="34" charset="0"/>
                <a:cs typeface="Arial" panose="020B0604020202020204" pitchFamily="34" charset="0"/>
              </a:rPr>
              <a:t> </a:t>
            </a:r>
            <a:r>
              <a:rPr lang="en-NZ" altLang="zh-CN" dirty="0">
                <a:solidFill>
                  <a:srgbClr val="29C010"/>
                </a:solidFill>
                <a:latin typeface="Arial" panose="020B0604020202020204" pitchFamily="34" charset="0"/>
                <a:cs typeface="Arial" panose="020B0604020202020204" pitchFamily="34" charset="0"/>
                <a:hlinkClick r:id="rId3" tooltip="https://admin.altairone.com/register">
                  <a:extLst>
                    <a:ext uri="{A12FA001-AC4F-418D-AE19-62706E023703}">
                      <ahyp:hlinkClr xmlns:ahyp="http://schemas.microsoft.com/office/drawing/2018/hyperlinkcolor" val="tx"/>
                    </a:ext>
                  </a:extLst>
                </a:hlinkClick>
              </a:rPr>
              <a:t>https://admin.altairone.com/register</a:t>
            </a:r>
            <a:endParaRPr lang="en-NZ" altLang="zh-CN" dirty="0">
              <a:solidFill>
                <a:srgbClr val="29C010"/>
              </a:solidFill>
              <a:latin typeface="Arial" panose="020B0604020202020204" pitchFamily="34" charset="0"/>
              <a:cs typeface="Arial" panose="020B0604020202020204" pitchFamily="34" charset="0"/>
            </a:endParaRP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074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360349-887A-9C27-6CAF-984B0500EADE}"/>
              </a:ext>
            </a:extLst>
          </p:cNvPr>
          <p:cNvSpPr>
            <a:spLocks noGrp="1"/>
          </p:cNvSpPr>
          <p:nvPr>
            <p:ph type="title"/>
          </p:nvPr>
        </p:nvSpPr>
        <p:spPr/>
        <p:txBody>
          <a:bodyPr/>
          <a:lstStyle/>
          <a:p>
            <a:r>
              <a:rPr lang="en-AU" b="1" dirty="0">
                <a:latin typeface="Arial" panose="020B0604020202020204" pitchFamily="34" charset="0"/>
                <a:cs typeface="Arial" panose="020B0604020202020204" pitchFamily="34" charset="0"/>
              </a:rPr>
              <a:t>What </a:t>
            </a:r>
            <a:r>
              <a:rPr lang="en-US" altLang="zh-CN" b="1" dirty="0" err="1">
                <a:latin typeface="Arial" panose="020B0604020202020204" pitchFamily="34" charset="0"/>
                <a:cs typeface="Arial" panose="020B0604020202020204" pitchFamily="34" charset="0"/>
              </a:rPr>
              <a:t>i</a:t>
            </a:r>
            <a:r>
              <a:rPr lang="en-AU" b="1" dirty="0">
                <a:latin typeface="Arial" panose="020B0604020202020204" pitchFamily="34" charset="0"/>
                <a:cs typeface="Arial" panose="020B0604020202020204" pitchFamily="34" charset="0"/>
              </a:rPr>
              <a:t>s Prescriptive Analytics?</a:t>
            </a:r>
          </a:p>
        </p:txBody>
      </p:sp>
      <p:sp>
        <p:nvSpPr>
          <p:cNvPr id="3" name="内容占位符 2">
            <a:extLst>
              <a:ext uri="{FF2B5EF4-FFF2-40B4-BE49-F238E27FC236}">
                <a16:creationId xmlns:a16="http://schemas.microsoft.com/office/drawing/2014/main" id="{2BD6A55E-CB1B-EEEE-1B11-3A62662EAD8F}"/>
              </a:ext>
            </a:extLst>
          </p:cNvPr>
          <p:cNvSpPr>
            <a:spLocks noGrp="1"/>
          </p:cNvSpPr>
          <p:nvPr>
            <p:ph idx="1"/>
          </p:nvPr>
        </p:nvSpPr>
        <p:spPr/>
        <p:txBody>
          <a:bodyPr>
            <a:normAutofit fontScale="92500" lnSpcReduction="20000"/>
          </a:bodyPr>
          <a:lstStyle/>
          <a:p>
            <a:r>
              <a:rPr lang="en-AU" b="1" dirty="0">
                <a:solidFill>
                  <a:srgbClr val="FF0000"/>
                </a:solidFill>
                <a:latin typeface="Arial" panose="020B0604020202020204" pitchFamily="34" charset="0"/>
                <a:cs typeface="Arial" panose="020B0604020202020204" pitchFamily="34" charset="0"/>
              </a:rPr>
              <a:t>Prescriptive analytics </a:t>
            </a:r>
            <a:r>
              <a:rPr lang="en-AU" dirty="0">
                <a:solidFill>
                  <a:schemeClr val="tx1"/>
                </a:solidFill>
                <a:latin typeface="Arial" panose="020B0604020202020204" pitchFamily="34" charset="0"/>
                <a:cs typeface="Arial" panose="020B0604020202020204" pitchFamily="34" charset="0"/>
              </a:rPr>
              <a:t>is the process of using data to determine an optimal course of action. By considering all relevant factors, this type of analysis yields recommendations for next steps. Because of this, prescriptive analytics is a valuable tool for data-driven decision-making</a:t>
            </a:r>
            <a:r>
              <a:rPr lang="zh-CN" altLang="en-US" dirty="0">
                <a:solidFill>
                  <a:schemeClr val="tx1"/>
                </a:solidFill>
                <a:latin typeface="Arial" panose="020B0604020202020204" pitchFamily="34" charset="0"/>
                <a:cs typeface="Arial" panose="020B0604020202020204" pitchFamily="34" charset="0"/>
              </a:rPr>
              <a:t> </a:t>
            </a:r>
            <a:r>
              <a:rPr lang="en-US" altLang="zh-CN" dirty="0">
                <a:solidFill>
                  <a:schemeClr val="tx1"/>
                </a:solidFill>
                <a:latin typeface="Arial" panose="020B0604020202020204" pitchFamily="34" charset="0"/>
                <a:cs typeface="Arial" panose="020B0604020202020204" pitchFamily="34" charset="0"/>
              </a:rPr>
              <a:t>(Cote,</a:t>
            </a:r>
            <a:r>
              <a:rPr lang="zh-CN" altLang="en-US" dirty="0">
                <a:solidFill>
                  <a:schemeClr val="tx1"/>
                </a:solidFill>
                <a:latin typeface="Arial" panose="020B0604020202020204" pitchFamily="34" charset="0"/>
                <a:cs typeface="Arial" panose="020B0604020202020204" pitchFamily="34" charset="0"/>
              </a:rPr>
              <a:t> </a:t>
            </a:r>
            <a:r>
              <a:rPr lang="en-US" altLang="zh-CN" dirty="0">
                <a:solidFill>
                  <a:schemeClr val="tx1"/>
                </a:solidFill>
                <a:latin typeface="Arial" panose="020B0604020202020204" pitchFamily="34" charset="0"/>
                <a:cs typeface="Arial" panose="020B0604020202020204" pitchFamily="34" charset="0"/>
              </a:rPr>
              <a:t>2021)</a:t>
            </a:r>
            <a:r>
              <a:rPr lang="en-AU" dirty="0">
                <a:solidFill>
                  <a:schemeClr val="tx1"/>
                </a:solidFill>
                <a:latin typeface="Arial" panose="020B0604020202020204" pitchFamily="34" charset="0"/>
                <a:cs typeface="Arial" panose="020B0604020202020204" pitchFamily="34" charset="0"/>
              </a:rPr>
              <a:t>.</a:t>
            </a:r>
          </a:p>
          <a:p>
            <a:r>
              <a:rPr lang="en-AU" b="1" dirty="0">
                <a:solidFill>
                  <a:srgbClr val="FF0000"/>
                </a:solidFill>
                <a:latin typeface="Arial" panose="020B0604020202020204" pitchFamily="34" charset="0"/>
                <a:cs typeface="Arial" panose="020B0604020202020204" pitchFamily="34" charset="0"/>
              </a:rPr>
              <a:t>Machine-learning algorithms </a:t>
            </a:r>
            <a:r>
              <a:rPr lang="en-AU" dirty="0">
                <a:solidFill>
                  <a:schemeClr val="tx1"/>
                </a:solidFill>
                <a:latin typeface="Arial" panose="020B0604020202020204" pitchFamily="34" charset="0"/>
                <a:cs typeface="Arial" panose="020B0604020202020204" pitchFamily="34" charset="0"/>
              </a:rPr>
              <a:t>are often used in prescriptive analytics to parse through large amounts of data faster—and often more efficiently—than humans can</a:t>
            </a:r>
            <a:r>
              <a:rPr lang="zh-CN" altLang="en-US" dirty="0">
                <a:solidFill>
                  <a:schemeClr val="tx1"/>
                </a:solidFill>
                <a:latin typeface="Arial" panose="020B0604020202020204" pitchFamily="34" charset="0"/>
                <a:cs typeface="Arial" panose="020B0604020202020204" pitchFamily="34" charset="0"/>
              </a:rPr>
              <a:t> </a:t>
            </a:r>
            <a:r>
              <a:rPr lang="en-US" altLang="zh-CN" dirty="0">
                <a:solidFill>
                  <a:schemeClr val="tx1"/>
                </a:solidFill>
                <a:latin typeface="Arial" panose="020B0604020202020204" pitchFamily="34" charset="0"/>
                <a:cs typeface="Arial" panose="020B0604020202020204" pitchFamily="34" charset="0"/>
              </a:rPr>
              <a:t>(Cote,</a:t>
            </a:r>
            <a:r>
              <a:rPr lang="zh-CN" altLang="en-US" dirty="0">
                <a:solidFill>
                  <a:schemeClr val="tx1"/>
                </a:solidFill>
                <a:latin typeface="Arial" panose="020B0604020202020204" pitchFamily="34" charset="0"/>
                <a:cs typeface="Arial" panose="020B0604020202020204" pitchFamily="34" charset="0"/>
              </a:rPr>
              <a:t> </a:t>
            </a:r>
            <a:r>
              <a:rPr lang="en-US" altLang="zh-CN" dirty="0">
                <a:solidFill>
                  <a:schemeClr val="tx1"/>
                </a:solidFill>
                <a:latin typeface="Arial" panose="020B0604020202020204" pitchFamily="34" charset="0"/>
                <a:cs typeface="Arial" panose="020B0604020202020204" pitchFamily="34" charset="0"/>
              </a:rPr>
              <a:t>2021)</a:t>
            </a:r>
            <a:r>
              <a:rPr lang="en-AU" dirty="0">
                <a:solidFill>
                  <a:schemeClr val="tx1"/>
                </a:solidFill>
                <a:latin typeface="Arial" panose="020B0604020202020204" pitchFamily="34" charset="0"/>
                <a:cs typeface="Arial" panose="020B0604020202020204" pitchFamily="34" charset="0"/>
              </a:rPr>
              <a:t>.</a:t>
            </a:r>
          </a:p>
          <a:p>
            <a:endParaRPr lang="en-AU" dirty="0">
              <a:solidFill>
                <a:schemeClr val="tx1"/>
              </a:solidFill>
              <a:latin typeface="Arial" panose="020B0604020202020204" pitchFamily="34" charset="0"/>
              <a:cs typeface="Arial" panose="020B0604020202020204" pitchFamily="34" charset="0"/>
            </a:endParaRPr>
          </a:p>
          <a:p>
            <a:r>
              <a:rPr lang="en-US" altLang="zh-CN" b="1" dirty="0">
                <a:solidFill>
                  <a:schemeClr val="tx1"/>
                </a:solidFill>
                <a:latin typeface="Arial" panose="020B0604020202020204" pitchFamily="34" charset="0"/>
                <a:cs typeface="Arial" panose="020B0604020202020204" pitchFamily="34" charset="0"/>
              </a:rPr>
              <a:t>Reference:</a:t>
            </a:r>
            <a:r>
              <a:rPr lang="zh-CN" altLang="en-US" b="1" dirty="0">
                <a:solidFill>
                  <a:schemeClr val="tx1"/>
                </a:solidFill>
                <a:latin typeface="Arial" panose="020B0604020202020204" pitchFamily="34" charset="0"/>
                <a:cs typeface="Arial" panose="020B0604020202020204" pitchFamily="34" charset="0"/>
              </a:rPr>
              <a:t> </a:t>
            </a:r>
            <a:r>
              <a:rPr lang="en-AU" dirty="0">
                <a:solidFill>
                  <a:srgbClr val="29C010"/>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https://online.hbs.edu/blog/post/prescriptive-analytics</a:t>
            </a:r>
            <a:r>
              <a:rPr lang="zh-CN" altLang="en-US" dirty="0">
                <a:solidFill>
                  <a:srgbClr val="29C010"/>
                </a:solidFill>
                <a:latin typeface="Arial" panose="020B0604020202020204" pitchFamily="34" charset="0"/>
                <a:cs typeface="Arial" panose="020B0604020202020204" pitchFamily="34" charset="0"/>
              </a:rPr>
              <a:t>  </a:t>
            </a:r>
            <a:endParaRPr lang="en-AU" dirty="0">
              <a:solidFill>
                <a:srgbClr val="29C01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1905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AA7A5-79F9-0009-FE13-F6309981E62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B741F6-4C44-77AB-DC64-151D60B20B9B}"/>
              </a:ext>
            </a:extLst>
          </p:cNvPr>
          <p:cNvSpPr>
            <a:spLocks noGrp="1"/>
          </p:cNvSpPr>
          <p:nvPr>
            <p:ph type="title"/>
          </p:nvPr>
        </p:nvSpPr>
        <p:spPr>
          <a:xfrm>
            <a:off x="1443892" y="782371"/>
            <a:ext cx="9304214" cy="1244447"/>
          </a:xfrm>
        </p:spPr>
        <p:txBody>
          <a:bodyPr>
            <a:normAutofit fontScale="90000"/>
          </a:bodyPr>
          <a:lstStyle/>
          <a:p>
            <a:r>
              <a:rPr lang="en-US" altLang="zh-CN" b="1" dirty="0">
                <a:latin typeface="Arial" panose="020B0604020202020204" pitchFamily="34" charset="0"/>
                <a:cs typeface="Arial" panose="020B0604020202020204" pitchFamily="34" charset="0"/>
              </a:rPr>
              <a:t>In-class</a:t>
            </a:r>
            <a:r>
              <a:rPr lang="zh-CN" altLang="en-US" b="1" dirty="0">
                <a:latin typeface="Arial" panose="020B0604020202020204" pitchFamily="34" charset="0"/>
                <a:cs typeface="Arial" panose="020B0604020202020204" pitchFamily="34" charset="0"/>
              </a:rPr>
              <a:t> </a:t>
            </a:r>
            <a:r>
              <a:rPr lang="en-US" altLang="zh-CN" b="1" dirty="0">
                <a:latin typeface="Arial" panose="020B0604020202020204" pitchFamily="34" charset="0"/>
                <a:cs typeface="Arial" panose="020B0604020202020204" pitchFamily="34" charset="0"/>
              </a:rPr>
              <a:t>demonstration</a:t>
            </a:r>
            <a:r>
              <a:rPr lang="zh-CN" altLang="en-US" b="1" dirty="0">
                <a:latin typeface="Arial" panose="020B0604020202020204" pitchFamily="34" charset="0"/>
                <a:cs typeface="Arial" panose="020B0604020202020204" pitchFamily="34" charset="0"/>
              </a:rPr>
              <a:t> </a:t>
            </a:r>
            <a:r>
              <a:rPr lang="en-US" altLang="zh-CN" b="1" dirty="0">
                <a:latin typeface="Arial" panose="020B0604020202020204" pitchFamily="34" charset="0"/>
                <a:cs typeface="Arial" panose="020B0604020202020204" pitchFamily="34" charset="0"/>
              </a:rPr>
              <a:t>and</a:t>
            </a:r>
            <a:r>
              <a:rPr lang="zh-CN" altLang="en-US" b="1" dirty="0">
                <a:latin typeface="Arial" panose="020B0604020202020204" pitchFamily="34" charset="0"/>
                <a:cs typeface="Arial" panose="020B0604020202020204" pitchFamily="34" charset="0"/>
              </a:rPr>
              <a:t> </a:t>
            </a:r>
            <a:r>
              <a:rPr lang="en-US" altLang="zh-CN" b="1" dirty="0">
                <a:latin typeface="Arial" panose="020B0604020202020204" pitchFamily="34" charset="0"/>
                <a:cs typeface="Arial" panose="020B0604020202020204" pitchFamily="34" charset="0"/>
              </a:rPr>
              <a:t>individual</a:t>
            </a:r>
            <a:r>
              <a:rPr lang="zh-CN" altLang="en-US" b="1" dirty="0">
                <a:latin typeface="Arial" panose="020B0604020202020204" pitchFamily="34" charset="0"/>
                <a:cs typeface="Arial" panose="020B0604020202020204" pitchFamily="34" charset="0"/>
              </a:rPr>
              <a:t> </a:t>
            </a:r>
            <a:r>
              <a:rPr lang="en-US" altLang="zh-CN" b="1" dirty="0">
                <a:latin typeface="Arial" panose="020B0604020202020204" pitchFamily="34" charset="0"/>
                <a:cs typeface="Arial" panose="020B0604020202020204" pitchFamily="34" charset="0"/>
              </a:rPr>
              <a:t>activity</a:t>
            </a:r>
            <a:endParaRPr lang="en-AU" b="1" dirty="0">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DEA13536-D17B-61B7-579F-11A97F2EC417}"/>
              </a:ext>
            </a:extLst>
          </p:cNvPr>
          <p:cNvSpPr>
            <a:spLocks noGrp="1"/>
          </p:cNvSpPr>
          <p:nvPr>
            <p:ph idx="1"/>
          </p:nvPr>
        </p:nvSpPr>
        <p:spPr/>
        <p:txBody>
          <a:bodyPr>
            <a:normAutofit/>
          </a:bodyPr>
          <a:lstStyle/>
          <a:p>
            <a:r>
              <a:rPr lang="en-US" altLang="zh-CN" sz="2800" b="1" dirty="0">
                <a:latin typeface="Arial" panose="020B0604020202020204" pitchFamily="34" charset="0"/>
                <a:cs typeface="Arial" panose="020B0604020202020204" pitchFamily="34" charset="0"/>
              </a:rPr>
              <a:t>Data</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cleaning</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and</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coding</a:t>
            </a:r>
          </a:p>
          <a:p>
            <a:r>
              <a:rPr lang="en-US" altLang="zh-CN" sz="2800" b="1" dirty="0">
                <a:latin typeface="Arial" panose="020B0604020202020204" pitchFamily="34" charset="0"/>
                <a:cs typeface="Arial" panose="020B0604020202020204" pitchFamily="34" charset="0"/>
              </a:rPr>
              <a:t>Import</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data</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in</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RapidMiner</a:t>
            </a:r>
          </a:p>
          <a:p>
            <a:r>
              <a:rPr lang="en-US" altLang="zh-CN" sz="2800" b="1" dirty="0">
                <a:latin typeface="Arial" panose="020B0604020202020204" pitchFamily="34" charset="0"/>
                <a:cs typeface="Arial" panose="020B0604020202020204" pitchFamily="34" charset="0"/>
              </a:rPr>
              <a:t>Conduct</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clustering</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analysis</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(Prescriptive</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analytics)</a:t>
            </a:r>
          </a:p>
          <a:p>
            <a:r>
              <a:rPr lang="en-US" altLang="zh-CN" sz="2800" b="1" dirty="0">
                <a:latin typeface="Arial" panose="020B0604020202020204" pitchFamily="34" charset="0"/>
                <a:cs typeface="Arial" panose="020B0604020202020204" pitchFamily="34" charset="0"/>
              </a:rPr>
              <a:t>Logistic</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regression</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(Predictive</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analytics)</a:t>
            </a:r>
            <a:br>
              <a:rPr lang="en-NZ" altLang="zh-CN" sz="2800" dirty="0"/>
            </a:br>
            <a:endParaRPr lang="en-NZ" altLang="zh-CN" sz="2800" dirty="0"/>
          </a:p>
        </p:txBody>
      </p:sp>
    </p:spTree>
    <p:extLst>
      <p:ext uri="{BB962C8B-B14F-4D97-AF65-F5344CB8AC3E}">
        <p14:creationId xmlns:p14="http://schemas.microsoft.com/office/powerpoint/2010/main" val="1988632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3ED0C-BE67-89D8-EEF5-DB29A23833B2}"/>
              </a:ext>
            </a:extLst>
          </p:cNvPr>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Career</a:t>
            </a:r>
            <a:r>
              <a:rPr lang="zh-CN" altLang="en-US" b="1" dirty="0">
                <a:latin typeface="Arial" panose="020B0604020202020204" pitchFamily="34" charset="0"/>
                <a:cs typeface="Arial" panose="020B0604020202020204" pitchFamily="34" charset="0"/>
              </a:rPr>
              <a:t> </a:t>
            </a:r>
            <a:r>
              <a:rPr lang="en-US" altLang="zh-CN" b="1" dirty="0">
                <a:latin typeface="Arial" panose="020B0604020202020204" pitchFamily="34" charset="0"/>
                <a:cs typeface="Arial" panose="020B0604020202020204" pitchFamily="34" charset="0"/>
              </a:rPr>
              <a:t>Advancement</a:t>
            </a:r>
            <a:endParaRPr lang="en-AU" b="1" dirty="0">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D736CEF4-1915-6451-3E7C-349528F658D1}"/>
              </a:ext>
            </a:extLst>
          </p:cNvPr>
          <p:cNvSpPr>
            <a:spLocks noGrp="1"/>
          </p:cNvSpPr>
          <p:nvPr>
            <p:ph idx="1"/>
          </p:nvPr>
        </p:nvSpPr>
        <p:spPr/>
        <p:txBody>
          <a:bodyPr>
            <a:normAutofit fontScale="70000" lnSpcReduction="20000"/>
          </a:bodyPr>
          <a:lstStyle/>
          <a:p>
            <a:pPr marL="0" indent="0">
              <a:buNone/>
            </a:pPr>
            <a:r>
              <a:rPr lang="en-US" altLang="zh-CN" b="1" dirty="0">
                <a:solidFill>
                  <a:schemeClr val="tx1"/>
                </a:solidFill>
                <a:latin typeface="Arial" panose="020B0604020202020204" pitchFamily="34" charset="0"/>
                <a:cs typeface="Arial" panose="020B0604020202020204" pitchFamily="34" charset="0"/>
              </a:rPr>
              <a:t>Click</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the</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following</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links</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and</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see</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further</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opportunities</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for</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your</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study</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and</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career</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advancement</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a:t>
            </a:r>
            <a:r>
              <a:rPr lang="zh-CN" altLang="en-US" b="1" dirty="0">
                <a:solidFill>
                  <a:schemeClr val="tx1"/>
                </a:solidFill>
                <a:latin typeface="Arial" panose="020B0604020202020204" pitchFamily="34" charset="0"/>
                <a:cs typeface="Arial" panose="020B0604020202020204" pitchFamily="34" charset="0"/>
              </a:rPr>
              <a:t> </a:t>
            </a:r>
            <a:endParaRPr lang="en-US" altLang="zh-CN" b="1" dirty="0">
              <a:solidFill>
                <a:schemeClr val="tx1"/>
              </a:solidFill>
              <a:latin typeface="Arial" panose="020B0604020202020204" pitchFamily="34" charset="0"/>
              <a:cs typeface="Arial" panose="020B0604020202020204" pitchFamily="34" charset="0"/>
            </a:endParaRPr>
          </a:p>
          <a:p>
            <a:r>
              <a:rPr lang="en-NZ" altLang="zh-CN" b="1" dirty="0">
                <a:solidFill>
                  <a:schemeClr val="tx1"/>
                </a:solidFill>
                <a:latin typeface="Arial" panose="020B0604020202020204" pitchFamily="34" charset="0"/>
                <a:cs typeface="Arial" panose="020B0604020202020204" pitchFamily="34" charset="0"/>
              </a:rPr>
              <a:t>RapidMiner Certification</a:t>
            </a:r>
            <a:r>
              <a:rPr lang="en-US" altLang="zh-CN" b="1" dirty="0">
                <a:solidFill>
                  <a:schemeClr val="tx1"/>
                </a:solidFill>
                <a:latin typeface="Arial" panose="020B0604020202020204" pitchFamily="34" charset="0"/>
                <a:cs typeface="Arial" panose="020B0604020202020204" pitchFamily="34" charset="0"/>
              </a:rPr>
              <a:t>:</a:t>
            </a:r>
            <a:r>
              <a:rPr lang="zh-CN" altLang="en-US" b="1" dirty="0">
                <a:solidFill>
                  <a:schemeClr val="tx1"/>
                </a:solidFill>
                <a:latin typeface="Arial" panose="020B0604020202020204" pitchFamily="34" charset="0"/>
                <a:cs typeface="Arial" panose="020B0604020202020204" pitchFamily="34" charset="0"/>
              </a:rPr>
              <a:t> </a:t>
            </a:r>
            <a:r>
              <a:rPr lang="en-US" altLang="zh-CN" dirty="0">
                <a:solidFill>
                  <a:srgbClr val="29C010"/>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https://academy.rapidminer.com/pages/certification</a:t>
            </a:r>
            <a:endParaRPr lang="en-AU" dirty="0">
              <a:solidFill>
                <a:srgbClr val="29C010"/>
              </a:solidFill>
              <a:latin typeface="Arial" panose="020B0604020202020204" pitchFamily="34" charset="0"/>
              <a:cs typeface="Arial" panose="020B0604020202020204" pitchFamily="34" charset="0"/>
            </a:endParaRPr>
          </a:p>
          <a:p>
            <a:r>
              <a:rPr lang="en-AU" b="1" dirty="0">
                <a:solidFill>
                  <a:schemeClr val="tx1"/>
                </a:solidFill>
                <a:latin typeface="Arial" panose="020B0604020202020204" pitchFamily="34" charset="0"/>
                <a:cs typeface="Arial" panose="020B0604020202020204" pitchFamily="34" charset="0"/>
              </a:rPr>
              <a:t>Power BI Data Analyst Associate</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a:t>
            </a:r>
            <a:r>
              <a:rPr lang="en-AU" altLang="zh-CN" b="1" dirty="0">
                <a:solidFill>
                  <a:schemeClr val="tx1"/>
                </a:solidFill>
                <a:latin typeface="Arial" panose="020B0604020202020204" pitchFamily="34" charset="0"/>
                <a:cs typeface="Arial" panose="020B0604020202020204" pitchFamily="34" charset="0"/>
              </a:rPr>
              <a:t>Microsoft Certified</a:t>
            </a:r>
            <a:r>
              <a:rPr lang="en-US" altLang="zh-CN" b="1" dirty="0">
                <a:solidFill>
                  <a:schemeClr val="tx1"/>
                </a:solidFill>
                <a:latin typeface="Arial" panose="020B0604020202020204" pitchFamily="34" charset="0"/>
                <a:cs typeface="Arial" panose="020B0604020202020204" pitchFamily="34" charset="0"/>
              </a:rPr>
              <a:t>):</a:t>
            </a:r>
            <a:r>
              <a:rPr lang="zh-CN" altLang="en-US" b="1" dirty="0">
                <a:solidFill>
                  <a:schemeClr val="tx1"/>
                </a:solidFill>
                <a:latin typeface="Arial" panose="020B0604020202020204" pitchFamily="34" charset="0"/>
                <a:cs typeface="Arial" panose="020B0604020202020204" pitchFamily="34" charset="0"/>
              </a:rPr>
              <a:t> </a:t>
            </a:r>
            <a:r>
              <a:rPr lang="en-NZ" altLang="zh-CN" dirty="0">
                <a:solidFill>
                  <a:srgbClr val="29C010"/>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https://learn.microsoft.com/en-us/credentials/certifications/data-analyst-associate/?practice-assessment-type=certification</a:t>
            </a:r>
            <a:r>
              <a:rPr lang="zh-CN" altLang="en-US" dirty="0">
                <a:solidFill>
                  <a:srgbClr val="29C010"/>
                </a:solidFill>
                <a:latin typeface="Arial" panose="020B0604020202020204" pitchFamily="34" charset="0"/>
                <a:cs typeface="Arial" panose="020B0604020202020204" pitchFamily="34" charset="0"/>
              </a:rPr>
              <a:t> </a:t>
            </a:r>
            <a:endParaRPr lang="en-US" altLang="zh-CN" b="1" dirty="0">
              <a:solidFill>
                <a:srgbClr val="29C010"/>
              </a:solidFill>
              <a:latin typeface="Arial" panose="020B0604020202020204" pitchFamily="34" charset="0"/>
              <a:cs typeface="Arial" panose="020B0604020202020204" pitchFamily="34" charset="0"/>
            </a:endParaRPr>
          </a:p>
          <a:p>
            <a:r>
              <a:rPr lang="en-NZ" altLang="zh-CN" b="1" dirty="0">
                <a:solidFill>
                  <a:schemeClr val="tx1"/>
                </a:solidFill>
                <a:latin typeface="Arial" panose="020B0604020202020204" pitchFamily="34" charset="0"/>
                <a:cs typeface="Arial" panose="020B0604020202020204" pitchFamily="34" charset="0"/>
              </a:rPr>
              <a:t>Microsoft Power BI Data Analyst Professional Certificate</a:t>
            </a:r>
            <a:r>
              <a:rPr lang="en-US" altLang="zh-CN" b="1" dirty="0">
                <a:solidFill>
                  <a:schemeClr val="tx1"/>
                </a:solidFill>
                <a:latin typeface="Arial" panose="020B0604020202020204" pitchFamily="34" charset="0"/>
                <a:cs typeface="Arial" panose="020B0604020202020204" pitchFamily="34" charset="0"/>
              </a:rPr>
              <a:t>:</a:t>
            </a:r>
            <a:r>
              <a:rPr lang="zh-CN" altLang="en-US" b="1" dirty="0">
                <a:solidFill>
                  <a:schemeClr val="tx1"/>
                </a:solidFill>
                <a:latin typeface="Arial" panose="020B0604020202020204" pitchFamily="34" charset="0"/>
                <a:cs typeface="Arial" panose="020B0604020202020204" pitchFamily="34" charset="0"/>
              </a:rPr>
              <a:t> </a:t>
            </a:r>
            <a:r>
              <a:rPr lang="en-US" altLang="zh-CN" dirty="0">
                <a:solidFill>
                  <a:srgbClr val="29C010"/>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https://www.coursera.org/professional-certificates/microsoft-power-bi-data-analyst</a:t>
            </a:r>
            <a:r>
              <a:rPr lang="zh-CN" altLang="en-US" dirty="0">
                <a:solidFill>
                  <a:srgbClr val="29C010"/>
                </a:solidFill>
                <a:latin typeface="Arial" panose="020B0604020202020204" pitchFamily="34" charset="0"/>
                <a:cs typeface="Arial" panose="020B0604020202020204" pitchFamily="34" charset="0"/>
              </a:rPr>
              <a:t> </a:t>
            </a:r>
            <a:endParaRPr lang="en-US" altLang="zh-CN" b="1" dirty="0">
              <a:solidFill>
                <a:srgbClr val="29C010"/>
              </a:solidFill>
              <a:latin typeface="Arial" panose="020B0604020202020204" pitchFamily="34" charset="0"/>
              <a:cs typeface="Arial" panose="020B0604020202020204" pitchFamily="34" charset="0"/>
            </a:endParaRPr>
          </a:p>
          <a:p>
            <a:r>
              <a:rPr lang="en-US" altLang="zh-CN" b="1" dirty="0">
                <a:solidFill>
                  <a:schemeClr val="tx1"/>
                </a:solidFill>
                <a:latin typeface="Arial" panose="020B0604020202020204" pitchFamily="34" charset="0"/>
                <a:cs typeface="Arial" panose="020B0604020202020204" pitchFamily="34" charset="0"/>
              </a:rPr>
              <a:t>Google Data Analytics Professional Certificate:</a:t>
            </a:r>
            <a:r>
              <a:rPr lang="zh-CN" altLang="en-US" b="1" dirty="0">
                <a:solidFill>
                  <a:schemeClr val="tx1"/>
                </a:solidFill>
                <a:latin typeface="Arial" panose="020B0604020202020204" pitchFamily="34" charset="0"/>
                <a:cs typeface="Arial" panose="020B0604020202020204" pitchFamily="34" charset="0"/>
              </a:rPr>
              <a:t> </a:t>
            </a:r>
            <a:r>
              <a:rPr lang="en-NZ" altLang="zh-CN" dirty="0">
                <a:solidFill>
                  <a:srgbClr val="29C010"/>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https://www.coursera.org/professional-certificates/google-data-analytics</a:t>
            </a:r>
            <a:r>
              <a:rPr lang="zh-CN" altLang="en-US" dirty="0">
                <a:solidFill>
                  <a:srgbClr val="29C010"/>
                </a:solidFill>
                <a:latin typeface="Arial" panose="020B0604020202020204" pitchFamily="34" charset="0"/>
                <a:cs typeface="Arial" panose="020B0604020202020204" pitchFamily="34" charset="0"/>
              </a:rPr>
              <a:t> </a:t>
            </a:r>
            <a:endParaRPr lang="en-US" altLang="zh-CN" dirty="0">
              <a:solidFill>
                <a:srgbClr val="29C010"/>
              </a:solidFill>
              <a:latin typeface="Arial" panose="020B0604020202020204" pitchFamily="34" charset="0"/>
              <a:cs typeface="Arial" panose="020B0604020202020204" pitchFamily="34" charset="0"/>
            </a:endParaRPr>
          </a:p>
          <a:p>
            <a:r>
              <a:rPr lang="en-US" altLang="zh-CN" b="1" dirty="0">
                <a:solidFill>
                  <a:schemeClr val="tx1"/>
                </a:solidFill>
                <a:latin typeface="Arial" panose="020B0604020202020204" pitchFamily="34" charset="0"/>
                <a:cs typeface="Arial" panose="020B0604020202020204" pitchFamily="34" charset="0"/>
              </a:rPr>
              <a:t>Getting </a:t>
            </a:r>
            <a:r>
              <a:rPr lang="en-US" altLang="zh-CN" b="1" dirty="0">
                <a:solidFill>
                  <a:srgbClr val="D20C9E"/>
                </a:solidFill>
                <a:latin typeface="Arial" panose="020B0604020202020204" pitchFamily="34" charset="0"/>
                <a:cs typeface="Arial" panose="020B0604020202020204" pitchFamily="34" charset="0"/>
              </a:rPr>
              <a:t>Hired</a:t>
            </a:r>
            <a:r>
              <a:rPr lang="en-US" altLang="zh-CN" b="1" dirty="0">
                <a:solidFill>
                  <a:schemeClr val="tx1"/>
                </a:solidFill>
                <a:latin typeface="Arial" panose="020B0604020202020204" pitchFamily="34" charset="0"/>
                <a:cs typeface="Arial" panose="020B0604020202020204" pitchFamily="34" charset="0"/>
              </a:rPr>
              <a:t> as a Data Analyst:</a:t>
            </a:r>
            <a:r>
              <a:rPr lang="zh-CN" altLang="en-US" b="1" dirty="0">
                <a:solidFill>
                  <a:schemeClr val="tx1"/>
                </a:solidFill>
                <a:latin typeface="Arial" panose="020B0604020202020204" pitchFamily="34" charset="0"/>
                <a:cs typeface="Arial" panose="020B0604020202020204" pitchFamily="34" charset="0"/>
              </a:rPr>
              <a:t> </a:t>
            </a:r>
            <a:r>
              <a:rPr lang="en-NZ" altLang="zh-CN" dirty="0">
                <a:solidFill>
                  <a:srgbClr val="29C010"/>
                </a:solid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https://www.youtube.com/watch?app=desktop&amp;v=X_bHxrgaqas</a:t>
            </a:r>
            <a:r>
              <a:rPr lang="zh-CN" altLang="en-US" dirty="0">
                <a:solidFill>
                  <a:srgbClr val="29C010"/>
                </a:solidFill>
                <a:latin typeface="Arial" panose="020B0604020202020204" pitchFamily="34" charset="0"/>
                <a:cs typeface="Arial" panose="020B0604020202020204" pitchFamily="34" charset="0"/>
              </a:rPr>
              <a:t> </a:t>
            </a:r>
            <a:endParaRPr lang="en-US" altLang="zh-CN" dirty="0">
              <a:solidFill>
                <a:srgbClr val="29C01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3136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59F337-1D66-AF4C-258A-0E390B5DDBCA}"/>
              </a:ext>
            </a:extLst>
          </p:cNvPr>
          <p:cNvSpPr>
            <a:spLocks noGrp="1"/>
          </p:cNvSpPr>
          <p:nvPr>
            <p:ph type="title"/>
          </p:nvPr>
        </p:nvSpPr>
        <p:spPr>
          <a:xfrm>
            <a:off x="1008993" y="624110"/>
            <a:ext cx="10495619" cy="873614"/>
          </a:xfrm>
        </p:spPr>
        <p:txBody>
          <a:bodyPr>
            <a:normAutofit/>
          </a:bodyPr>
          <a:lstStyle/>
          <a:p>
            <a:r>
              <a:rPr lang="en-US" altLang="zh-CN" sz="3500" b="1" dirty="0">
                <a:latin typeface="Arial" panose="020B0604020202020204" pitchFamily="34" charset="0"/>
                <a:cs typeface="Arial" panose="020B0604020202020204" pitchFamily="34" charset="0"/>
              </a:rPr>
              <a:t>Feedback</a:t>
            </a:r>
            <a:r>
              <a:rPr lang="zh-CN" altLang="en-US" sz="3500" b="1" dirty="0">
                <a:latin typeface="Arial" panose="020B0604020202020204" pitchFamily="34" charset="0"/>
                <a:cs typeface="Arial" panose="020B0604020202020204" pitchFamily="34" charset="0"/>
              </a:rPr>
              <a:t> </a:t>
            </a:r>
            <a:r>
              <a:rPr lang="en-US" altLang="zh-CN" sz="3500" b="1" dirty="0">
                <a:latin typeface="Arial" panose="020B0604020202020204" pitchFamily="34" charset="0"/>
                <a:cs typeface="Arial" panose="020B0604020202020204" pitchFamily="34" charset="0"/>
              </a:rPr>
              <a:t>opportunity</a:t>
            </a:r>
            <a:r>
              <a:rPr lang="zh-CN" altLang="en-US" sz="3500" b="1" dirty="0">
                <a:latin typeface="Arial" panose="020B0604020202020204" pitchFamily="34" charset="0"/>
                <a:cs typeface="Arial" panose="020B0604020202020204" pitchFamily="34" charset="0"/>
              </a:rPr>
              <a:t> </a:t>
            </a:r>
            <a:r>
              <a:rPr lang="en-US" altLang="zh-CN" sz="3500" b="1" dirty="0">
                <a:latin typeface="Arial" panose="020B0604020202020204" pitchFamily="34" charset="0"/>
                <a:cs typeface="Arial" panose="020B0604020202020204" pitchFamily="34" charset="0"/>
              </a:rPr>
              <a:t>for</a:t>
            </a:r>
            <a:r>
              <a:rPr lang="zh-CN" altLang="en-US" sz="3500" b="1" dirty="0">
                <a:latin typeface="Arial" panose="020B0604020202020204" pitchFamily="34" charset="0"/>
                <a:cs typeface="Arial" panose="020B0604020202020204" pitchFamily="34" charset="0"/>
              </a:rPr>
              <a:t> </a:t>
            </a:r>
            <a:r>
              <a:rPr lang="en-US" altLang="zh-CN" sz="3500" b="1" dirty="0">
                <a:latin typeface="Arial" panose="020B0604020202020204" pitchFamily="34" charset="0"/>
                <a:cs typeface="Arial" panose="020B0604020202020204" pitchFamily="34" charset="0"/>
              </a:rPr>
              <a:t>Assessment</a:t>
            </a:r>
            <a:r>
              <a:rPr lang="zh-CN" altLang="en-US" sz="3500" b="1" dirty="0">
                <a:latin typeface="Arial" panose="020B0604020202020204" pitchFamily="34" charset="0"/>
                <a:cs typeface="Arial" panose="020B0604020202020204" pitchFamily="34" charset="0"/>
              </a:rPr>
              <a:t> </a:t>
            </a:r>
            <a:r>
              <a:rPr lang="en-US" altLang="zh-CN" sz="3500" b="1" dirty="0">
                <a:latin typeface="Arial" panose="020B0604020202020204" pitchFamily="34" charset="0"/>
                <a:cs typeface="Arial" panose="020B0604020202020204" pitchFamily="34" charset="0"/>
              </a:rPr>
              <a:t>Two</a:t>
            </a:r>
            <a:endParaRPr lang="en-AU" sz="3500" dirty="0"/>
          </a:p>
        </p:txBody>
      </p:sp>
      <p:sp>
        <p:nvSpPr>
          <p:cNvPr id="5" name="文本框 4">
            <a:extLst>
              <a:ext uri="{FF2B5EF4-FFF2-40B4-BE49-F238E27FC236}">
                <a16:creationId xmlns:a16="http://schemas.microsoft.com/office/drawing/2014/main" id="{0E0A9D12-049D-213D-C87A-859779702FB4}"/>
              </a:ext>
            </a:extLst>
          </p:cNvPr>
          <p:cNvSpPr txBox="1"/>
          <p:nvPr/>
        </p:nvSpPr>
        <p:spPr>
          <a:xfrm>
            <a:off x="1008993" y="1709575"/>
            <a:ext cx="10174822" cy="4524315"/>
          </a:xfrm>
          <a:prstGeom prst="rect">
            <a:avLst/>
          </a:prstGeom>
          <a:noFill/>
        </p:spPr>
        <p:txBody>
          <a:bodyPr wrap="square">
            <a:spAutoFit/>
          </a:bodyPr>
          <a:lstStyle/>
          <a:p>
            <a:pPr marL="0" indent="0">
              <a:buNone/>
            </a:pPr>
            <a:r>
              <a:rPr lang="en-US" altLang="zh-CN" sz="1800" b="1" dirty="0">
                <a:solidFill>
                  <a:srgbClr val="FF0000"/>
                </a:solidFill>
                <a:latin typeface="Arial" panose="020B0604020202020204" pitchFamily="34" charset="0"/>
                <a:cs typeface="Arial" panose="020B0604020202020204" pitchFamily="34" charset="0"/>
              </a:rPr>
              <a:t>Week</a:t>
            </a:r>
            <a:r>
              <a:rPr lang="zh-CN" altLang="en-US" sz="1800" b="1" dirty="0">
                <a:solidFill>
                  <a:srgbClr val="FF0000"/>
                </a:solidFill>
                <a:latin typeface="Arial" panose="020B0604020202020204" pitchFamily="34" charset="0"/>
                <a:cs typeface="Arial" panose="020B0604020202020204" pitchFamily="34" charset="0"/>
              </a:rPr>
              <a:t> </a:t>
            </a:r>
            <a:r>
              <a:rPr lang="en-US" altLang="zh-CN" sz="1800" b="1" dirty="0">
                <a:solidFill>
                  <a:srgbClr val="FF0000"/>
                </a:solidFill>
                <a:latin typeface="Arial" panose="020B0604020202020204" pitchFamily="34" charset="0"/>
                <a:cs typeface="Arial" panose="020B0604020202020204" pitchFamily="34" charset="0"/>
              </a:rPr>
              <a:t>7-8:</a:t>
            </a:r>
            <a:r>
              <a:rPr lang="zh-CN" altLang="en-US" sz="1800" b="1" dirty="0">
                <a:solidFill>
                  <a:srgbClr val="FF0000"/>
                </a:solidFill>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You</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will</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have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the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opportunity</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to</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present</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your</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Assessment</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Two</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in</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the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class.</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You</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will</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learn</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from</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your</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classmates</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and</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receive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oral</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feedback.</a:t>
            </a:r>
            <a:r>
              <a:rPr lang="zh-CN" altLang="en-US" sz="1800" dirty="0">
                <a:latin typeface="Arial" panose="020B0604020202020204" pitchFamily="34" charset="0"/>
                <a:cs typeface="Arial" panose="020B0604020202020204" pitchFamily="34" charset="0"/>
              </a:rPr>
              <a:t> </a:t>
            </a:r>
            <a:endParaRPr lang="en-US" altLang="zh-CN" sz="1800" dirty="0">
              <a:latin typeface="Arial" panose="020B0604020202020204" pitchFamily="34" charset="0"/>
              <a:cs typeface="Arial" panose="020B0604020202020204" pitchFamily="34" charset="0"/>
            </a:endParaRPr>
          </a:p>
          <a:p>
            <a:pPr marL="0" indent="0">
              <a:buNone/>
            </a:pPr>
            <a:endParaRPr lang="en-US" altLang="zh-CN" sz="1800" dirty="0">
              <a:latin typeface="Arial" panose="020B0604020202020204" pitchFamily="34" charset="0"/>
              <a:cs typeface="Arial" panose="020B0604020202020204" pitchFamily="34" charset="0"/>
            </a:endParaRPr>
          </a:p>
          <a:p>
            <a:r>
              <a:rPr lang="en-US" altLang="zh-CN" sz="1800" dirty="0">
                <a:latin typeface="Arial" panose="020B0604020202020204" pitchFamily="34" charset="0"/>
                <a:cs typeface="Arial" panose="020B0604020202020204" pitchFamily="34" charset="0"/>
              </a:rPr>
              <a:t>Please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choose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your</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preferred</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presentation</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date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in</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Week</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7 or 8.</a:t>
            </a:r>
            <a:r>
              <a:rPr lang="zh-CN" altLang="en-US" sz="1800" dirty="0">
                <a:latin typeface="Arial" panose="020B0604020202020204" pitchFamily="34" charset="0"/>
                <a:cs typeface="Arial" panose="020B0604020202020204" pitchFamily="34" charset="0"/>
              </a:rPr>
              <a:t> </a:t>
            </a:r>
            <a:r>
              <a:rPr lang="en-NZ" altLang="zh-CN" sz="1800" dirty="0">
                <a:latin typeface="Arial" panose="020B0604020202020204" pitchFamily="34" charset="0"/>
                <a:cs typeface="Arial" panose="020B0604020202020204" pitchFamily="34" charset="0"/>
              </a:rPr>
              <a:t>Seven or eight presentations will be conducted in each session. Please upload your presentation slides/Word document on Teams Assignment placeholder </a:t>
            </a:r>
            <a:r>
              <a:rPr lang="en-NZ" altLang="zh-CN" sz="1800" b="1" dirty="0">
                <a:latin typeface="Arial" panose="020B0604020202020204" pitchFamily="34" charset="0"/>
                <a:cs typeface="Arial" panose="020B0604020202020204" pitchFamily="34" charset="0"/>
              </a:rPr>
              <a:t>at least 5 hours </a:t>
            </a:r>
            <a:r>
              <a:rPr lang="en-NZ" altLang="zh-CN" sz="1800" dirty="0">
                <a:latin typeface="Arial" panose="020B0604020202020204" pitchFamily="34" charset="0"/>
                <a:cs typeface="Arial" panose="020B0604020202020204" pitchFamily="34" charset="0"/>
              </a:rPr>
              <a:t>before your presentation.</a:t>
            </a:r>
            <a:endParaRPr lang="en-US" altLang="zh-CN" sz="1800" dirty="0">
              <a:latin typeface="Arial" panose="020B0604020202020204" pitchFamily="34" charset="0"/>
              <a:cs typeface="Arial" panose="020B0604020202020204" pitchFamily="34" charset="0"/>
            </a:endParaRPr>
          </a:p>
          <a:p>
            <a:pPr marL="0" indent="0">
              <a:buNone/>
            </a:pPr>
            <a:endParaRPr lang="en-US" altLang="zh-CN" sz="1800" dirty="0">
              <a:latin typeface="Arial" panose="020B0604020202020204" pitchFamily="34" charset="0"/>
              <a:cs typeface="Arial" panose="020B0604020202020204" pitchFamily="34" charset="0"/>
            </a:endParaRPr>
          </a:p>
          <a:p>
            <a:pPr marL="0" indent="0">
              <a:buNone/>
            </a:pPr>
            <a:r>
              <a:rPr lang="en-US" altLang="zh-CN" sz="1800" dirty="0">
                <a:latin typeface="Arial" panose="020B0604020202020204" pitchFamily="34" charset="0"/>
                <a:cs typeface="Arial" panose="020B0604020202020204" pitchFamily="34" charset="0"/>
              </a:rPr>
              <a:t>Specifically,</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you</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are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required</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to</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prepare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a</a:t>
            </a:r>
            <a:r>
              <a:rPr lang="zh-CN" altLang="en-US" sz="1800"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5</a:t>
            </a:r>
            <a:r>
              <a:rPr lang="en-US" altLang="zh-CN" sz="1800" dirty="0">
                <a:latin typeface="Arial" panose="020B0604020202020204" pitchFamily="34" charset="0"/>
                <a:cs typeface="Arial" panose="020B0604020202020204" pitchFamily="34" charset="0"/>
              </a:rPr>
              <a:t>-minute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presentation</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to</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explain</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the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main</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points</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(and a couple of sample paragraphs) of</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each</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of</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your</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data problems, including </a:t>
            </a:r>
            <a:r>
              <a:rPr lang="en-US" altLang="zh-CN" sz="1800" b="1" dirty="0">
                <a:solidFill>
                  <a:srgbClr val="FF0000"/>
                </a:solidFill>
                <a:latin typeface="Arial" panose="020B0604020202020204" pitchFamily="34" charset="0"/>
                <a:cs typeface="Arial" panose="020B0604020202020204" pitchFamily="34" charset="0"/>
              </a:rPr>
              <a:t>the definition and significance of the problems, relevant variables and data types, justification of the data analysis methods, data analysis and interpretation, and recommendations</a:t>
            </a:r>
            <a:r>
              <a:rPr lang="en-US" altLang="zh-CN" sz="1800" dirty="0">
                <a:latin typeface="Arial" panose="020B0604020202020204" pitchFamily="34" charset="0"/>
                <a:cs typeface="Arial" panose="020B0604020202020204" pitchFamily="34" charset="0"/>
              </a:rPr>
              <a:t>).</a:t>
            </a:r>
          </a:p>
          <a:p>
            <a:pPr marL="0" indent="0">
              <a:buNone/>
            </a:pPr>
            <a:endParaRPr lang="en-US" altLang="zh-CN" sz="1800" dirty="0">
              <a:latin typeface="Arial" panose="020B0604020202020204" pitchFamily="34" charset="0"/>
              <a:cs typeface="Arial" panose="020B0604020202020204" pitchFamily="34" charset="0"/>
            </a:endParaRPr>
          </a:p>
          <a:p>
            <a:pPr marL="0" indent="0">
              <a:buNone/>
            </a:pPr>
            <a:r>
              <a:rPr lang="en-US" altLang="zh-CN" sz="1800" dirty="0">
                <a:latin typeface="Arial" panose="020B0604020202020204" pitchFamily="34" charset="0"/>
                <a:cs typeface="Arial" panose="020B0604020202020204" pitchFamily="34" charset="0"/>
              </a:rPr>
              <a:t>You</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could</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choose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one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of</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the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following</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ways</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to</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present</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your</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Assessment</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Two:</a:t>
            </a:r>
          </a:p>
          <a:p>
            <a:pPr marL="342900" indent="-342900">
              <a:buFont typeface="Arial" panose="020B0604020202020204" pitchFamily="34" charset="0"/>
              <a:buChar char="•"/>
            </a:pPr>
            <a:r>
              <a:rPr lang="en-US" altLang="zh-CN" sz="1800" b="1" dirty="0">
                <a:solidFill>
                  <a:srgbClr val="FF0000"/>
                </a:solidFill>
                <a:latin typeface="Arial" panose="020B0604020202020204" pitchFamily="34" charset="0"/>
                <a:cs typeface="Arial" panose="020B0604020202020204" pitchFamily="34" charset="0"/>
              </a:rPr>
              <a:t>PowerPoint (Preferred):</a:t>
            </a:r>
            <a:r>
              <a:rPr lang="zh-CN" altLang="en-US" sz="1800" b="1" dirty="0">
                <a:solidFill>
                  <a:srgbClr val="FF0000"/>
                </a:solidFill>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Make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PowerPoint</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slides</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to</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show</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the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main</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points</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or</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some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sample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paragraphs</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to</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explain</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your</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literature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review.</a:t>
            </a:r>
            <a:r>
              <a:rPr lang="zh-CN" altLang="en-US" sz="1800" dirty="0">
                <a:latin typeface="Arial" panose="020B0604020202020204" pitchFamily="34" charset="0"/>
                <a:cs typeface="Arial" panose="020B0604020202020204" pitchFamily="34" charset="0"/>
              </a:rPr>
              <a:t> </a:t>
            </a:r>
            <a:endParaRPr lang="en-US" altLang="zh-CN" sz="1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tLang="zh-CN" sz="1800" b="1" dirty="0">
                <a:solidFill>
                  <a:srgbClr val="FF0000"/>
                </a:solidFill>
                <a:latin typeface="Arial" panose="020B0604020202020204" pitchFamily="34" charset="0"/>
                <a:cs typeface="Arial" panose="020B0604020202020204" pitchFamily="34" charset="0"/>
              </a:rPr>
              <a:t>Word:</a:t>
            </a:r>
            <a:r>
              <a:rPr lang="zh-CN" altLang="en-US" sz="1800" b="1" dirty="0">
                <a:solidFill>
                  <a:srgbClr val="FF0000"/>
                </a:solidFill>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Present</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the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current</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version</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of</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your</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draft</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directly</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(or</a:t>
            </a:r>
            <a:r>
              <a:rPr lang="zh-CN" altLang="en-US" sz="1800" dirty="0">
                <a:latin typeface="Arial" panose="020B0604020202020204" pitchFamily="34" charset="0"/>
                <a:cs typeface="Arial" panose="020B0604020202020204" pitchFamily="34" charset="0"/>
              </a:rPr>
              <a:t> </a:t>
            </a:r>
            <a:r>
              <a:rPr lang="en-NZ" altLang="zh-CN" sz="1800" dirty="0">
                <a:latin typeface="Arial" panose="020B0604020202020204" pitchFamily="34" charset="0"/>
                <a:cs typeface="Arial" panose="020B0604020202020204" pitchFamily="34" charset="0"/>
              </a:rPr>
              <a:t>with </a:t>
            </a:r>
            <a:r>
              <a:rPr lang="en-US" altLang="zh-CN" sz="1800" dirty="0">
                <a:latin typeface="Arial" panose="020B0604020202020204" pitchFamily="34" charset="0"/>
                <a:cs typeface="Arial" panose="020B0604020202020204" pitchFamily="34" charset="0"/>
              </a:rPr>
              <a:t>some</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bullet</a:t>
            </a:r>
            <a:r>
              <a:rPr lang="zh-CN" altLang="en-US" sz="1800" dirty="0">
                <a:latin typeface="Arial" panose="020B0604020202020204" pitchFamily="34" charset="0"/>
                <a:cs typeface="Arial" panose="020B0604020202020204" pitchFamily="34" charset="0"/>
              </a:rPr>
              <a:t> </a:t>
            </a:r>
            <a:r>
              <a:rPr lang="en-US" altLang="zh-CN" sz="1800" dirty="0">
                <a:latin typeface="Arial" panose="020B0604020202020204" pitchFamily="34" charset="0"/>
                <a:cs typeface="Arial" panose="020B0604020202020204" pitchFamily="34" charset="0"/>
              </a:rPr>
              <a:t>points).</a:t>
            </a:r>
            <a:r>
              <a:rPr lang="zh-CN" altLang="en-US" sz="1800" dirty="0">
                <a:latin typeface="Arial" panose="020B0604020202020204" pitchFamily="34" charset="0"/>
                <a:cs typeface="Arial" panose="020B0604020202020204" pitchFamily="34" charset="0"/>
              </a:rPr>
              <a:t> </a:t>
            </a:r>
            <a:endParaRPr lang="en-US" altLang="zh-C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9520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22EA0-3257-A13E-F9AE-E9C622F22BA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C62F5B-4CB9-2E68-AFC0-E83B6DCF797F}"/>
              </a:ext>
            </a:extLst>
          </p:cNvPr>
          <p:cNvSpPr>
            <a:spLocks noGrp="1"/>
          </p:cNvSpPr>
          <p:nvPr>
            <p:ph type="title"/>
          </p:nvPr>
        </p:nvSpPr>
        <p:spPr/>
        <p:txBody>
          <a:bodyPr/>
          <a:lstStyle/>
          <a:p>
            <a:r>
              <a:rPr lang="en-US" altLang="zh-CN" b="1" dirty="0">
                <a:latin typeface="Arial" panose="020B0604020202020204" pitchFamily="34" charset="0"/>
                <a:cs typeface="Arial" panose="020B0604020202020204" pitchFamily="34" charset="0"/>
              </a:rPr>
              <a:t>Additional</a:t>
            </a:r>
            <a:r>
              <a:rPr lang="zh-CN" altLang="en-US" b="1" dirty="0">
                <a:latin typeface="Arial" panose="020B0604020202020204" pitchFamily="34" charset="0"/>
                <a:cs typeface="Arial" panose="020B0604020202020204" pitchFamily="34" charset="0"/>
              </a:rPr>
              <a:t> </a:t>
            </a:r>
            <a:r>
              <a:rPr lang="en-US" altLang="zh-CN" b="1" dirty="0">
                <a:latin typeface="Arial" panose="020B0604020202020204" pitchFamily="34" charset="0"/>
                <a:cs typeface="Arial" panose="020B0604020202020204" pitchFamily="34" charset="0"/>
              </a:rPr>
              <a:t>resources</a:t>
            </a:r>
            <a:endParaRPr lang="en-AU" b="1" dirty="0">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DF284724-B232-6C7B-63A7-A5B9C6F7D11B}"/>
              </a:ext>
            </a:extLst>
          </p:cNvPr>
          <p:cNvSpPr>
            <a:spLocks noGrp="1"/>
          </p:cNvSpPr>
          <p:nvPr>
            <p:ph idx="1"/>
          </p:nvPr>
        </p:nvSpPr>
        <p:spPr/>
        <p:txBody>
          <a:bodyPr>
            <a:normAutofit fontScale="92500" lnSpcReduction="20000"/>
          </a:bodyPr>
          <a:lstStyle/>
          <a:p>
            <a:r>
              <a:rPr lang="en-US" altLang="zh-CN" b="1" dirty="0">
                <a:solidFill>
                  <a:schemeClr val="tx1"/>
                </a:solidFill>
                <a:latin typeface="Arial" panose="020B0604020202020204" pitchFamily="34" charset="0"/>
                <a:cs typeface="Arial" panose="020B0604020202020204" pitchFamily="34" charset="0"/>
              </a:rPr>
              <a:t>What is Prescriptive Analytics</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(and</a:t>
            </a:r>
            <a:r>
              <a:rPr lang="zh-CN" altLang="en-US" b="1" dirty="0">
                <a:solidFill>
                  <a:schemeClr val="tx1"/>
                </a:solidFill>
                <a:latin typeface="Arial" panose="020B0604020202020204" pitchFamily="34" charset="0"/>
                <a:cs typeface="Arial" panose="020B0604020202020204" pitchFamily="34" charset="0"/>
              </a:rPr>
              <a:t> </a:t>
            </a:r>
            <a:r>
              <a:rPr lang="en-US" altLang="zh-CN" b="1" dirty="0">
                <a:solidFill>
                  <a:schemeClr val="tx1"/>
                </a:solidFill>
                <a:latin typeface="Arial" panose="020B0604020202020204" pitchFamily="34" charset="0"/>
                <a:cs typeface="Arial" panose="020B0604020202020204" pitchFamily="34" charset="0"/>
              </a:rPr>
              <a:t>examples): </a:t>
            </a:r>
            <a:r>
              <a:rPr lang="en-US" altLang="zh-CN" b="1" dirty="0">
                <a:solidFill>
                  <a:srgbClr val="29C010"/>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https://www.youtube.com/watch?v=pzvT6Z_b6MA</a:t>
            </a:r>
            <a:r>
              <a:rPr lang="zh-CN" altLang="en-US" b="1" dirty="0">
                <a:solidFill>
                  <a:srgbClr val="29C010"/>
                </a:solidFill>
                <a:latin typeface="Arial" panose="020B0604020202020204" pitchFamily="34" charset="0"/>
                <a:cs typeface="Arial" panose="020B0604020202020204" pitchFamily="34" charset="0"/>
              </a:rPr>
              <a:t> </a:t>
            </a:r>
            <a:endParaRPr lang="en-US" altLang="zh-CN" b="1" dirty="0">
              <a:solidFill>
                <a:srgbClr val="29C010"/>
              </a:solidFill>
              <a:latin typeface="Arial" panose="020B0604020202020204" pitchFamily="34" charset="0"/>
              <a:cs typeface="Arial" panose="020B0604020202020204" pitchFamily="34" charset="0"/>
            </a:endParaRPr>
          </a:p>
          <a:p>
            <a:r>
              <a:rPr lang="en-US" altLang="zh-CN" b="1" dirty="0">
                <a:solidFill>
                  <a:schemeClr val="tx1"/>
                </a:solidFill>
                <a:latin typeface="Arial" panose="020B0604020202020204" pitchFamily="34" charset="0"/>
                <a:cs typeface="Arial" panose="020B0604020202020204" pitchFamily="34" charset="0"/>
              </a:rPr>
              <a:t>Importing Data in RapidMiner Studio:</a:t>
            </a:r>
            <a:r>
              <a:rPr lang="en-US" altLang="zh-CN" b="1" dirty="0">
                <a:latin typeface="Arial" panose="020B0604020202020204" pitchFamily="34" charset="0"/>
                <a:cs typeface="Arial" panose="020B0604020202020204" pitchFamily="34" charset="0"/>
              </a:rPr>
              <a:t> </a:t>
            </a:r>
            <a:r>
              <a:rPr lang="en-US" altLang="zh-CN" b="1" dirty="0">
                <a:solidFill>
                  <a:srgbClr val="29C010"/>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https://academy.rapidminer.com/learn/video/importing-data-in-rapidminer-studio</a:t>
            </a:r>
            <a:r>
              <a:rPr lang="zh-CN" altLang="en-US" b="1" dirty="0">
                <a:solidFill>
                  <a:srgbClr val="29C010"/>
                </a:solidFill>
                <a:latin typeface="Arial" panose="020B0604020202020204" pitchFamily="34" charset="0"/>
                <a:cs typeface="Arial" panose="020B0604020202020204" pitchFamily="34" charset="0"/>
              </a:rPr>
              <a:t> </a:t>
            </a:r>
            <a:endParaRPr lang="en-US" altLang="zh-CN" b="1" dirty="0">
              <a:solidFill>
                <a:srgbClr val="29C010"/>
              </a:solidFill>
              <a:latin typeface="Arial" panose="020B0604020202020204" pitchFamily="34" charset="0"/>
              <a:cs typeface="Arial" panose="020B0604020202020204" pitchFamily="34" charset="0"/>
            </a:endParaRPr>
          </a:p>
          <a:p>
            <a:r>
              <a:rPr lang="en-US" altLang="zh-CN" b="1" dirty="0">
                <a:solidFill>
                  <a:schemeClr val="tx1"/>
                </a:solidFill>
                <a:latin typeface="Arial" panose="020B0604020202020204" pitchFamily="34" charset="0"/>
                <a:cs typeface="Arial" panose="020B0604020202020204" pitchFamily="34" charset="0"/>
              </a:rPr>
              <a:t>Data cleaning and coding: </a:t>
            </a:r>
            <a:r>
              <a:rPr lang="en-US" altLang="zh-CN" b="1" dirty="0">
                <a:solidFill>
                  <a:srgbClr val="29C010"/>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https://academy.rapidminer.com/learn/video/turbo-prep-data-cleansing</a:t>
            </a:r>
            <a:r>
              <a:rPr lang="zh-CN" altLang="en-US" b="1" dirty="0">
                <a:solidFill>
                  <a:srgbClr val="29C010"/>
                </a:solidFill>
                <a:latin typeface="Arial" panose="020B0604020202020204" pitchFamily="34" charset="0"/>
                <a:cs typeface="Arial" panose="020B0604020202020204" pitchFamily="34" charset="0"/>
              </a:rPr>
              <a:t> </a:t>
            </a:r>
            <a:endParaRPr lang="en-US" altLang="zh-CN" b="1" dirty="0">
              <a:solidFill>
                <a:srgbClr val="29C010"/>
              </a:solidFill>
              <a:latin typeface="Arial" panose="020B0604020202020204" pitchFamily="34" charset="0"/>
              <a:cs typeface="Arial" panose="020B0604020202020204" pitchFamily="34" charset="0"/>
            </a:endParaRPr>
          </a:p>
          <a:p>
            <a:r>
              <a:rPr lang="en-US" altLang="zh-CN" b="1" dirty="0">
                <a:solidFill>
                  <a:schemeClr val="tx1"/>
                </a:solidFill>
                <a:latin typeface="Arial" panose="020B0604020202020204" pitchFamily="34" charset="0"/>
                <a:cs typeface="Arial" panose="020B0604020202020204" pitchFamily="34" charset="0"/>
              </a:rPr>
              <a:t>Clustering: </a:t>
            </a:r>
            <a:r>
              <a:rPr lang="en-US" altLang="zh-CN" b="1" dirty="0">
                <a:solidFill>
                  <a:srgbClr val="29C010"/>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https://academy.rapidminer.com/learn/video/auto-model-clustering-outliers</a:t>
            </a:r>
            <a:r>
              <a:rPr lang="zh-CN" altLang="en-US" b="1" dirty="0">
                <a:solidFill>
                  <a:srgbClr val="29C010"/>
                </a:solidFill>
                <a:latin typeface="Arial" panose="020B0604020202020204" pitchFamily="34" charset="0"/>
                <a:cs typeface="Arial" panose="020B0604020202020204" pitchFamily="34" charset="0"/>
              </a:rPr>
              <a:t> </a:t>
            </a:r>
            <a:endParaRPr lang="en-NZ" altLang="zh-CN" dirty="0">
              <a:solidFill>
                <a:srgbClr val="29C010"/>
              </a:solidFill>
            </a:endParaRPr>
          </a:p>
        </p:txBody>
      </p:sp>
    </p:spTree>
    <p:extLst>
      <p:ext uri="{BB962C8B-B14F-4D97-AF65-F5344CB8AC3E}">
        <p14:creationId xmlns:p14="http://schemas.microsoft.com/office/powerpoint/2010/main" val="235297510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03E1C4C7BA5ED4094D04BB904A5E7AB" ma:contentTypeVersion="4" ma:contentTypeDescription="Create a new document." ma:contentTypeScope="" ma:versionID="149470d6a2e38a69316f2096364dac83">
  <xsd:schema xmlns:xsd="http://www.w3.org/2001/XMLSchema" xmlns:xs="http://www.w3.org/2001/XMLSchema" xmlns:p="http://schemas.microsoft.com/office/2006/metadata/properties" xmlns:ns2="2e870598-80c1-4ed7-a5cf-d50e51ea1f44" targetNamespace="http://schemas.microsoft.com/office/2006/metadata/properties" ma:root="true" ma:fieldsID="a107eb985a642ca95cbe6c890a64103e" ns2:_="">
    <xsd:import namespace="2e870598-80c1-4ed7-a5cf-d50e51ea1f4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870598-80c1-4ed7-a5cf-d50e51ea1f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4F2AE3D-3801-468B-843A-00413F80136B}"/>
</file>

<file path=customXml/itemProps2.xml><?xml version="1.0" encoding="utf-8"?>
<ds:datastoreItem xmlns:ds="http://schemas.openxmlformats.org/officeDocument/2006/customXml" ds:itemID="{30518960-94A6-4764-8042-D3E5FA028863}">
  <ds:schemaRefs>
    <ds:schemaRef ds:uri="http://schemas.microsoft.com/sharepoint/v3/contenttype/forms"/>
  </ds:schemaRefs>
</ds:datastoreItem>
</file>

<file path=customXml/itemProps3.xml><?xml version="1.0" encoding="utf-8"?>
<ds:datastoreItem xmlns:ds="http://schemas.openxmlformats.org/officeDocument/2006/customXml" ds:itemID="{57124BCF-F30E-44E2-A816-662B2EDBFC5D}">
  <ds:schemaRefs>
    <ds:schemaRef ds:uri="http://purl.org/dc/elements/1.1/"/>
    <ds:schemaRef ds:uri="http://schemas.microsoft.com/office/2006/metadata/properties"/>
    <ds:schemaRef ds:uri="http://schemas.microsoft.com/office/infopath/2007/PartnerControls"/>
    <ds:schemaRef ds:uri="http://purl.org/dc/terms/"/>
    <ds:schemaRef ds:uri="http://schemas.openxmlformats.org/package/2006/metadata/core-properties"/>
    <ds:schemaRef ds:uri="bb0f1b5c-7cc7-4cf0-876f-ee0bbde77cda"/>
    <ds:schemaRef ds:uri="http://schemas.microsoft.com/office/2006/documentManagement/types"/>
    <ds:schemaRef ds:uri="22af72f0-df75-4851-a469-3e8a66795582"/>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Organic</Template>
  <TotalTime>5096</TotalTime>
  <Words>567</Words>
  <Application>Microsoft Office PowerPoint</Application>
  <PresentationFormat>Widescreen</PresentationFormat>
  <Paragraphs>37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等线</vt:lpstr>
      <vt:lpstr>Arial</vt:lpstr>
      <vt:lpstr>Garamond</vt:lpstr>
      <vt:lpstr>Organic</vt:lpstr>
      <vt:lpstr>AM811001 Analytics for Managers</vt:lpstr>
      <vt:lpstr>RapidMiner</vt:lpstr>
      <vt:lpstr>What is Prescriptive Analytics?</vt:lpstr>
      <vt:lpstr>In-class demonstration and individual activity</vt:lpstr>
      <vt:lpstr>Career Advancement</vt:lpstr>
      <vt:lpstr>Feedback opportunity for Assessment Two</vt:lpstr>
      <vt:lpstr>Additional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Jishuo Sun</dc:creator>
  <cp:lastModifiedBy>Sharan Singh</cp:lastModifiedBy>
  <cp:revision>44</cp:revision>
  <dcterms:created xsi:type="dcterms:W3CDTF">2021-09-12T02:15:48Z</dcterms:created>
  <dcterms:modified xsi:type="dcterms:W3CDTF">2025-02-23T09:04:26Z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0x010100503E1C4C7BA5ED4094D04BB904A5E7AB</vt:lpwstr>
  </property>
  <property fmtid="{D5CDD505-2E9C-101B-9397-08002B2CF9AE}" pid="3" name="MediaServiceImageTags">
    <vt:lpwstr/>
  </property>
</Properties>
</file>