
<file path=[Content_Types].xml><?xml version="1.0" encoding="utf-8"?>
<Types xmlns="http://schemas.openxmlformats.org/package/2006/content-types">
  <Default Extension="jpeg" ContentType="image/jpeg"/>
  <Default Extension="jpg" ContentType="image/jp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9" r:id="rId4"/>
    <p:sldId id="267" r:id="rId5"/>
    <p:sldId id="263" r:id="rId6"/>
    <p:sldId id="268" r:id="rId7"/>
    <p:sldId id="269" r:id="rId8"/>
    <p:sldId id="270" r:id="rId9"/>
    <p:sldId id="258" r:id="rId10"/>
    <p:sldId id="278" r:id="rId11"/>
    <p:sldId id="279" r:id="rId12"/>
    <p:sldId id="261" r:id="rId13"/>
    <p:sldId id="262" r:id="rId14"/>
    <p:sldId id="264" r:id="rId15"/>
    <p:sldId id="277" r:id="rId16"/>
    <p:sldId id="265" r:id="rId17"/>
    <p:sldId id="276" r:id="rId18"/>
    <p:sldId id="281" r:id="rId19"/>
    <p:sldId id="274" r:id="rId20"/>
    <p:sldId id="275" r:id="rId21"/>
    <p:sldId id="280" r:id="rId22"/>
    <p:sldId id="271" r:id="rId23"/>
    <p:sldId id="266" r:id="rId24"/>
    <p:sldId id="272"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2A6BA4-1A37-42BB-9705-6572E74FDC91}" type="datetimeFigureOut">
              <a:rPr lang="en-NZ" smtClean="0"/>
              <a:t>21/03/2023</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325D7-A507-4835-AD2E-79BDCD9CE10D}" type="slidenum">
              <a:rPr lang="en-NZ" smtClean="0"/>
              <a:t>‹#›</a:t>
            </a:fld>
            <a:endParaRPr lang="en-NZ"/>
          </a:p>
        </p:txBody>
      </p:sp>
    </p:spTree>
    <p:extLst>
      <p:ext uri="{BB962C8B-B14F-4D97-AF65-F5344CB8AC3E}">
        <p14:creationId xmlns:p14="http://schemas.microsoft.com/office/powerpoint/2010/main" val="4058307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There are 13 sections in a project plan,</a:t>
            </a:r>
            <a:r>
              <a:rPr lang="en-NZ" baseline="0" dirty="0"/>
              <a:t> and if we look down the headings for each of these sections you can see why a project manager needs general management skills.</a:t>
            </a:r>
          </a:p>
          <a:p>
            <a:r>
              <a:rPr lang="en-NZ" baseline="0" dirty="0"/>
              <a:t>The project plan view is a view from the Microsoft project programme which is the most standard program used by project managers currently.</a:t>
            </a:r>
          </a:p>
          <a:p>
            <a:r>
              <a:rPr lang="en-NZ" baseline="0" dirty="0"/>
              <a:t>Underneath the Microsoft project view is an example of a work breakdown structure which is a way of understanding the work that goes into our project plan, we will learn how to do both of these items through this course.</a:t>
            </a:r>
            <a:endParaRPr lang="en-NZ" dirty="0"/>
          </a:p>
          <a:p>
            <a:endParaRPr lang="en-NZ" dirty="0"/>
          </a:p>
        </p:txBody>
      </p:sp>
      <p:sp>
        <p:nvSpPr>
          <p:cNvPr id="4" name="Slide Number Placeholder 3"/>
          <p:cNvSpPr>
            <a:spLocks noGrp="1"/>
          </p:cNvSpPr>
          <p:nvPr>
            <p:ph type="sldNum" sz="quarter" idx="5"/>
          </p:nvPr>
        </p:nvSpPr>
        <p:spPr/>
        <p:txBody>
          <a:bodyPr/>
          <a:lstStyle/>
          <a:p>
            <a:fld id="{848CEE7E-E622-4136-92F6-C4CF8B6CBA57}" type="slidenum">
              <a:rPr lang="en-NZ" smtClean="0"/>
              <a:t>3</a:t>
            </a:fld>
            <a:endParaRPr lang="en-NZ"/>
          </a:p>
        </p:txBody>
      </p:sp>
    </p:spTree>
    <p:extLst>
      <p:ext uri="{BB962C8B-B14F-4D97-AF65-F5344CB8AC3E}">
        <p14:creationId xmlns:p14="http://schemas.microsoft.com/office/powerpoint/2010/main" val="650690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Whilst we include many parts</a:t>
            </a:r>
            <a:r>
              <a:rPr lang="en-NZ" baseline="0" dirty="0"/>
              <a:t> in a plan, the format for each part may be either dictated by the company or the manager. The Executive summary can be a written summary or it can be full of figures.</a:t>
            </a:r>
          </a:p>
          <a:p>
            <a:r>
              <a:rPr lang="en-NZ" baseline="0" dirty="0"/>
              <a:t>This slide shows a typical example of an executive summary. </a:t>
            </a:r>
          </a:p>
          <a:p>
            <a:r>
              <a:rPr lang="en-NZ" dirty="0"/>
              <a:t>The Executive</a:t>
            </a:r>
            <a:r>
              <a:rPr lang="en-NZ" baseline="0" dirty="0"/>
              <a:t> Summary can also be full of words, as long as it conveys the right information.</a:t>
            </a:r>
          </a:p>
          <a:p>
            <a:r>
              <a:rPr lang="en-NZ" baseline="0" dirty="0"/>
              <a:t>As will all management reports, the executive summary is usually the last part to be written.</a:t>
            </a:r>
          </a:p>
          <a:p>
            <a:endParaRPr lang="en-US" dirty="0"/>
          </a:p>
        </p:txBody>
      </p:sp>
      <p:sp>
        <p:nvSpPr>
          <p:cNvPr id="4" name="Slide Number Placeholder 3"/>
          <p:cNvSpPr>
            <a:spLocks noGrp="1"/>
          </p:cNvSpPr>
          <p:nvPr>
            <p:ph type="sldNum" sz="quarter" idx="5"/>
          </p:nvPr>
        </p:nvSpPr>
        <p:spPr/>
        <p:txBody>
          <a:bodyPr/>
          <a:lstStyle/>
          <a:p>
            <a:fld id="{7961E01C-8A59-4E01-8E40-DEF4046DA959}" type="slidenum">
              <a:rPr lang="en-US" smtClean="0"/>
              <a:t>4</a:t>
            </a:fld>
            <a:endParaRPr lang="en-US"/>
          </a:p>
        </p:txBody>
      </p:sp>
    </p:spTree>
    <p:extLst>
      <p:ext uri="{BB962C8B-B14F-4D97-AF65-F5344CB8AC3E}">
        <p14:creationId xmlns:p14="http://schemas.microsoft.com/office/powerpoint/2010/main" val="3001803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This slide shows a  6 part example to a project scope,</a:t>
            </a:r>
            <a:r>
              <a:rPr lang="en-US" baseline="0" dirty="0"/>
              <a:t> and wherever possible we should be as defined as this with our scope.</a:t>
            </a:r>
            <a:endParaRPr lang="en-US" dirty="0"/>
          </a:p>
          <a:p>
            <a:pPr eaLnBrk="1" hangingPunct="1">
              <a:spcBef>
                <a:spcPct val="0"/>
              </a:spcBef>
            </a:pPr>
            <a:r>
              <a:rPr lang="en-US" dirty="0"/>
              <a:t>Objectives</a:t>
            </a:r>
            <a:r>
              <a:rPr lang="en-US" baseline="0" dirty="0"/>
              <a:t> are the reason we start our projects and it is possibly the easiest part to fill in.</a:t>
            </a:r>
          </a:p>
          <a:p>
            <a:pPr eaLnBrk="1" hangingPunct="1">
              <a:spcBef>
                <a:spcPct val="0"/>
              </a:spcBef>
            </a:pPr>
            <a:endParaRPr lang="en-US" baseline="0" dirty="0"/>
          </a:p>
          <a:p>
            <a:pPr eaLnBrk="1" hangingPunct="1">
              <a:spcBef>
                <a:spcPct val="0"/>
              </a:spcBef>
            </a:pPr>
            <a:r>
              <a:rPr lang="en-US" baseline="0" dirty="0"/>
              <a:t>An Example of a project scope checklist for an assignment which requires the student to design a computer laboratory written in academic style;</a:t>
            </a:r>
          </a:p>
          <a:p>
            <a:pPr eaLnBrk="1" hangingPunct="1">
              <a:spcBef>
                <a:spcPct val="0"/>
              </a:spcBef>
            </a:pPr>
            <a:r>
              <a:rPr lang="en-US" baseline="0" dirty="0"/>
              <a:t>OBJECTIVE: To write an assignment consisting of a project plan with academic referencing at not cost</a:t>
            </a:r>
          </a:p>
          <a:p>
            <a:pPr eaLnBrk="1" hangingPunct="1">
              <a:spcBef>
                <a:spcPct val="0"/>
              </a:spcBef>
            </a:pPr>
            <a:endParaRPr lang="en-US" baseline="0" dirty="0"/>
          </a:p>
          <a:p>
            <a:pPr eaLnBrk="1" hangingPunct="1">
              <a:spcBef>
                <a:spcPct val="0"/>
              </a:spcBef>
            </a:pPr>
            <a:r>
              <a:rPr lang="en-US" baseline="0" dirty="0"/>
              <a:t>DELIVERABLES: A 2500 word document with attachments that depict a project plan for a computer laboratory with at least 6 academic references</a:t>
            </a:r>
            <a:br>
              <a:rPr lang="en-US" baseline="0" dirty="0"/>
            </a:br>
            <a:endParaRPr lang="en-US" baseline="0" dirty="0"/>
          </a:p>
          <a:p>
            <a:pPr eaLnBrk="1" hangingPunct="1">
              <a:spcBef>
                <a:spcPct val="0"/>
              </a:spcBef>
            </a:pPr>
            <a:r>
              <a:rPr lang="en-US" baseline="0" dirty="0"/>
              <a:t>MILESTONES: Project decision, Information capture, First draft, Second draft, Review, Completion date. </a:t>
            </a:r>
          </a:p>
          <a:p>
            <a:pPr eaLnBrk="1" hangingPunct="1">
              <a:spcBef>
                <a:spcPct val="0"/>
              </a:spcBef>
            </a:pPr>
            <a:endParaRPr lang="en-US" baseline="0" dirty="0"/>
          </a:p>
          <a:p>
            <a:pPr eaLnBrk="1" hangingPunct="1">
              <a:spcBef>
                <a:spcPct val="0"/>
              </a:spcBef>
            </a:pPr>
            <a:r>
              <a:rPr lang="en-US" baseline="0" dirty="0"/>
              <a:t>TECHNICAL REQUIREMENTS: (we are now into performance criteria – what are our minimum technical requirements for the work).</a:t>
            </a:r>
          </a:p>
          <a:p>
            <a:pPr eaLnBrk="1" hangingPunct="1">
              <a:spcBef>
                <a:spcPct val="0"/>
              </a:spcBef>
            </a:pPr>
            <a:r>
              <a:rPr lang="en-US" baseline="0" dirty="0"/>
              <a:t>Must be 2500 words. Must have 6 academic references. Must include all 13 parts of a project plan as defined in the specifications. Delivery must be by this date.</a:t>
            </a:r>
          </a:p>
          <a:p>
            <a:pPr eaLnBrk="1" hangingPunct="1">
              <a:spcBef>
                <a:spcPct val="0"/>
              </a:spcBef>
            </a:pPr>
            <a:endParaRPr lang="en-US" baseline="0" dirty="0"/>
          </a:p>
          <a:p>
            <a:pPr eaLnBrk="1" hangingPunct="1">
              <a:spcBef>
                <a:spcPct val="0"/>
              </a:spcBef>
            </a:pPr>
            <a:r>
              <a:rPr lang="en-US" baseline="0" dirty="0"/>
              <a:t>LIMITS AND EXCLUSIONS: (what are our boundaries, what are we going to do SPECIFICALLY, and what are we NOT going to do).</a:t>
            </a:r>
          </a:p>
          <a:p>
            <a:pPr eaLnBrk="1" hangingPunct="1">
              <a:spcBef>
                <a:spcPct val="0"/>
              </a:spcBef>
            </a:pPr>
            <a:r>
              <a:rPr lang="en-US" baseline="0" dirty="0"/>
              <a:t>Word count to be a sensible tolerance, appendices will not be counted in the word count, neither will diagrams and tables.</a:t>
            </a:r>
          </a:p>
          <a:p>
            <a:pPr eaLnBrk="1" hangingPunct="1">
              <a:spcBef>
                <a:spcPct val="0"/>
              </a:spcBef>
            </a:pPr>
            <a:r>
              <a:rPr lang="en-US" baseline="0" dirty="0"/>
              <a:t>All project will be individual pieces of work. Projects can be based on existing work but must be discrete from existing plans in other organizations. Software to be used to produce this piece of work will be Microsoft suite, but we do not have to used Microsoft Projects. </a:t>
            </a:r>
          </a:p>
          <a:p>
            <a:pPr eaLnBrk="1" hangingPunct="1">
              <a:spcBef>
                <a:spcPct val="0"/>
              </a:spcBef>
            </a:pPr>
            <a:r>
              <a:rPr lang="en-US" baseline="0" dirty="0"/>
              <a:t>Plan will also be written to lecturers specifications.</a:t>
            </a:r>
          </a:p>
          <a:p>
            <a:pPr eaLnBrk="1" hangingPunct="1">
              <a:spcBef>
                <a:spcPct val="0"/>
              </a:spcBef>
            </a:pPr>
            <a:endParaRPr lang="en-US" baseline="0" dirty="0"/>
          </a:p>
          <a:p>
            <a:pPr eaLnBrk="1" hangingPunct="1">
              <a:spcBef>
                <a:spcPct val="0"/>
              </a:spcBef>
            </a:pPr>
            <a:r>
              <a:rPr lang="en-US" baseline="0" dirty="0"/>
              <a:t>CUSTOMER REVIEW: (always include a customer review).</a:t>
            </a:r>
          </a:p>
          <a:p>
            <a:pPr eaLnBrk="1" hangingPunct="1">
              <a:spcBef>
                <a:spcPct val="0"/>
              </a:spcBef>
            </a:pPr>
            <a:r>
              <a:rPr lang="en-US" baseline="0" dirty="0"/>
              <a:t>If you are writing this for an actual piece of work, your customer will be your manager. If not – it will be the lecturer.</a:t>
            </a:r>
          </a:p>
          <a:p>
            <a:pPr eaLnBrk="1" hangingPunct="1">
              <a:spcBef>
                <a:spcPct val="0"/>
              </a:spcBef>
            </a:pPr>
            <a:r>
              <a:rPr lang="en-US" baseline="0" dirty="0"/>
              <a:t>On a large project it is important to include MULTIPLE project reviews or audits. These can be written in an milestones. </a:t>
            </a:r>
          </a:p>
          <a:p>
            <a:pPr eaLnBrk="1" hangingPunct="1">
              <a:spcBef>
                <a:spcPct val="0"/>
              </a:spcBef>
            </a:pPr>
            <a:r>
              <a:rPr lang="en-US" baseline="0" dirty="0"/>
              <a:t>This includes planning – if you write a beautiful plan without reviews, it may not be what the client wants. </a:t>
            </a:r>
            <a:endParaRPr lang="en-US" dirty="0"/>
          </a:p>
          <a:p>
            <a:endParaRPr lang="en-US" dirty="0"/>
          </a:p>
        </p:txBody>
      </p:sp>
      <p:sp>
        <p:nvSpPr>
          <p:cNvPr id="4" name="Slide Number Placeholder 3"/>
          <p:cNvSpPr>
            <a:spLocks noGrp="1"/>
          </p:cNvSpPr>
          <p:nvPr>
            <p:ph type="sldNum" sz="quarter" idx="5"/>
          </p:nvPr>
        </p:nvSpPr>
        <p:spPr/>
        <p:txBody>
          <a:bodyPr/>
          <a:lstStyle/>
          <a:p>
            <a:fld id="{7961E01C-8A59-4E01-8E40-DEF4046DA959}" type="slidenum">
              <a:rPr lang="en-US" smtClean="0"/>
              <a:t>5</a:t>
            </a:fld>
            <a:endParaRPr lang="en-US"/>
          </a:p>
        </p:txBody>
      </p:sp>
    </p:spTree>
    <p:extLst>
      <p:ext uri="{BB962C8B-B14F-4D97-AF65-F5344CB8AC3E}">
        <p14:creationId xmlns:p14="http://schemas.microsoft.com/office/powerpoint/2010/main" val="3726534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NZ" dirty="0"/>
              <a:t>This is another example. </a:t>
            </a:r>
          </a:p>
          <a:p>
            <a:pPr eaLnBrk="1" hangingPunct="1">
              <a:spcBef>
                <a:spcPct val="0"/>
              </a:spcBef>
            </a:pPr>
            <a:r>
              <a:rPr lang="en-NZ" dirty="0"/>
              <a:t>This example is</a:t>
            </a:r>
            <a:r>
              <a:rPr lang="en-NZ" baseline="0" dirty="0"/>
              <a:t> of a house specification.</a:t>
            </a:r>
          </a:p>
          <a:p>
            <a:endParaRPr lang="en-US" dirty="0"/>
          </a:p>
        </p:txBody>
      </p:sp>
      <p:sp>
        <p:nvSpPr>
          <p:cNvPr id="4" name="Slide Number Placeholder 3"/>
          <p:cNvSpPr>
            <a:spLocks noGrp="1"/>
          </p:cNvSpPr>
          <p:nvPr>
            <p:ph type="sldNum" sz="quarter" idx="5"/>
          </p:nvPr>
        </p:nvSpPr>
        <p:spPr/>
        <p:txBody>
          <a:bodyPr/>
          <a:lstStyle/>
          <a:p>
            <a:fld id="{7961E01C-8A59-4E01-8E40-DEF4046DA959}" type="slidenum">
              <a:rPr lang="en-US" smtClean="0"/>
              <a:t>6</a:t>
            </a:fld>
            <a:endParaRPr lang="en-US"/>
          </a:p>
        </p:txBody>
      </p:sp>
    </p:spTree>
    <p:extLst>
      <p:ext uri="{BB962C8B-B14F-4D97-AF65-F5344CB8AC3E}">
        <p14:creationId xmlns:p14="http://schemas.microsoft.com/office/powerpoint/2010/main" val="3174080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NZ" dirty="0"/>
              <a:t>This is another example. </a:t>
            </a:r>
          </a:p>
          <a:p>
            <a:pPr eaLnBrk="1" hangingPunct="1">
              <a:spcBef>
                <a:spcPct val="0"/>
              </a:spcBef>
            </a:pPr>
            <a:r>
              <a:rPr lang="en-NZ" dirty="0"/>
              <a:t>This example is</a:t>
            </a:r>
            <a:r>
              <a:rPr lang="en-NZ" baseline="0" dirty="0"/>
              <a:t> of a house specification.</a:t>
            </a:r>
          </a:p>
          <a:p>
            <a:endParaRPr lang="en-US" dirty="0"/>
          </a:p>
        </p:txBody>
      </p:sp>
      <p:sp>
        <p:nvSpPr>
          <p:cNvPr id="4" name="Slide Number Placeholder 3"/>
          <p:cNvSpPr>
            <a:spLocks noGrp="1"/>
          </p:cNvSpPr>
          <p:nvPr>
            <p:ph type="sldNum" sz="quarter" idx="5"/>
          </p:nvPr>
        </p:nvSpPr>
        <p:spPr/>
        <p:txBody>
          <a:bodyPr/>
          <a:lstStyle/>
          <a:p>
            <a:fld id="{7961E01C-8A59-4E01-8E40-DEF4046DA959}" type="slidenum">
              <a:rPr lang="en-US" smtClean="0"/>
              <a:t>7</a:t>
            </a:fld>
            <a:endParaRPr lang="en-US"/>
          </a:p>
        </p:txBody>
      </p:sp>
    </p:spTree>
    <p:extLst>
      <p:ext uri="{BB962C8B-B14F-4D97-AF65-F5344CB8AC3E}">
        <p14:creationId xmlns:p14="http://schemas.microsoft.com/office/powerpoint/2010/main" val="2020926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NZ" dirty="0"/>
              <a:t>This is another example. </a:t>
            </a:r>
          </a:p>
          <a:p>
            <a:pPr eaLnBrk="1" hangingPunct="1">
              <a:spcBef>
                <a:spcPct val="0"/>
              </a:spcBef>
            </a:pPr>
            <a:r>
              <a:rPr lang="en-NZ" dirty="0"/>
              <a:t>This example is</a:t>
            </a:r>
            <a:r>
              <a:rPr lang="en-NZ" baseline="0" dirty="0"/>
              <a:t> of a house specification.</a:t>
            </a:r>
          </a:p>
          <a:p>
            <a:endParaRPr lang="en-US" dirty="0"/>
          </a:p>
        </p:txBody>
      </p:sp>
      <p:sp>
        <p:nvSpPr>
          <p:cNvPr id="4" name="Slide Number Placeholder 3"/>
          <p:cNvSpPr>
            <a:spLocks noGrp="1"/>
          </p:cNvSpPr>
          <p:nvPr>
            <p:ph type="sldNum" sz="quarter" idx="5"/>
          </p:nvPr>
        </p:nvSpPr>
        <p:spPr/>
        <p:txBody>
          <a:bodyPr/>
          <a:lstStyle/>
          <a:p>
            <a:fld id="{7961E01C-8A59-4E01-8E40-DEF4046DA959}" type="slidenum">
              <a:rPr lang="en-US" smtClean="0"/>
              <a:t>8</a:t>
            </a:fld>
            <a:endParaRPr lang="en-US"/>
          </a:p>
        </p:txBody>
      </p:sp>
    </p:spTree>
    <p:extLst>
      <p:ext uri="{BB962C8B-B14F-4D97-AF65-F5344CB8AC3E}">
        <p14:creationId xmlns:p14="http://schemas.microsoft.com/office/powerpoint/2010/main" val="639517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99A1316F-2771-4711-903C-CD73EE436DFE}" type="slidenum">
              <a:rPr lang="en-NZ" smtClean="0"/>
              <a:t>14</a:t>
            </a:fld>
            <a:endParaRPr lang="en-NZ"/>
          </a:p>
        </p:txBody>
      </p:sp>
    </p:spTree>
    <p:extLst>
      <p:ext uri="{BB962C8B-B14F-4D97-AF65-F5344CB8AC3E}">
        <p14:creationId xmlns:p14="http://schemas.microsoft.com/office/powerpoint/2010/main" val="2935820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costs - Chargeable to a specific work package (paid</a:t>
            </a:r>
            <a:r>
              <a:rPr lang="en-US" baseline="0" dirty="0"/>
              <a:t> as project progresses)</a:t>
            </a:r>
            <a:endParaRPr lang="en-US" dirty="0"/>
          </a:p>
          <a:p>
            <a:r>
              <a:rPr lang="en-US" dirty="0"/>
              <a:t>Direct overhead costs - Can be tied to project deliverables or work packages (e.g. PM salary, rental space)</a:t>
            </a:r>
          </a:p>
          <a:p>
            <a:r>
              <a:rPr lang="en-US" dirty="0"/>
              <a:t>G&amp;A costs</a:t>
            </a:r>
            <a:r>
              <a:rPr lang="en-US" baseline="0" dirty="0"/>
              <a:t> – org costs not directly linked to project (e.g. advertising, snr </a:t>
            </a:r>
            <a:r>
              <a:rPr lang="en-US" baseline="0" dirty="0" err="1"/>
              <a:t>mgmt</a:t>
            </a:r>
            <a:r>
              <a:rPr lang="en-US" baseline="0" dirty="0"/>
              <a:t>, </a:t>
            </a:r>
            <a:r>
              <a:rPr lang="en-US" baseline="0" dirty="0" err="1"/>
              <a:t>etc</a:t>
            </a:r>
            <a:r>
              <a:rPr lang="en-US" baseline="0" dirty="0"/>
              <a:t>)</a:t>
            </a:r>
            <a:endParaRPr lang="en-US" dirty="0"/>
          </a:p>
          <a:p>
            <a:endParaRPr lang="en-NZ" dirty="0"/>
          </a:p>
        </p:txBody>
      </p:sp>
      <p:sp>
        <p:nvSpPr>
          <p:cNvPr id="4" name="Slide Number Placeholder 3"/>
          <p:cNvSpPr>
            <a:spLocks noGrp="1"/>
          </p:cNvSpPr>
          <p:nvPr>
            <p:ph type="sldNum" sz="quarter" idx="5"/>
          </p:nvPr>
        </p:nvSpPr>
        <p:spPr/>
        <p:txBody>
          <a:bodyPr/>
          <a:lstStyle/>
          <a:p>
            <a:fld id="{7616B819-229C-4D53-88F6-59F43B50F8FA}" type="slidenum">
              <a:rPr lang="en-NZ" smtClean="0"/>
              <a:t>15</a:t>
            </a:fld>
            <a:endParaRPr lang="en-NZ"/>
          </a:p>
        </p:txBody>
      </p:sp>
    </p:spTree>
    <p:extLst>
      <p:ext uri="{BB962C8B-B14F-4D97-AF65-F5344CB8AC3E}">
        <p14:creationId xmlns:p14="http://schemas.microsoft.com/office/powerpoint/2010/main" val="697502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865DC1D-46A7-40FC-8E2D-7F9B028E98C3}" type="slidenum">
              <a:rPr lang="en-US" smtClean="0"/>
              <a:pPr eaLnBrk="1" hangingPunct="1"/>
              <a:t>16</a:t>
            </a:fld>
            <a:endParaRPr lang="en-US"/>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NZ" dirty="0"/>
              <a:t>Earned value management analysis relates</a:t>
            </a:r>
            <a:r>
              <a:rPr lang="en-NZ" baseline="0" dirty="0"/>
              <a:t> well to the kind of questions we ask when monitoring a project. Whilst there are many acronyms, once you get used to these they are easy to understand, and thankfully because they are longstanding financial criteria, most other managers in the business will understand what you mean. </a:t>
            </a:r>
            <a:endParaRPr lang="en-NZ" dirty="0"/>
          </a:p>
        </p:txBody>
      </p:sp>
    </p:spTree>
    <p:extLst>
      <p:ext uri="{BB962C8B-B14F-4D97-AF65-F5344CB8AC3E}">
        <p14:creationId xmlns:p14="http://schemas.microsoft.com/office/powerpoint/2010/main" val="1246169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 recommendation following</a:t>
            </a:r>
            <a:r>
              <a:rPr lang="en-NZ" baseline="0" dirty="0"/>
              <a:t> on from your project organisational chart is a list of responsibilities or job descriptions for team members.</a:t>
            </a:r>
          </a:p>
          <a:p>
            <a:r>
              <a:rPr lang="en-NZ" baseline="0" dirty="0"/>
              <a:t>So a little beyond the organisational chart. </a:t>
            </a:r>
            <a:endParaRPr lang="en-NZ" dirty="0"/>
          </a:p>
          <a:p>
            <a:endParaRPr lang="en-NZ" dirty="0"/>
          </a:p>
        </p:txBody>
      </p:sp>
      <p:sp>
        <p:nvSpPr>
          <p:cNvPr id="4" name="Slide Number Placeholder 3"/>
          <p:cNvSpPr>
            <a:spLocks noGrp="1"/>
          </p:cNvSpPr>
          <p:nvPr>
            <p:ph type="sldNum" sz="quarter" idx="5"/>
          </p:nvPr>
        </p:nvSpPr>
        <p:spPr/>
        <p:txBody>
          <a:bodyPr/>
          <a:lstStyle/>
          <a:p>
            <a:fld id="{FFAFAE01-F6FB-4E6A-8A4D-1D5F707B1A08}" type="slidenum">
              <a:rPr lang="en-NZ" smtClean="0"/>
              <a:t>17</a:t>
            </a:fld>
            <a:endParaRPr lang="en-NZ"/>
          </a:p>
        </p:txBody>
      </p:sp>
    </p:spTree>
    <p:extLst>
      <p:ext uri="{BB962C8B-B14F-4D97-AF65-F5344CB8AC3E}">
        <p14:creationId xmlns:p14="http://schemas.microsoft.com/office/powerpoint/2010/main" val="3125768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 recommendation following</a:t>
            </a:r>
            <a:r>
              <a:rPr lang="en-NZ" baseline="0" dirty="0"/>
              <a:t> on from your project organisational chart is a list of responsibilities or job descriptions for team members.</a:t>
            </a:r>
          </a:p>
          <a:p>
            <a:r>
              <a:rPr lang="en-NZ" baseline="0" dirty="0"/>
              <a:t>So a little beyond the organisational chart. </a:t>
            </a:r>
            <a:endParaRPr lang="en-NZ" dirty="0"/>
          </a:p>
          <a:p>
            <a:endParaRPr lang="en-NZ" dirty="0"/>
          </a:p>
        </p:txBody>
      </p:sp>
      <p:sp>
        <p:nvSpPr>
          <p:cNvPr id="4" name="Slide Number Placeholder 3"/>
          <p:cNvSpPr>
            <a:spLocks noGrp="1"/>
          </p:cNvSpPr>
          <p:nvPr>
            <p:ph type="sldNum" sz="quarter" idx="5"/>
          </p:nvPr>
        </p:nvSpPr>
        <p:spPr/>
        <p:txBody>
          <a:bodyPr/>
          <a:lstStyle/>
          <a:p>
            <a:fld id="{FFAFAE01-F6FB-4E6A-8A4D-1D5F707B1A08}" type="slidenum">
              <a:rPr lang="en-NZ" smtClean="0"/>
              <a:t>18</a:t>
            </a:fld>
            <a:endParaRPr lang="en-NZ"/>
          </a:p>
        </p:txBody>
      </p:sp>
    </p:spTree>
    <p:extLst>
      <p:ext uri="{BB962C8B-B14F-4D97-AF65-F5344CB8AC3E}">
        <p14:creationId xmlns:p14="http://schemas.microsoft.com/office/powerpoint/2010/main" val="673599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Gantt charts provide definite advantages when</a:t>
            </a:r>
            <a:r>
              <a:rPr lang="en-NZ" baseline="0" dirty="0"/>
              <a:t> reporting on a project.</a:t>
            </a:r>
          </a:p>
          <a:p>
            <a:r>
              <a:rPr lang="en-NZ" baseline="0" dirty="0"/>
              <a:t>Most executives understand reporting against a Gantt chart, and they are useful tools to show groups of milestones and demonstrate individual resource use. </a:t>
            </a:r>
          </a:p>
          <a:p>
            <a:endParaRPr lang="en-NZ" dirty="0"/>
          </a:p>
        </p:txBody>
      </p:sp>
      <p:sp>
        <p:nvSpPr>
          <p:cNvPr id="4" name="Slide Number Placeholder 3"/>
          <p:cNvSpPr>
            <a:spLocks noGrp="1"/>
          </p:cNvSpPr>
          <p:nvPr>
            <p:ph type="sldNum" sz="quarter" idx="5"/>
          </p:nvPr>
        </p:nvSpPr>
        <p:spPr/>
        <p:txBody>
          <a:bodyPr/>
          <a:lstStyle/>
          <a:p>
            <a:fld id="{99A1316F-2771-4711-903C-CD73EE436DFE}" type="slidenum">
              <a:rPr lang="en-NZ" smtClean="0"/>
              <a:t>19</a:t>
            </a:fld>
            <a:endParaRPr lang="en-NZ"/>
          </a:p>
        </p:txBody>
      </p:sp>
    </p:spTree>
    <p:extLst>
      <p:ext uri="{BB962C8B-B14F-4D97-AF65-F5344CB8AC3E}">
        <p14:creationId xmlns:p14="http://schemas.microsoft.com/office/powerpoint/2010/main" val="3135356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There are however many disadvantages, and these</a:t>
            </a:r>
            <a:r>
              <a:rPr lang="en-NZ" baseline="0" dirty="0"/>
              <a:t> are why professional planners prefer to use the Work Breakdown Structure. </a:t>
            </a:r>
            <a:endParaRPr lang="en-NZ" dirty="0"/>
          </a:p>
          <a:p>
            <a:endParaRPr lang="en-NZ" dirty="0"/>
          </a:p>
        </p:txBody>
      </p:sp>
      <p:sp>
        <p:nvSpPr>
          <p:cNvPr id="4" name="Slide Number Placeholder 3"/>
          <p:cNvSpPr>
            <a:spLocks noGrp="1"/>
          </p:cNvSpPr>
          <p:nvPr>
            <p:ph type="sldNum" sz="quarter" idx="5"/>
          </p:nvPr>
        </p:nvSpPr>
        <p:spPr/>
        <p:txBody>
          <a:bodyPr/>
          <a:lstStyle/>
          <a:p>
            <a:fld id="{99A1316F-2771-4711-903C-CD73EE436DFE}" type="slidenum">
              <a:rPr lang="en-NZ" smtClean="0"/>
              <a:t>20</a:t>
            </a:fld>
            <a:endParaRPr lang="en-NZ"/>
          </a:p>
        </p:txBody>
      </p:sp>
    </p:spTree>
    <p:extLst>
      <p:ext uri="{BB962C8B-B14F-4D97-AF65-F5344CB8AC3E}">
        <p14:creationId xmlns:p14="http://schemas.microsoft.com/office/powerpoint/2010/main" val="1650939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06592F19-9BA0-4523-A9AF-0C6D565902BE}" type="slidenum">
              <a:rPr lang="en-NZ" smtClean="0"/>
              <a:t>21</a:t>
            </a:fld>
            <a:endParaRPr lang="en-NZ"/>
          </a:p>
        </p:txBody>
      </p:sp>
    </p:spTree>
    <p:extLst>
      <p:ext uri="{BB962C8B-B14F-4D97-AF65-F5344CB8AC3E}">
        <p14:creationId xmlns:p14="http://schemas.microsoft.com/office/powerpoint/2010/main" val="3972119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dirty="0"/>
              <a:t>With standardized forms used in most projects.</a:t>
            </a:r>
          </a:p>
        </p:txBody>
      </p:sp>
      <p:sp>
        <p:nvSpPr>
          <p:cNvPr id="4" name="Slide Number Placeholder 3"/>
          <p:cNvSpPr>
            <a:spLocks noGrp="1"/>
          </p:cNvSpPr>
          <p:nvPr>
            <p:ph type="sldNum" sz="quarter" idx="5"/>
          </p:nvPr>
        </p:nvSpPr>
        <p:spPr/>
        <p:txBody>
          <a:bodyPr/>
          <a:lstStyle/>
          <a:p>
            <a:fld id="{7961E01C-8A59-4E01-8E40-DEF4046DA959}" type="slidenum">
              <a:rPr lang="en-US" smtClean="0"/>
              <a:t>22</a:t>
            </a:fld>
            <a:endParaRPr lang="en-US"/>
          </a:p>
        </p:txBody>
      </p:sp>
    </p:spTree>
    <p:extLst>
      <p:ext uri="{BB962C8B-B14F-4D97-AF65-F5344CB8AC3E}">
        <p14:creationId xmlns:p14="http://schemas.microsoft.com/office/powerpoint/2010/main" val="1284302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Unlike the Gantt chart which shows a list of work to be done, the Work Breakdown or </a:t>
            </a:r>
            <a:r>
              <a:rPr lang="en-NZ" dirty="0" err="1"/>
              <a:t>Gazinto</a:t>
            </a:r>
            <a:r>
              <a:rPr lang="en-NZ" dirty="0"/>
              <a:t> chart,</a:t>
            </a:r>
            <a:r>
              <a:rPr lang="en-NZ" baseline="0" dirty="0"/>
              <a:t> shows the relationship between all the parts of work.</a:t>
            </a:r>
          </a:p>
          <a:p>
            <a:r>
              <a:rPr lang="en-NZ" baseline="0" dirty="0"/>
              <a:t>The </a:t>
            </a:r>
            <a:r>
              <a:rPr lang="en-NZ" baseline="0" dirty="0" err="1"/>
              <a:t>Gazinto</a:t>
            </a:r>
            <a:r>
              <a:rPr lang="en-NZ" baseline="0" dirty="0"/>
              <a:t> or Work Breakdown chart was produced later than the Gantt chart, and is used less than a Gantt chart in general practice.</a:t>
            </a:r>
          </a:p>
          <a:p>
            <a:r>
              <a:rPr lang="en-NZ" baseline="0" dirty="0"/>
              <a:t>However, this it is important to understand the relationships between the parts of work to be done, and this is often a point of project failure when the work hierarchy and relationships change throughout the course of a project. </a:t>
            </a:r>
          </a:p>
          <a:p>
            <a:endParaRPr lang="en-NZ" baseline="0" dirty="0"/>
          </a:p>
          <a:p>
            <a:pPr>
              <a:defRPr/>
            </a:pPr>
            <a:r>
              <a:rPr lang="en-US" dirty="0"/>
              <a:t>Gantt chart developed in 1917 by Henry L Gantt, a pioneer in the field of scientific management. Gantt shows planned and actual progress for a number of tasks displayed as bars against a horizontal time scale. Its an easy to read format. </a:t>
            </a:r>
          </a:p>
          <a:p>
            <a:pPr>
              <a:defRPr/>
            </a:pPr>
            <a:r>
              <a:rPr lang="en-US" dirty="0"/>
              <a:t>There are several advantages of using a Gantt chart;</a:t>
            </a:r>
          </a:p>
          <a:p>
            <a:pPr marL="228515" indent="-228515">
              <a:buFontTx/>
              <a:buAutoNum type="arabicPeriod"/>
              <a:defRPr/>
            </a:pPr>
            <a:r>
              <a:rPr lang="en-US" dirty="0"/>
              <a:t>They are easy to understand.</a:t>
            </a:r>
          </a:p>
          <a:p>
            <a:pPr marL="228515" indent="-228515">
              <a:buFontTx/>
              <a:buAutoNum type="arabicPeriod"/>
              <a:defRPr/>
            </a:pPr>
            <a:r>
              <a:rPr lang="en-US" dirty="0"/>
              <a:t>They are easy to update – as long as no major changes are wanted.</a:t>
            </a:r>
          </a:p>
          <a:p>
            <a:pPr marL="228515" indent="-228515">
              <a:buFontTx/>
              <a:buAutoNum type="arabicPeriod"/>
              <a:defRPr/>
            </a:pPr>
            <a:r>
              <a:rPr lang="en-US" dirty="0"/>
              <a:t>Provides a good picture of the current state of the project.</a:t>
            </a:r>
          </a:p>
          <a:p>
            <a:pPr marL="228515" indent="-228515">
              <a:buFontTx/>
              <a:buAutoNum type="arabicPeriod"/>
              <a:defRPr/>
            </a:pPr>
            <a:endParaRPr lang="en-US" dirty="0"/>
          </a:p>
          <a:p>
            <a:pPr marL="0" indent="0">
              <a:buFontTx/>
              <a:buNone/>
              <a:defRPr/>
            </a:pPr>
            <a:r>
              <a:rPr lang="en-US" dirty="0"/>
              <a:t>A Gantt chart is a type of network diagram and is an easy visual</a:t>
            </a:r>
            <a:r>
              <a:rPr lang="en-US" baseline="0" dirty="0"/>
              <a:t> to read. </a:t>
            </a:r>
          </a:p>
          <a:p>
            <a:pPr marL="0" indent="0">
              <a:buFontTx/>
              <a:buNone/>
              <a:defRPr/>
            </a:pPr>
            <a:endParaRPr lang="en-US" baseline="0" dirty="0"/>
          </a:p>
          <a:p>
            <a:pPr marL="0" indent="0">
              <a:buFontTx/>
              <a:buNone/>
              <a:defRPr/>
            </a:pPr>
            <a:r>
              <a:rPr lang="en-US" baseline="0" dirty="0"/>
              <a:t>BUT – they are also used as a to do list and not linked up well enough to run a project on. </a:t>
            </a:r>
            <a:endParaRPr lang="en-NZ" dirty="0"/>
          </a:p>
          <a:p>
            <a:endParaRPr lang="en-US" dirty="0"/>
          </a:p>
        </p:txBody>
      </p:sp>
      <p:sp>
        <p:nvSpPr>
          <p:cNvPr id="4" name="Slide Number Placeholder 3"/>
          <p:cNvSpPr>
            <a:spLocks noGrp="1"/>
          </p:cNvSpPr>
          <p:nvPr>
            <p:ph type="sldNum" sz="quarter" idx="5"/>
          </p:nvPr>
        </p:nvSpPr>
        <p:spPr/>
        <p:txBody>
          <a:bodyPr/>
          <a:lstStyle/>
          <a:p>
            <a:fld id="{5BCBB022-AB1D-44DA-89C7-C41DFAA0AB4D}" type="slidenum">
              <a:rPr lang="en-US" smtClean="0"/>
              <a:t>24</a:t>
            </a:fld>
            <a:endParaRPr lang="en-US"/>
          </a:p>
        </p:txBody>
      </p:sp>
    </p:spTree>
    <p:extLst>
      <p:ext uri="{BB962C8B-B14F-4D97-AF65-F5344CB8AC3E}">
        <p14:creationId xmlns:p14="http://schemas.microsoft.com/office/powerpoint/2010/main" val="2336274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This is a computer generated example of a typical work breakdown structure, and in case its in a PERT style, and is useful to see the colour coding so that we can easily assess</a:t>
            </a:r>
            <a:r>
              <a:rPr lang="en-NZ" baseline="0" dirty="0"/>
              <a:t> what is a project, a subproject, main work packages and other work packages involved in these areas – each of which will be references and owned by someone.</a:t>
            </a:r>
          </a:p>
          <a:p>
            <a:r>
              <a:rPr lang="en-NZ" baseline="0" dirty="0"/>
              <a:t>This is a similar view to the one we would get if we used the Microsoft Project software product most often used by project managers in industry.</a:t>
            </a:r>
            <a:endParaRPr lang="en-NZ" dirty="0"/>
          </a:p>
          <a:p>
            <a:endParaRPr lang="en-US" dirty="0"/>
          </a:p>
        </p:txBody>
      </p:sp>
      <p:sp>
        <p:nvSpPr>
          <p:cNvPr id="4" name="Slide Number Placeholder 3"/>
          <p:cNvSpPr>
            <a:spLocks noGrp="1"/>
          </p:cNvSpPr>
          <p:nvPr>
            <p:ph type="sldNum" sz="quarter" idx="5"/>
          </p:nvPr>
        </p:nvSpPr>
        <p:spPr/>
        <p:txBody>
          <a:bodyPr/>
          <a:lstStyle/>
          <a:p>
            <a:fld id="{5BCBB022-AB1D-44DA-89C7-C41DFAA0AB4D}" type="slidenum">
              <a:rPr lang="en-US" smtClean="0"/>
              <a:t>25</a:t>
            </a:fld>
            <a:endParaRPr lang="en-US"/>
          </a:p>
        </p:txBody>
      </p:sp>
    </p:spTree>
    <p:extLst>
      <p:ext uri="{BB962C8B-B14F-4D97-AF65-F5344CB8AC3E}">
        <p14:creationId xmlns:p14="http://schemas.microsoft.com/office/powerpoint/2010/main" val="138738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42EB-5061-75BC-78C1-623FAADE67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D45C22E5-CEB0-F771-9551-014D13E796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3C82DCBC-FF4D-5EAB-238F-96ADF8836CEF}"/>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5" name="Footer Placeholder 4">
            <a:extLst>
              <a:ext uri="{FF2B5EF4-FFF2-40B4-BE49-F238E27FC236}">
                <a16:creationId xmlns:a16="http://schemas.microsoft.com/office/drawing/2014/main" id="{102BCC52-B2DA-7DAD-9365-5FBC65A2C0A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BE58117-B3A8-7854-6537-9EEBB22DC39E}"/>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2848674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8ED2-4A48-F2EF-D31D-3F8B23C461FC}"/>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F848D2F9-BB34-B768-0653-1B36F4F2BA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15415E9-67E3-44F4-2768-52FB70857166}"/>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5" name="Footer Placeholder 4">
            <a:extLst>
              <a:ext uri="{FF2B5EF4-FFF2-40B4-BE49-F238E27FC236}">
                <a16:creationId xmlns:a16="http://schemas.microsoft.com/office/drawing/2014/main" id="{B4638995-5830-38A9-9742-E54D0F1B239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7E835A6-56FB-FBDF-3D56-21A9CDEE301A}"/>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1813000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4F1C9-7D51-8BDD-1952-001D0D3E1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0BD848EF-05F7-487D-09DE-B58547DF00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E8D0FA-EBC9-47AB-A428-D77E97629587}"/>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5" name="Footer Placeholder 4">
            <a:extLst>
              <a:ext uri="{FF2B5EF4-FFF2-40B4-BE49-F238E27FC236}">
                <a16:creationId xmlns:a16="http://schemas.microsoft.com/office/drawing/2014/main" id="{AD0EF480-1506-B1A1-FA4F-2727001A895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E73CDB9-1C73-3ECC-9733-9E599E177335}"/>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2774416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8FA6-6F95-8228-130B-1A9526523607}"/>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FC3634C0-B09E-1F0F-E663-042B66EF00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6A2939C5-3D5D-949C-0A76-E6DD93EF8C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12A64210-BFBD-F3AB-E423-8DB8FB3DD346}"/>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6" name="Footer Placeholder 5">
            <a:extLst>
              <a:ext uri="{FF2B5EF4-FFF2-40B4-BE49-F238E27FC236}">
                <a16:creationId xmlns:a16="http://schemas.microsoft.com/office/drawing/2014/main" id="{ACB04554-6F2D-0977-8BAA-83CC23A61B74}"/>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2B881509-C1C9-DB77-0DC5-87C06E6AEA34}"/>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3834484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6E626-C4D1-F1E0-A066-98944893C272}"/>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6448C54D-6F77-93B3-BDA9-FB95201D1F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240DB-E3DD-7386-9EFA-032A5C5706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F97F15DB-867F-243C-7710-BAA36A3DE7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F37316-0B81-5311-08F9-EDA5EB1FC3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D66CBD02-7965-7B78-9BBE-E32D4DA9D2F4}"/>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8" name="Footer Placeholder 7">
            <a:extLst>
              <a:ext uri="{FF2B5EF4-FFF2-40B4-BE49-F238E27FC236}">
                <a16:creationId xmlns:a16="http://schemas.microsoft.com/office/drawing/2014/main" id="{392BE510-9802-58E5-6B4D-11DDD51ABD0F}"/>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D7475CA6-70FA-084F-EE73-396ECE149788}"/>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2805685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08CE-FA7E-8D70-4F27-92750B98026F}"/>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62AB81B8-6C36-ACDA-A8EC-E1B3DD935EB1}"/>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4" name="Footer Placeholder 3">
            <a:extLst>
              <a:ext uri="{FF2B5EF4-FFF2-40B4-BE49-F238E27FC236}">
                <a16:creationId xmlns:a16="http://schemas.microsoft.com/office/drawing/2014/main" id="{590B850A-061A-F813-D03E-0A4B5256ADF1}"/>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D6F64EE8-FDBC-783F-BFD0-CC60C2D0AF2E}"/>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879388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0478F7-E97A-C5E4-055F-B625239018E5}"/>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3" name="Footer Placeholder 2">
            <a:extLst>
              <a:ext uri="{FF2B5EF4-FFF2-40B4-BE49-F238E27FC236}">
                <a16:creationId xmlns:a16="http://schemas.microsoft.com/office/drawing/2014/main" id="{B8F921A8-B2CF-ADE2-8A4C-D023A0302210}"/>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44133523-1ECF-F7A5-E65D-F4EFD3A67D47}"/>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600500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CF474-8231-B0A2-F1F3-D402FB2B0F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1332851B-C92A-3647-4F16-52FBD525D8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403D306C-5DB1-AC4E-C2A9-5815510A79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1BA8CF-F35D-952B-1CA9-F5CEC36983E6}"/>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6" name="Footer Placeholder 5">
            <a:extLst>
              <a:ext uri="{FF2B5EF4-FFF2-40B4-BE49-F238E27FC236}">
                <a16:creationId xmlns:a16="http://schemas.microsoft.com/office/drawing/2014/main" id="{6919F41C-8A07-A2DC-F0E9-FD977BD63B29}"/>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0EB113E-C94F-1991-EA46-2AA205181AB9}"/>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1692484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7B7A1-B52B-6E75-DC07-562A461775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FE7E67E2-A6C1-3BBD-3263-6F2ECE4997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A5A033C1-629E-B059-4328-5A8DC1089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D57BA-4BD9-39EB-443B-502901790A09}"/>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6" name="Footer Placeholder 5">
            <a:extLst>
              <a:ext uri="{FF2B5EF4-FFF2-40B4-BE49-F238E27FC236}">
                <a16:creationId xmlns:a16="http://schemas.microsoft.com/office/drawing/2014/main" id="{6DEEBAD7-FF40-2436-64E2-77F1465472E3}"/>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F4770CCE-5ADE-5A72-1ACD-7E37B68AE710}"/>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3953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3E091-CBA1-DEA4-A7E1-1336961135D6}"/>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9AE2ACD4-C623-9322-96EA-6581C3AD54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AF108EE-F3E5-068B-2DE7-9A0736D31CAE}"/>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5" name="Footer Placeholder 4">
            <a:extLst>
              <a:ext uri="{FF2B5EF4-FFF2-40B4-BE49-F238E27FC236}">
                <a16:creationId xmlns:a16="http://schemas.microsoft.com/office/drawing/2014/main" id="{3AA3F9D2-CBE4-A335-E7DD-DC62A197C15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1E5B514-7A41-1FBC-BD80-C3D2E2C96AC1}"/>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1138896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BA72C8-2618-031D-4BCB-858010DDA8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1AB72D52-E2D6-60BB-5C9D-54683DCBC8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3760AE7-8D7A-8C69-EF72-DE4251E28837}"/>
              </a:ext>
            </a:extLst>
          </p:cNvPr>
          <p:cNvSpPr>
            <a:spLocks noGrp="1"/>
          </p:cNvSpPr>
          <p:nvPr>
            <p:ph type="dt" sz="half" idx="10"/>
          </p:nvPr>
        </p:nvSpPr>
        <p:spPr/>
        <p:txBody>
          <a:bodyPr/>
          <a:lstStyle/>
          <a:p>
            <a:fld id="{04AB44E9-FEFE-4295-B09F-FAAB726E91BF}" type="datetimeFigureOut">
              <a:rPr lang="en-NZ" smtClean="0"/>
              <a:t>21/03/2023</a:t>
            </a:fld>
            <a:endParaRPr lang="en-NZ"/>
          </a:p>
        </p:txBody>
      </p:sp>
      <p:sp>
        <p:nvSpPr>
          <p:cNvPr id="5" name="Footer Placeholder 4">
            <a:extLst>
              <a:ext uri="{FF2B5EF4-FFF2-40B4-BE49-F238E27FC236}">
                <a16:creationId xmlns:a16="http://schemas.microsoft.com/office/drawing/2014/main" id="{DB105DC1-BC8B-18F1-65A3-3CED0CE1AE5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033FFB2-4E76-474F-CA93-A8690A426676}"/>
              </a:ext>
            </a:extLst>
          </p:cNvPr>
          <p:cNvSpPr>
            <a:spLocks noGrp="1"/>
          </p:cNvSpPr>
          <p:nvPr>
            <p:ph type="sldNum" sz="quarter" idx="12"/>
          </p:nvPr>
        </p:nvSpPr>
        <p:spPr/>
        <p:txBody>
          <a:bodyPr/>
          <a:lstStyle/>
          <a:p>
            <a:fld id="{9A5E3124-BEA3-40BD-B9D8-33317E7E6AD8}" type="slidenum">
              <a:rPr lang="en-NZ" smtClean="0"/>
              <a:t>‹#›</a:t>
            </a:fld>
            <a:endParaRPr lang="en-NZ"/>
          </a:p>
        </p:txBody>
      </p:sp>
    </p:spTree>
    <p:extLst>
      <p:ext uri="{BB962C8B-B14F-4D97-AF65-F5344CB8AC3E}">
        <p14:creationId xmlns:p14="http://schemas.microsoft.com/office/powerpoint/2010/main" val="3282147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3FE43-E4E5-9CA4-FF22-4940C50634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2057159-2150-9700-0140-FBBC3F8A97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80D2BAF-9596-2C45-6141-CF8F9EC701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AB44E9-FEFE-4295-B09F-FAAB726E91BF}" type="datetimeFigureOut">
              <a:rPr lang="en-NZ" smtClean="0"/>
              <a:t>21/03/2023</a:t>
            </a:fld>
            <a:endParaRPr lang="en-NZ"/>
          </a:p>
        </p:txBody>
      </p:sp>
      <p:sp>
        <p:nvSpPr>
          <p:cNvPr id="5" name="Footer Placeholder 4">
            <a:extLst>
              <a:ext uri="{FF2B5EF4-FFF2-40B4-BE49-F238E27FC236}">
                <a16:creationId xmlns:a16="http://schemas.microsoft.com/office/drawing/2014/main" id="{11BE6DD1-F414-9580-A4F7-5BA70F54B7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D0F6D60F-3F64-E7DE-FA87-1ADF062EFB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5E3124-BEA3-40BD-B9D8-33317E7E6AD8}" type="slidenum">
              <a:rPr lang="en-NZ" smtClean="0"/>
              <a:t>‹#›</a:t>
            </a:fld>
            <a:endParaRPr lang="en-NZ"/>
          </a:p>
        </p:txBody>
      </p:sp>
    </p:spTree>
    <p:extLst>
      <p:ext uri="{BB962C8B-B14F-4D97-AF65-F5344CB8AC3E}">
        <p14:creationId xmlns:p14="http://schemas.microsoft.com/office/powerpoint/2010/main" val="3191878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2.xml"/><Relationship Id="rId7" Type="http://schemas.openxmlformats.org/officeDocument/2006/relationships/image" Target="../media/image15.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4.xml"/><Relationship Id="rId9"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2FD63-F44A-07C0-3A68-E3CA72647059}"/>
              </a:ext>
            </a:extLst>
          </p:cNvPr>
          <p:cNvSpPr>
            <a:spLocks noGrp="1"/>
          </p:cNvSpPr>
          <p:nvPr>
            <p:ph type="ctrTitle"/>
          </p:nvPr>
        </p:nvSpPr>
        <p:spPr/>
        <p:txBody>
          <a:bodyPr>
            <a:normAutofit fontScale="90000"/>
          </a:bodyPr>
          <a:lstStyle/>
          <a:p>
            <a:r>
              <a:rPr lang="en-NZ" dirty="0"/>
              <a:t>An overview of project practice from the slides to guide the second assessment.</a:t>
            </a:r>
          </a:p>
        </p:txBody>
      </p:sp>
      <p:sp>
        <p:nvSpPr>
          <p:cNvPr id="3" name="Subtitle 2">
            <a:extLst>
              <a:ext uri="{FF2B5EF4-FFF2-40B4-BE49-F238E27FC236}">
                <a16:creationId xmlns:a16="http://schemas.microsoft.com/office/drawing/2014/main" id="{D11BE777-A16B-EF8A-E774-03B5BB21330A}"/>
              </a:ext>
            </a:extLst>
          </p:cNvPr>
          <p:cNvSpPr>
            <a:spLocks noGrp="1"/>
          </p:cNvSpPr>
          <p:nvPr>
            <p:ph type="subTitle" idx="1"/>
          </p:nvPr>
        </p:nvSpPr>
        <p:spPr/>
        <p:txBody>
          <a:bodyPr/>
          <a:lstStyle/>
          <a:p>
            <a:r>
              <a:rPr lang="en-NZ" dirty="0"/>
              <a:t>NOTE: All of these slides are available in Moodle. Please refer to each week for clarity </a:t>
            </a:r>
            <a:r>
              <a:rPr lang="en-NZ"/>
              <a:t>of understanding. </a:t>
            </a:r>
          </a:p>
        </p:txBody>
      </p:sp>
    </p:spTree>
    <p:extLst>
      <p:ext uri="{BB962C8B-B14F-4D97-AF65-F5344CB8AC3E}">
        <p14:creationId xmlns:p14="http://schemas.microsoft.com/office/powerpoint/2010/main" val="24394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5C01-56B2-4701-B160-1FA83D081561}"/>
              </a:ext>
            </a:extLst>
          </p:cNvPr>
          <p:cNvSpPr>
            <a:spLocks noGrp="1"/>
          </p:cNvSpPr>
          <p:nvPr>
            <p:ph type="title"/>
          </p:nvPr>
        </p:nvSpPr>
        <p:spPr>
          <a:xfrm>
            <a:off x="838199" y="46037"/>
            <a:ext cx="10515600" cy="1325563"/>
          </a:xfrm>
        </p:spPr>
        <p:txBody>
          <a:bodyPr>
            <a:normAutofit/>
          </a:bodyPr>
          <a:lstStyle/>
          <a:p>
            <a:r>
              <a:rPr lang="en-NZ" sz="3600" dirty="0"/>
              <a:t>Academic practice applied to a project: An example</a:t>
            </a:r>
          </a:p>
        </p:txBody>
      </p:sp>
      <p:sp>
        <p:nvSpPr>
          <p:cNvPr id="5" name="Content Placeholder 4">
            <a:extLst>
              <a:ext uri="{FF2B5EF4-FFF2-40B4-BE49-F238E27FC236}">
                <a16:creationId xmlns:a16="http://schemas.microsoft.com/office/drawing/2014/main" id="{75D0A0D8-F2A5-4C84-9702-087D9C94A12D}"/>
              </a:ext>
            </a:extLst>
          </p:cNvPr>
          <p:cNvSpPr>
            <a:spLocks noGrp="1"/>
          </p:cNvSpPr>
          <p:nvPr>
            <p:ph idx="1"/>
          </p:nvPr>
        </p:nvSpPr>
        <p:spPr>
          <a:xfrm>
            <a:off x="838199" y="1077686"/>
            <a:ext cx="10836729" cy="5470071"/>
          </a:xfrm>
        </p:spPr>
        <p:txBody>
          <a:bodyPr>
            <a:normAutofit fontScale="55000" lnSpcReduction="20000"/>
          </a:bodyPr>
          <a:lstStyle/>
          <a:p>
            <a:r>
              <a:rPr lang="en-HK" b="1" dirty="0"/>
              <a:t>An event approach</a:t>
            </a:r>
          </a:p>
          <a:p>
            <a:r>
              <a:rPr lang="en-NZ" b="1" dirty="0"/>
              <a:t>Identifying the critical path </a:t>
            </a:r>
            <a:endParaRPr lang="en-NZ" dirty="0"/>
          </a:p>
          <a:p>
            <a:r>
              <a:rPr lang="en-NZ" dirty="0"/>
              <a:t>After estimating the time completion of activities, the manager must identify the critical path of the project by investigating the network diagram and recognising the longest time duration in the path. Then, the project manager can set the priority level for each work package according to the network diagram (Harrison &amp; Lock, 2017; Smartsheet.com, 2015). If several critical paths are found, time will be a sensitive issue for the project. Monitoring these critical paths are required to elude schedule delay (Leach, 2014).</a:t>
            </a:r>
          </a:p>
          <a:p>
            <a:r>
              <a:rPr lang="en-NZ" dirty="0"/>
              <a:t>OP’s conference has several work packages with various time completions, and it is essential to determine the critical path to enable the project manager to prioritise the “critical” part (the longest path) and then move towards the “float” part (which does not affect project duration if delayed). In other words, the project manager can allocate resources based on priority levels, working from the critical path towards non-critical activities (Harrison &amp; Lock, 2017; </a:t>
            </a:r>
            <a:r>
              <a:rPr lang="en-NZ" dirty="0" err="1"/>
              <a:t>Hegazy</a:t>
            </a:r>
            <a:r>
              <a:rPr lang="en-NZ" dirty="0"/>
              <a:t> &amp; </a:t>
            </a:r>
            <a:r>
              <a:rPr lang="en-NZ" dirty="0" err="1"/>
              <a:t>Menesi</a:t>
            </a:r>
            <a:r>
              <a:rPr lang="en-NZ" dirty="0"/>
              <a:t>, 2010).</a:t>
            </a:r>
          </a:p>
          <a:p>
            <a:endParaRPr lang="en-NZ" b="1" dirty="0"/>
          </a:p>
          <a:p>
            <a:r>
              <a:rPr lang="en-NZ" b="1" dirty="0"/>
              <a:t>Network diagram</a:t>
            </a:r>
            <a:endParaRPr lang="en-NZ" dirty="0"/>
          </a:p>
          <a:p>
            <a:r>
              <a:rPr lang="en-NZ" dirty="0"/>
              <a:t>The main purpose of a network diagram is to plot out activities and dependencies visually to support the main program report (Project Management Institute, 2013; </a:t>
            </a:r>
            <a:r>
              <a:rPr lang="en-NZ" dirty="0" err="1"/>
              <a:t>Kerzner</a:t>
            </a:r>
            <a:r>
              <a:rPr lang="en-NZ" dirty="0"/>
              <a:t>, 2013). The network diagram is identified by </a:t>
            </a:r>
            <a:r>
              <a:rPr lang="en-NZ" dirty="0" err="1"/>
              <a:t>Passenheim</a:t>
            </a:r>
            <a:r>
              <a:rPr lang="en-NZ" dirty="0"/>
              <a:t> (2009) as a tool that aids project managers in efficiently mapping out activities, improving transparency on objectives, risks assessment (</a:t>
            </a:r>
            <a:r>
              <a:rPr lang="en-NZ" dirty="0" err="1"/>
              <a:t>Choles</a:t>
            </a:r>
            <a:r>
              <a:rPr lang="en-NZ" dirty="0"/>
              <a:t> </a:t>
            </a:r>
            <a:r>
              <a:rPr lang="en-NZ" dirty="0" err="1"/>
              <a:t>Arvilla</a:t>
            </a:r>
            <a:r>
              <a:rPr lang="en-NZ" dirty="0"/>
              <a:t>, 2014) and evaluating possible delays that may affect the project schedule.</a:t>
            </a:r>
          </a:p>
          <a:p>
            <a:r>
              <a:rPr lang="en-NZ" dirty="0"/>
              <a:t>It is therefore appropriate to apply such methodology to events management since it allows the entire team to understand relationships between tasks within a project. As supported by </a:t>
            </a:r>
            <a:r>
              <a:rPr lang="en-NZ" dirty="0" err="1"/>
              <a:t>Bowdin</a:t>
            </a:r>
            <a:r>
              <a:rPr lang="en-NZ" dirty="0"/>
              <a:t>, Allen, O’Toole, Harris, &amp; McDonnell (2012), networks provide for a useful tool in controlling task timelines and communication among team members.</a:t>
            </a:r>
          </a:p>
          <a:p>
            <a:r>
              <a:rPr lang="en-NZ" dirty="0"/>
              <a:t>Utilising networks for events management is supported by several authors (Raj, Walters, &amp; Rashid, 2017; </a:t>
            </a:r>
            <a:r>
              <a:rPr lang="en-NZ" dirty="0" err="1"/>
              <a:t>Bladen</a:t>
            </a:r>
            <a:r>
              <a:rPr lang="en-NZ" dirty="0"/>
              <a:t>, </a:t>
            </a:r>
            <a:r>
              <a:rPr lang="en-NZ" dirty="0" err="1"/>
              <a:t>Kennell</a:t>
            </a:r>
            <a:r>
              <a:rPr lang="en-NZ" dirty="0"/>
              <a:t>, </a:t>
            </a:r>
            <a:r>
              <a:rPr lang="en-NZ" dirty="0" err="1"/>
              <a:t>Abson</a:t>
            </a:r>
            <a:r>
              <a:rPr lang="en-NZ" dirty="0"/>
              <a:t>, &amp; Wilde, 2017; Van Der </a:t>
            </a:r>
            <a:r>
              <a:rPr lang="en-NZ" dirty="0" err="1"/>
              <a:t>Wagen</a:t>
            </a:r>
            <a:r>
              <a:rPr lang="en-NZ" dirty="0"/>
              <a:t> &amp; White, 2018) because network analysis is beneficial for multi-tasking purposes as it offers opportunity to work on several activities simultaneously and accomplishing more within a shorter timeframe. It will provide the project with the advantage of an organised activity layout and the ability to identify time-cost trade-offs (</a:t>
            </a:r>
            <a:r>
              <a:rPr lang="en-NZ" dirty="0" err="1"/>
              <a:t>Kerzner</a:t>
            </a:r>
            <a:r>
              <a:rPr lang="en-NZ" dirty="0"/>
              <a:t>, 2013).</a:t>
            </a:r>
          </a:p>
          <a:p>
            <a:r>
              <a:rPr lang="en-NZ" dirty="0"/>
              <a:t>CPM’s structured critical path though rigid (</a:t>
            </a:r>
            <a:r>
              <a:rPr lang="en-NZ" dirty="0" err="1"/>
              <a:t>Bowdin</a:t>
            </a:r>
            <a:r>
              <a:rPr lang="en-NZ" dirty="0"/>
              <a:t> et al., 2012) can be supported by </a:t>
            </a:r>
            <a:r>
              <a:rPr lang="en-NZ" dirty="0" err="1"/>
              <a:t>kanban’s</a:t>
            </a:r>
            <a:r>
              <a:rPr lang="en-NZ" dirty="0"/>
              <a:t> flexibility in dealing with activities that may require scope changes and would provide for quick task turnovers (Axelos, 2017).</a:t>
            </a:r>
          </a:p>
          <a:p>
            <a:endParaRPr lang="en-NZ" dirty="0"/>
          </a:p>
        </p:txBody>
      </p:sp>
    </p:spTree>
    <p:extLst>
      <p:ext uri="{BB962C8B-B14F-4D97-AF65-F5344CB8AC3E}">
        <p14:creationId xmlns:p14="http://schemas.microsoft.com/office/powerpoint/2010/main" val="2314241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F43141-9E35-42E5-9D1A-EBF3CA6EB7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F829149-F0B8-4B7B-B16A-78298D1365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D1D35A95-A693-4B4B-8B6C-9F6D85A80905}"/>
              </a:ext>
            </a:extLst>
          </p:cNvPr>
          <p:cNvSpPr txBox="1"/>
          <p:nvPr/>
        </p:nvSpPr>
        <p:spPr>
          <a:xfrm>
            <a:off x="3579961" y="192947"/>
            <a:ext cx="5032083" cy="769441"/>
          </a:xfrm>
          <a:prstGeom prst="rect">
            <a:avLst/>
          </a:prstGeom>
          <a:noFill/>
        </p:spPr>
        <p:txBody>
          <a:bodyPr wrap="none" rtlCol="0">
            <a:spAutoFit/>
          </a:bodyPr>
          <a:lstStyle/>
          <a:p>
            <a:pPr algn="ctr"/>
            <a:r>
              <a:rPr lang="en-US" sz="4400" b="1" dirty="0">
                <a:latin typeface="+mj-lt"/>
              </a:rPr>
              <a:t>Parts of a Project Plan</a:t>
            </a:r>
          </a:p>
        </p:txBody>
      </p:sp>
      <p:sp>
        <p:nvSpPr>
          <p:cNvPr id="9" name="TextBox 8">
            <a:extLst>
              <a:ext uri="{FF2B5EF4-FFF2-40B4-BE49-F238E27FC236}">
                <a16:creationId xmlns:a16="http://schemas.microsoft.com/office/drawing/2014/main" id="{39CAAE4D-B234-4D7B-83C4-D2089A3AB9FB}"/>
              </a:ext>
            </a:extLst>
          </p:cNvPr>
          <p:cNvSpPr txBox="1"/>
          <p:nvPr/>
        </p:nvSpPr>
        <p:spPr>
          <a:xfrm>
            <a:off x="427839" y="962388"/>
            <a:ext cx="9253057" cy="5786199"/>
          </a:xfrm>
          <a:prstGeom prst="rect">
            <a:avLst/>
          </a:prstGeom>
          <a:noFill/>
        </p:spPr>
        <p:txBody>
          <a:bodyPr wrap="square" rtlCol="0">
            <a:spAutoFit/>
          </a:bodyPr>
          <a:lstStyle/>
          <a:p>
            <a:pPr marL="355601" indent="-342900">
              <a:lnSpc>
                <a:spcPct val="100000"/>
              </a:lnSpc>
              <a:spcBef>
                <a:spcPts val="420"/>
              </a:spcBef>
              <a:buFont typeface="Wingdings" panose="05000000000000000000" pitchFamily="2" charset="2"/>
              <a:buChar char="Ø"/>
              <a:tabLst>
                <a:tab pos="262255" algn="l"/>
                <a:tab pos="262890" algn="l"/>
              </a:tabLst>
            </a:pPr>
            <a:r>
              <a:rPr lang="en-NZ" sz="2000" spc="-15" dirty="0">
                <a:latin typeface="Times New Roman"/>
                <a:cs typeface="Times New Roman"/>
              </a:rPr>
              <a:t>  Executive </a:t>
            </a:r>
            <a:r>
              <a:rPr lang="en-NZ" sz="2000" spc="20" dirty="0">
                <a:latin typeface="Times New Roman"/>
                <a:cs typeface="Times New Roman"/>
              </a:rPr>
              <a:t>summary </a:t>
            </a:r>
            <a:r>
              <a:rPr lang="en-NZ" sz="2000" spc="15" dirty="0">
                <a:latin typeface="Times New Roman"/>
                <a:cs typeface="Times New Roman"/>
              </a:rPr>
              <a:t>(project</a:t>
            </a:r>
            <a:r>
              <a:rPr lang="en-NZ" sz="2000" spc="-10" dirty="0">
                <a:latin typeface="Times New Roman"/>
                <a:cs typeface="Times New Roman"/>
              </a:rPr>
              <a:t> </a:t>
            </a:r>
            <a:r>
              <a:rPr lang="en-NZ" sz="2000" dirty="0">
                <a:latin typeface="Times New Roman"/>
                <a:cs typeface="Times New Roman"/>
              </a:rPr>
              <a:t>overview)</a:t>
            </a: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Project</a:t>
            </a:r>
            <a:r>
              <a:rPr lang="en-NZ" sz="2000" spc="-20" dirty="0">
                <a:latin typeface="Times New Roman"/>
                <a:cs typeface="Times New Roman"/>
              </a:rPr>
              <a:t> </a:t>
            </a:r>
            <a:r>
              <a:rPr lang="en-NZ" sz="2000" spc="10" dirty="0">
                <a:latin typeface="Times New Roman"/>
                <a:cs typeface="Times New Roman"/>
              </a:rPr>
              <a:t>objectives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Project </a:t>
            </a:r>
            <a:r>
              <a:rPr lang="en-NZ" sz="2000" spc="25" dirty="0">
                <a:latin typeface="Times New Roman"/>
                <a:cs typeface="Times New Roman"/>
              </a:rPr>
              <a:t>assumptions </a:t>
            </a:r>
            <a:r>
              <a:rPr lang="en-NZ" sz="2000" spc="45" dirty="0">
                <a:latin typeface="Times New Roman"/>
                <a:cs typeface="Times New Roman"/>
              </a:rPr>
              <a:t>and</a:t>
            </a:r>
            <a:r>
              <a:rPr lang="en-NZ" sz="2000" spc="-80" dirty="0">
                <a:latin typeface="Times New Roman"/>
                <a:cs typeface="Times New Roman"/>
              </a:rPr>
              <a:t> </a:t>
            </a:r>
            <a:r>
              <a:rPr lang="en-NZ" sz="2000" spc="-15" dirty="0">
                <a:latin typeface="Times New Roman"/>
                <a:cs typeface="Times New Roman"/>
              </a:rPr>
              <a:t>risks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Project</a:t>
            </a:r>
            <a:r>
              <a:rPr lang="en-NZ" sz="2000" spc="-20" dirty="0">
                <a:latin typeface="Times New Roman"/>
                <a:cs typeface="Times New Roman"/>
              </a:rPr>
              <a:t> </a:t>
            </a:r>
            <a:r>
              <a:rPr lang="en-NZ" sz="2000" spc="20" dirty="0">
                <a:latin typeface="Times New Roman"/>
                <a:cs typeface="Times New Roman"/>
              </a:rPr>
              <a:t>milestones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5" dirty="0">
                <a:latin typeface="Times New Roman"/>
                <a:cs typeface="Times New Roman"/>
              </a:rPr>
              <a:t>  Work </a:t>
            </a:r>
            <a:r>
              <a:rPr lang="en-NZ" sz="2000" spc="25" dirty="0">
                <a:latin typeface="Times New Roman"/>
                <a:cs typeface="Times New Roman"/>
              </a:rPr>
              <a:t>breakdown</a:t>
            </a:r>
            <a:r>
              <a:rPr lang="en-NZ" sz="2000" spc="-55" dirty="0">
                <a:latin typeface="Times New Roman"/>
                <a:cs typeface="Times New Roman"/>
              </a:rPr>
              <a:t> </a:t>
            </a:r>
            <a:r>
              <a:rPr lang="en-NZ" sz="2000" spc="35" dirty="0">
                <a:latin typeface="Times New Roman"/>
                <a:cs typeface="Times New Roman"/>
              </a:rPr>
              <a:t>structure</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Network</a:t>
            </a:r>
            <a:r>
              <a:rPr lang="en-NZ" sz="2000" spc="-20" dirty="0">
                <a:latin typeface="Times New Roman"/>
                <a:cs typeface="Times New Roman"/>
              </a:rPr>
              <a:t> </a:t>
            </a:r>
            <a:r>
              <a:rPr lang="en-NZ" sz="2000" spc="15" dirty="0">
                <a:latin typeface="Times New Roman"/>
                <a:cs typeface="Times New Roman"/>
              </a:rPr>
              <a:t>diagram</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Resource</a:t>
            </a:r>
            <a:r>
              <a:rPr lang="en-NZ" sz="2000" spc="-35" dirty="0">
                <a:latin typeface="Times New Roman"/>
                <a:cs typeface="Times New Roman"/>
              </a:rPr>
              <a:t> </a:t>
            </a:r>
            <a:r>
              <a:rPr lang="en-NZ" sz="2000" spc="15" dirty="0">
                <a:latin typeface="Times New Roman"/>
                <a:cs typeface="Times New Roman"/>
              </a:rPr>
              <a:t>details</a:t>
            </a:r>
            <a:endParaRPr lang="en-NZ" sz="2000" dirty="0">
              <a:latin typeface="Times New Roman"/>
              <a:cs typeface="Times New Roman"/>
            </a:endParaRPr>
          </a:p>
          <a:p>
            <a:pPr marL="355601" indent="-342900">
              <a:lnSpc>
                <a:spcPct val="100000"/>
              </a:lnSpc>
              <a:spcBef>
                <a:spcPts val="420"/>
              </a:spcBef>
              <a:buFont typeface="Arial" panose="020B0604020202020204" pitchFamily="34" charset="0"/>
              <a:buChar char="•"/>
              <a:tabLst>
                <a:tab pos="262255" algn="l"/>
                <a:tab pos="262890" algn="l"/>
              </a:tabLst>
            </a:pPr>
            <a:r>
              <a:rPr lang="en-NZ" sz="1600" spc="15" dirty="0">
                <a:latin typeface="Times New Roman"/>
                <a:cs typeface="Times New Roman"/>
              </a:rPr>
              <a:t>   Human</a:t>
            </a:r>
            <a:r>
              <a:rPr lang="en-NZ" sz="1600" spc="-20" dirty="0">
                <a:latin typeface="Times New Roman"/>
                <a:cs typeface="Times New Roman"/>
              </a:rPr>
              <a:t> </a:t>
            </a:r>
            <a:r>
              <a:rPr lang="en-NZ" sz="1600" spc="30" dirty="0">
                <a:latin typeface="Times New Roman"/>
                <a:cs typeface="Times New Roman"/>
              </a:rPr>
              <a:t>resources</a:t>
            </a:r>
            <a:endParaRPr lang="en-NZ" sz="1600" dirty="0">
              <a:latin typeface="Times New Roman"/>
              <a:cs typeface="Times New Roman"/>
            </a:endParaRPr>
          </a:p>
          <a:p>
            <a:pPr marL="355601" indent="-342900">
              <a:lnSpc>
                <a:spcPct val="100000"/>
              </a:lnSpc>
              <a:spcBef>
                <a:spcPts val="420"/>
              </a:spcBef>
              <a:buFont typeface="Arial" panose="020B0604020202020204" pitchFamily="34" charset="0"/>
              <a:buChar char="•"/>
              <a:tabLst>
                <a:tab pos="262255" algn="l"/>
                <a:tab pos="262890" algn="l"/>
              </a:tabLst>
            </a:pPr>
            <a:r>
              <a:rPr lang="en-NZ" sz="1600" spc="15" dirty="0">
                <a:latin typeface="Times New Roman"/>
                <a:cs typeface="Times New Roman"/>
              </a:rPr>
              <a:t>   Equipment</a:t>
            </a:r>
            <a:endParaRPr lang="en-NZ" sz="1600" dirty="0">
              <a:latin typeface="Times New Roman"/>
              <a:cs typeface="Times New Roman"/>
            </a:endParaRPr>
          </a:p>
          <a:p>
            <a:pPr marL="355601" indent="-342900">
              <a:lnSpc>
                <a:spcPct val="100000"/>
              </a:lnSpc>
              <a:spcBef>
                <a:spcPts val="420"/>
              </a:spcBef>
              <a:buFont typeface="Arial" panose="020B0604020202020204" pitchFamily="34" charset="0"/>
              <a:buChar char="•"/>
              <a:tabLst>
                <a:tab pos="262255" algn="l"/>
                <a:tab pos="262890" algn="l"/>
              </a:tabLst>
            </a:pPr>
            <a:r>
              <a:rPr lang="en-NZ" sz="1600" spc="10" dirty="0">
                <a:latin typeface="Times New Roman"/>
                <a:cs typeface="Times New Roman"/>
              </a:rPr>
              <a:t>   Materials </a:t>
            </a:r>
            <a:r>
              <a:rPr lang="en-NZ" sz="1600" spc="45" dirty="0">
                <a:latin typeface="Times New Roman"/>
                <a:cs typeface="Times New Roman"/>
              </a:rPr>
              <a:t>and</a:t>
            </a:r>
            <a:r>
              <a:rPr lang="en-NZ" sz="1600" spc="-25" dirty="0">
                <a:latin typeface="Times New Roman"/>
                <a:cs typeface="Times New Roman"/>
              </a:rPr>
              <a:t> </a:t>
            </a:r>
            <a:r>
              <a:rPr lang="en-NZ" sz="1600" spc="10" dirty="0">
                <a:latin typeface="Times New Roman"/>
                <a:cs typeface="Times New Roman"/>
              </a:rPr>
              <a:t>suppliers</a:t>
            </a:r>
            <a:endParaRPr lang="en-NZ" sz="16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5" dirty="0">
                <a:latin typeface="Times New Roman"/>
                <a:cs typeface="Times New Roman"/>
              </a:rPr>
              <a:t>  Budget</a:t>
            </a:r>
            <a:r>
              <a:rPr lang="en-NZ" sz="2000" spc="-5" dirty="0">
                <a:latin typeface="Times New Roman"/>
                <a:cs typeface="Times New Roman"/>
              </a:rPr>
              <a:t> </a:t>
            </a:r>
            <a:r>
              <a:rPr lang="en-NZ" sz="2000" spc="15" dirty="0">
                <a:latin typeface="Times New Roman"/>
                <a:cs typeface="Times New Roman"/>
              </a:rPr>
              <a:t>details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Project</a:t>
            </a:r>
            <a:r>
              <a:rPr lang="en-NZ" sz="2000" spc="-20" dirty="0">
                <a:latin typeface="Times New Roman"/>
                <a:cs typeface="Times New Roman"/>
              </a:rPr>
              <a:t> </a:t>
            </a:r>
            <a:r>
              <a:rPr lang="en-NZ" sz="2000" spc="10" dirty="0">
                <a:latin typeface="Times New Roman"/>
                <a:cs typeface="Times New Roman"/>
              </a:rPr>
              <a:t>organization</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5" dirty="0">
                <a:latin typeface="Times New Roman"/>
                <a:cs typeface="Times New Roman"/>
              </a:rPr>
              <a:t>  Operating</a:t>
            </a:r>
            <a:r>
              <a:rPr lang="en-NZ" sz="2000" spc="-25" dirty="0">
                <a:latin typeface="Times New Roman"/>
                <a:cs typeface="Times New Roman"/>
              </a:rPr>
              <a:t> </a:t>
            </a:r>
            <a:r>
              <a:rPr lang="en-NZ" sz="2000" spc="35" dirty="0">
                <a:latin typeface="Times New Roman"/>
                <a:cs typeface="Times New Roman"/>
              </a:rPr>
              <a:t>procedures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5" dirty="0">
                <a:latin typeface="Times New Roman"/>
                <a:cs typeface="Times New Roman"/>
              </a:rPr>
              <a:t>  Assessment </a:t>
            </a:r>
            <a:r>
              <a:rPr lang="en-NZ" sz="2000" spc="45" dirty="0">
                <a:latin typeface="Times New Roman"/>
                <a:cs typeface="Times New Roman"/>
              </a:rPr>
              <a:t>and </a:t>
            </a:r>
            <a:r>
              <a:rPr lang="en-NZ" sz="2000" spc="5" dirty="0">
                <a:latin typeface="Times New Roman"/>
                <a:cs typeface="Times New Roman"/>
              </a:rPr>
              <a:t>review</a:t>
            </a:r>
            <a:r>
              <a:rPr lang="en-NZ" sz="2000" spc="-110" dirty="0">
                <a:latin typeface="Times New Roman"/>
                <a:cs typeface="Times New Roman"/>
              </a:rPr>
              <a:t> </a:t>
            </a:r>
            <a:r>
              <a:rPr lang="en-NZ" sz="2000" spc="35" dirty="0">
                <a:latin typeface="Times New Roman"/>
                <a:cs typeface="Times New Roman"/>
              </a:rPr>
              <a:t>standards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Contact </a:t>
            </a:r>
            <a:r>
              <a:rPr lang="en-NZ" sz="2000" spc="25" dirty="0">
                <a:latin typeface="Times New Roman"/>
                <a:cs typeface="Times New Roman"/>
              </a:rPr>
              <a:t>points </a:t>
            </a:r>
            <a:r>
              <a:rPr lang="en-NZ" sz="2000" spc="45" dirty="0">
                <a:latin typeface="Times New Roman"/>
                <a:cs typeface="Times New Roman"/>
              </a:rPr>
              <a:t>and</a:t>
            </a:r>
            <a:r>
              <a:rPr lang="en-NZ" sz="2000" spc="-125" dirty="0">
                <a:latin typeface="Times New Roman"/>
                <a:cs typeface="Times New Roman"/>
              </a:rPr>
              <a:t> </a:t>
            </a:r>
            <a:r>
              <a:rPr lang="en-NZ" sz="2000" spc="15" dirty="0">
                <a:latin typeface="Times New Roman"/>
                <a:cs typeface="Times New Roman"/>
              </a:rPr>
              <a:t>information  </a:t>
            </a:r>
            <a:r>
              <a:rPr lang="en-NZ" sz="2000" spc="25" dirty="0">
                <a:latin typeface="Times New Roman"/>
                <a:cs typeface="Times New Roman"/>
              </a:rPr>
              <a:t>sources</a:t>
            </a:r>
            <a:endParaRPr lang="en-NZ" sz="2000" dirty="0">
              <a:latin typeface="Times New Roman"/>
              <a:cs typeface="Times New Roman"/>
            </a:endParaRPr>
          </a:p>
          <a:p>
            <a:pPr marL="355601" indent="-342900">
              <a:lnSpc>
                <a:spcPct val="100000"/>
              </a:lnSpc>
              <a:spcBef>
                <a:spcPts val="420"/>
              </a:spcBef>
              <a:buFont typeface="Wingdings" panose="05000000000000000000" pitchFamily="2" charset="2"/>
              <a:buChar char="Ø"/>
              <a:tabLst>
                <a:tab pos="262255" algn="l"/>
                <a:tab pos="262890" algn="l"/>
              </a:tabLst>
            </a:pPr>
            <a:r>
              <a:rPr lang="en-NZ" sz="2000" spc="10" dirty="0">
                <a:latin typeface="Times New Roman"/>
                <a:cs typeface="Times New Roman"/>
              </a:rPr>
              <a:t>  Project</a:t>
            </a:r>
            <a:r>
              <a:rPr lang="en-NZ" sz="2000" spc="-20" dirty="0">
                <a:latin typeface="Times New Roman"/>
                <a:cs typeface="Times New Roman"/>
              </a:rPr>
              <a:t> </a:t>
            </a:r>
            <a:r>
              <a:rPr lang="en-NZ" sz="2000" spc="15" dirty="0">
                <a:latin typeface="Times New Roman"/>
                <a:cs typeface="Times New Roman"/>
              </a:rPr>
              <a:t>approvals</a:t>
            </a:r>
            <a:endParaRPr lang="en-US" sz="2000" dirty="0"/>
          </a:p>
        </p:txBody>
      </p:sp>
      <p:pic>
        <p:nvPicPr>
          <p:cNvPr id="11" name="Picture 10">
            <a:extLst>
              <a:ext uri="{FF2B5EF4-FFF2-40B4-BE49-F238E27FC236}">
                <a16:creationId xmlns:a16="http://schemas.microsoft.com/office/drawing/2014/main" id="{427659D1-1F80-4E7B-AD70-168FF47F18BF}"/>
              </a:ext>
            </a:extLst>
          </p:cNvPr>
          <p:cNvPicPr>
            <a:picLocks noChangeAspect="1"/>
          </p:cNvPicPr>
          <p:nvPr/>
        </p:nvPicPr>
        <p:blipFill>
          <a:blip r:embed="rId5"/>
          <a:stretch>
            <a:fillRect/>
          </a:stretch>
        </p:blipFill>
        <p:spPr>
          <a:xfrm>
            <a:off x="5486400" y="896682"/>
            <a:ext cx="6536421" cy="3037722"/>
          </a:xfrm>
          <a:prstGeom prst="rect">
            <a:avLst/>
          </a:prstGeom>
        </p:spPr>
      </p:pic>
      <p:pic>
        <p:nvPicPr>
          <p:cNvPr id="12" name="Picture 11">
            <a:extLst>
              <a:ext uri="{FF2B5EF4-FFF2-40B4-BE49-F238E27FC236}">
                <a16:creationId xmlns:a16="http://schemas.microsoft.com/office/drawing/2014/main" id="{7663A957-BE23-460F-9A84-42C05C1D030E}"/>
              </a:ext>
            </a:extLst>
          </p:cNvPr>
          <p:cNvPicPr>
            <a:picLocks noChangeAspect="1"/>
          </p:cNvPicPr>
          <p:nvPr/>
        </p:nvPicPr>
        <p:blipFill>
          <a:blip r:embed="rId6"/>
          <a:stretch>
            <a:fillRect/>
          </a:stretch>
        </p:blipFill>
        <p:spPr>
          <a:xfrm>
            <a:off x="5237068" y="4001729"/>
            <a:ext cx="6954932" cy="2109019"/>
          </a:xfrm>
          <a:prstGeom prst="rect">
            <a:avLst/>
          </a:prstGeom>
        </p:spPr>
      </p:pic>
      <p:sp>
        <p:nvSpPr>
          <p:cNvPr id="2" name="TextBox 1">
            <a:extLst>
              <a:ext uri="{FF2B5EF4-FFF2-40B4-BE49-F238E27FC236}">
                <a16:creationId xmlns:a16="http://schemas.microsoft.com/office/drawing/2014/main" id="{46B638BA-27C9-4435-8779-1AF63EAB742A}"/>
              </a:ext>
            </a:extLst>
          </p:cNvPr>
          <p:cNvSpPr txBox="1"/>
          <p:nvPr/>
        </p:nvSpPr>
        <p:spPr>
          <a:xfrm>
            <a:off x="5486400" y="6249296"/>
            <a:ext cx="2524024" cy="369332"/>
          </a:xfrm>
          <a:prstGeom prst="rect">
            <a:avLst/>
          </a:prstGeom>
          <a:noFill/>
        </p:spPr>
        <p:txBody>
          <a:bodyPr wrap="none" rtlCol="0">
            <a:spAutoFit/>
          </a:bodyPr>
          <a:lstStyle/>
          <a:p>
            <a:r>
              <a:rPr lang="en-NZ" dirty="0"/>
              <a:t>(Microsoft Project, 2016)</a:t>
            </a:r>
          </a:p>
        </p:txBody>
      </p:sp>
    </p:spTree>
    <p:extLst>
      <p:ext uri="{BB962C8B-B14F-4D97-AF65-F5344CB8AC3E}">
        <p14:creationId xmlns:p14="http://schemas.microsoft.com/office/powerpoint/2010/main" val="2500101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B554A0-D941-4E53-A9E1-D3C7F8886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EF9AC678-E1D4-4678-94D7-F028F1BB14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451C8AE6-D6A1-44D5-BB54-38EEF77804D9}"/>
              </a:ext>
            </a:extLst>
          </p:cNvPr>
          <p:cNvSpPr txBox="1"/>
          <p:nvPr/>
        </p:nvSpPr>
        <p:spPr>
          <a:xfrm>
            <a:off x="1234580" y="192947"/>
            <a:ext cx="9722840" cy="769441"/>
          </a:xfrm>
          <a:prstGeom prst="rect">
            <a:avLst/>
          </a:prstGeom>
          <a:noFill/>
        </p:spPr>
        <p:txBody>
          <a:bodyPr wrap="square" rtlCol="0">
            <a:spAutoFit/>
          </a:bodyPr>
          <a:lstStyle/>
          <a:p>
            <a:pPr algn="ctr"/>
            <a:r>
              <a:rPr lang="en-US" sz="4400" b="1" dirty="0">
                <a:latin typeface="+mj-lt"/>
              </a:rPr>
              <a:t>Sample Executive Summary Example</a:t>
            </a:r>
          </a:p>
        </p:txBody>
      </p:sp>
      <p:graphicFrame>
        <p:nvGraphicFramePr>
          <p:cNvPr id="2" name="Table 1">
            <a:extLst>
              <a:ext uri="{FF2B5EF4-FFF2-40B4-BE49-F238E27FC236}">
                <a16:creationId xmlns:a16="http://schemas.microsoft.com/office/drawing/2014/main" id="{8F5B4C2C-5CAA-4C60-9CE0-7E87E094D3CA}"/>
              </a:ext>
            </a:extLst>
          </p:cNvPr>
          <p:cNvGraphicFramePr>
            <a:graphicFrameLocks noGrp="1"/>
          </p:cNvGraphicFramePr>
          <p:nvPr/>
        </p:nvGraphicFramePr>
        <p:xfrm>
          <a:off x="0" y="914395"/>
          <a:ext cx="11644604" cy="5962847"/>
        </p:xfrm>
        <a:graphic>
          <a:graphicData uri="http://schemas.openxmlformats.org/drawingml/2006/table">
            <a:tbl>
              <a:tblPr firstRow="1" firstCol="1" bandRow="1"/>
              <a:tblGrid>
                <a:gridCol w="1754155">
                  <a:extLst>
                    <a:ext uri="{9D8B030D-6E8A-4147-A177-3AD203B41FA5}">
                      <a16:colId xmlns:a16="http://schemas.microsoft.com/office/drawing/2014/main" val="3077521970"/>
                    </a:ext>
                  </a:extLst>
                </a:gridCol>
                <a:gridCol w="9890449">
                  <a:extLst>
                    <a:ext uri="{9D8B030D-6E8A-4147-A177-3AD203B41FA5}">
                      <a16:colId xmlns:a16="http://schemas.microsoft.com/office/drawing/2014/main" val="1734879698"/>
                    </a:ext>
                  </a:extLst>
                </a:gridCol>
              </a:tblGrid>
              <a:tr h="142752">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Name</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57150" cap="flat" cmpd="dbl"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OPAIC Rooftop Cafe</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57150" cap="flat" cmpd="dbl"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4093743262"/>
                  </a:ext>
                </a:extLst>
              </a:tr>
              <a:tr h="142752">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Manager</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Mr Smith</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2878809998"/>
                  </a:ext>
                </a:extLst>
              </a:tr>
              <a:tr h="142752">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Type</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Construction and Business Licence</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363249054"/>
                  </a:ext>
                </a:extLst>
              </a:tr>
              <a:tr h="273954">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Goals</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Prepare a cafe ready for business on the rooftop of OPAIC to provide better service to its staff and students, as well as generate profit to finance the operating and investing activities.</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3259652571"/>
                  </a:ext>
                </a:extLst>
              </a:tr>
              <a:tr h="718457">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Deliverables</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150 m</a:t>
                      </a:r>
                      <a:r>
                        <a:rPr lang="en-NZ" sz="1000" baseline="30000" dirty="0">
                          <a:effectLst/>
                          <a:latin typeface="Times New Roman" panose="02020603050405020304" pitchFamily="18" charset="0"/>
                          <a:ea typeface="SimSun" panose="02010600030101010101" pitchFamily="2" charset="-122"/>
                          <a:cs typeface="Times New Roman" panose="02020603050405020304" pitchFamily="18" charset="0"/>
                        </a:rPr>
                        <a:t>2</a:t>
                      </a: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 fully furniture outdoor rooftop cafe with wood deck on reinforced and waterproofed floor; Tempered glass fence around the rooftop area; Kitchen and bar fully equipped with modern appliance at commercial degree. Access to level 8 via decorated stairs through glass door. Water pipe and electricity wires extended to the cafe and solar panel will be used as power supply. Food license and alcohol licence will be ready upon completion of the project as well. The capacity of the café will be 60 seats.</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2040455028"/>
                  </a:ext>
                </a:extLst>
              </a:tr>
              <a:tr h="142752">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Management Method</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Critical Chain Project Management</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1446534285"/>
                  </a:ext>
                </a:extLst>
              </a:tr>
              <a:tr h="1090363">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Budget</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Project Team Human Resource	              119,000 NZD</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Outsourced Human Resource	              58,757 NZD</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Construction Material and Equipment           63,577 NZD</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Furniture and Kitchen Equipment	              70,089 NZD</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License, Inspection, Rental and Insurance     50,240 NZD                             </a:t>
                      </a:r>
                      <a:r>
                        <a:rPr lang="en-NZ" sz="1000" b="1" dirty="0">
                          <a:effectLst/>
                          <a:latin typeface="Times New Roman" panose="02020603050405020304" pitchFamily="18" charset="0"/>
                          <a:ea typeface="SimSun" panose="02010600030101010101" pitchFamily="2" charset="-122"/>
                          <a:cs typeface="Times New Roman" panose="02020603050405020304" pitchFamily="18" charset="0"/>
                        </a:rPr>
                        <a:t>TOTAL 361,663 NZD</a:t>
                      </a:r>
                      <a:endParaRPr lang="en-NZ" sz="1000" b="1"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4278912727"/>
                  </a:ext>
                </a:extLst>
              </a:tr>
              <a:tr h="266967">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Project Schedule</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b="1" dirty="0">
                          <a:effectLst/>
                          <a:latin typeface="Times New Roman" panose="02020603050405020304" pitchFamily="18" charset="0"/>
                          <a:ea typeface="SimSun" panose="02010600030101010101" pitchFamily="2" charset="-122"/>
                          <a:cs typeface="Times New Roman" panose="02020603050405020304" pitchFamily="18" charset="0"/>
                        </a:rPr>
                        <a:t>Start: 1 Aug,2018      Completion: 9 Dec,2018         </a:t>
                      </a: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Duration: 130 Days</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1345296669"/>
                  </a:ext>
                </a:extLst>
              </a:tr>
              <a:tr h="1101832">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Milestones</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2018/08/12 Final draft signed off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2018/09/26 All building consents obtained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2018/10/15 All food licence obtained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2018/10/16 Waterproof testing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2018/10/21 Level 8 exit glass door installation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2018/10/20 IT System Installation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2018/11/23 Project audition on completion	</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1536193100"/>
                  </a:ext>
                </a:extLst>
              </a:tr>
              <a:tr h="622291">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Risks</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solidFill>
                      <a:srgbClr val="DEEAF6"/>
                    </a:solidFill>
                  </a:tcPr>
                </a:tc>
                <a:tc>
                  <a:txBody>
                    <a:bodyPr/>
                    <a:lstStyle/>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Delay or fail in building consent application;</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Increase of cost of outsourced builders;</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Available builders cannot fit into out tight time schedule;</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p>
                      <a:pPr algn="l">
                        <a:lnSpc>
                          <a:spcPct val="150000"/>
                        </a:lnSpc>
                        <a:spcAft>
                          <a:spcPts val="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Weather uncertainty;</a:t>
                      </a:r>
                      <a:endParaRPr lang="en-NZ" sz="100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w="12700" cap="flat" cmpd="sng" algn="ctr">
                      <a:solidFill>
                        <a:srgbClr val="2E74B5"/>
                      </a:solidFill>
                      <a:prstDash val="solid"/>
                      <a:round/>
                      <a:headEnd type="none" w="med" len="med"/>
                      <a:tailEnd type="none" w="med" len="med"/>
                    </a:lnB>
                  </a:tcPr>
                </a:tc>
                <a:extLst>
                  <a:ext uri="{0D108BD9-81ED-4DB2-BD59-A6C34878D82A}">
                    <a16:rowId xmlns:a16="http://schemas.microsoft.com/office/drawing/2014/main" val="3225344836"/>
                  </a:ext>
                </a:extLst>
              </a:tr>
              <a:tr h="302598">
                <a:tc>
                  <a:txBody>
                    <a:bodyPr/>
                    <a:lstStyle/>
                    <a:p>
                      <a:pPr algn="l">
                        <a:lnSpc>
                          <a:spcPct val="150000"/>
                        </a:lnSpc>
                        <a:spcAft>
                          <a:spcPts val="0"/>
                        </a:spcAft>
                      </a:pPr>
                      <a:r>
                        <a:rPr lang="en-NZ" sz="1000" b="1" dirty="0">
                          <a:solidFill>
                            <a:srgbClr val="1F3864"/>
                          </a:solidFill>
                          <a:effectLst/>
                          <a:latin typeface="Times New Roman" panose="02020603050405020304" pitchFamily="18" charset="0"/>
                          <a:ea typeface="SimSun" panose="02010600030101010101" pitchFamily="2" charset="-122"/>
                          <a:cs typeface="Times New Roman" panose="02020603050405020304" pitchFamily="18" charset="0"/>
                        </a:rPr>
                        <a:t>Return on Investment</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nchor="ctr">
                    <a:lnL>
                      <a:noFill/>
                    </a:lnL>
                    <a:lnR>
                      <a:noFill/>
                    </a:lnR>
                    <a:lnT w="12700" cap="flat" cmpd="sng" algn="ctr">
                      <a:solidFill>
                        <a:srgbClr val="2E74B5"/>
                      </a:solidFill>
                      <a:prstDash val="solid"/>
                      <a:round/>
                      <a:headEnd type="none" w="med" len="med"/>
                      <a:tailEnd type="none" w="med" len="med"/>
                    </a:lnT>
                    <a:lnB>
                      <a:noFill/>
                    </a:lnB>
                    <a:solidFill>
                      <a:srgbClr val="DEEAF6"/>
                    </a:solidFill>
                  </a:tcPr>
                </a:tc>
                <a:tc>
                  <a:txBody>
                    <a:bodyPr/>
                    <a:lstStyle/>
                    <a:p>
                      <a:pPr algn="l">
                        <a:lnSpc>
                          <a:spcPct val="150000"/>
                        </a:lnSpc>
                        <a:spcAft>
                          <a:spcPts val="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NPV=189,148.43 NZD                IRR=14%</a:t>
                      </a:r>
                      <a:endParaRPr lang="en-NZ" sz="1000" dirty="0">
                        <a:effectLst/>
                        <a:latin typeface="Calibri" panose="020F0502020204030204" pitchFamily="34" charset="0"/>
                        <a:ea typeface="SimSun" panose="02010600030101010101" pitchFamily="2" charset="-122"/>
                        <a:cs typeface="Times New Roman" panose="02020603050405020304" pitchFamily="18" charset="0"/>
                      </a:endParaRPr>
                    </a:p>
                  </a:txBody>
                  <a:tcPr marL="36440" marR="36440" marT="0" marB="0">
                    <a:lnL>
                      <a:noFill/>
                    </a:lnL>
                    <a:lnR>
                      <a:noFill/>
                    </a:lnR>
                    <a:lnT w="12700" cap="flat" cmpd="sng" algn="ctr">
                      <a:solidFill>
                        <a:srgbClr val="2E74B5"/>
                      </a:solidFill>
                      <a:prstDash val="solid"/>
                      <a:round/>
                      <a:headEnd type="none" w="med" len="med"/>
                      <a:tailEnd type="none" w="med" len="med"/>
                    </a:lnT>
                    <a:lnB>
                      <a:noFill/>
                    </a:lnB>
                  </a:tcPr>
                </a:tc>
                <a:extLst>
                  <a:ext uri="{0D108BD9-81ED-4DB2-BD59-A6C34878D82A}">
                    <a16:rowId xmlns:a16="http://schemas.microsoft.com/office/drawing/2014/main" val="2913448179"/>
                  </a:ext>
                </a:extLst>
              </a:tr>
            </a:tbl>
          </a:graphicData>
        </a:graphic>
      </p:graphicFrame>
    </p:spTree>
    <p:extLst>
      <p:ext uri="{BB962C8B-B14F-4D97-AF65-F5344CB8AC3E}">
        <p14:creationId xmlns:p14="http://schemas.microsoft.com/office/powerpoint/2010/main" val="1958076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54E3D2-B9AE-43FB-8910-935FA3E48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AD9FB87D-0CC5-432D-B04B-2B90B0FE14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E0038AD8-C07B-4FB1-A6A2-CB7AAAC4CE8D}"/>
              </a:ext>
            </a:extLst>
          </p:cNvPr>
          <p:cNvSpPr txBox="1"/>
          <p:nvPr/>
        </p:nvSpPr>
        <p:spPr>
          <a:xfrm>
            <a:off x="2543262" y="192946"/>
            <a:ext cx="7105475" cy="769441"/>
          </a:xfrm>
          <a:prstGeom prst="rect">
            <a:avLst/>
          </a:prstGeom>
          <a:noFill/>
        </p:spPr>
        <p:txBody>
          <a:bodyPr wrap="square" rtlCol="0">
            <a:spAutoFit/>
          </a:bodyPr>
          <a:lstStyle/>
          <a:p>
            <a:pPr algn="ctr"/>
            <a:r>
              <a:rPr lang="en-US" sz="4400" b="1" dirty="0">
                <a:latin typeface="+mj-lt"/>
              </a:rPr>
              <a:t>Project Scope Checklist:</a:t>
            </a:r>
          </a:p>
        </p:txBody>
      </p:sp>
      <p:pic>
        <p:nvPicPr>
          <p:cNvPr id="1026" name="Picture 2" descr="Image result for checklist">
            <a:extLst>
              <a:ext uri="{FF2B5EF4-FFF2-40B4-BE49-F238E27FC236}">
                <a16:creationId xmlns:a16="http://schemas.microsoft.com/office/drawing/2014/main" id="{4C187DB2-30F9-45E6-A93E-4AEDB338E7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4653" y="1554916"/>
            <a:ext cx="3748167" cy="374816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7D2BCDD-A755-4375-BEB9-B24EDF34B755}"/>
              </a:ext>
            </a:extLst>
          </p:cNvPr>
          <p:cNvSpPr txBox="1"/>
          <p:nvPr/>
        </p:nvSpPr>
        <p:spPr>
          <a:xfrm>
            <a:off x="970384" y="1351507"/>
            <a:ext cx="6291743" cy="4154984"/>
          </a:xfrm>
          <a:prstGeom prst="rect">
            <a:avLst/>
          </a:prstGeom>
          <a:noFill/>
        </p:spPr>
        <p:txBody>
          <a:bodyPr wrap="square" rtlCol="0">
            <a:spAutoFit/>
          </a:bodyPr>
          <a:lstStyle/>
          <a:p>
            <a:pPr marL="342900" indent="-342900">
              <a:buFont typeface="+mj-lt"/>
              <a:buAutoNum type="arabicPeriod"/>
            </a:pPr>
            <a:r>
              <a:rPr lang="en-US" sz="4400" dirty="0"/>
              <a:t>Project Objective</a:t>
            </a:r>
          </a:p>
          <a:p>
            <a:pPr marL="342900" indent="-342900">
              <a:buFont typeface="+mj-lt"/>
              <a:buAutoNum type="arabicPeriod"/>
            </a:pPr>
            <a:r>
              <a:rPr lang="en-US" sz="4400" dirty="0"/>
              <a:t>Deliverables</a:t>
            </a:r>
          </a:p>
          <a:p>
            <a:pPr marL="342900" indent="-342900">
              <a:buFont typeface="+mj-lt"/>
              <a:buAutoNum type="arabicPeriod"/>
            </a:pPr>
            <a:r>
              <a:rPr lang="en-US" sz="4400" dirty="0"/>
              <a:t>Milestones</a:t>
            </a:r>
          </a:p>
          <a:p>
            <a:pPr marL="342900" indent="-342900">
              <a:buFont typeface="+mj-lt"/>
              <a:buAutoNum type="arabicPeriod"/>
            </a:pPr>
            <a:r>
              <a:rPr lang="en-US" sz="4400" dirty="0"/>
              <a:t>Technical Requirements</a:t>
            </a:r>
          </a:p>
          <a:p>
            <a:pPr marL="342900" indent="-342900">
              <a:buFont typeface="+mj-lt"/>
              <a:buAutoNum type="arabicPeriod"/>
            </a:pPr>
            <a:r>
              <a:rPr lang="en-US" sz="4400" dirty="0"/>
              <a:t>Limits and exclusions</a:t>
            </a:r>
          </a:p>
          <a:p>
            <a:pPr marL="342900" indent="-342900">
              <a:buFont typeface="+mj-lt"/>
              <a:buAutoNum type="arabicPeriod"/>
            </a:pPr>
            <a:r>
              <a:rPr lang="en-US" sz="4400" dirty="0"/>
              <a:t>Reviews with customer</a:t>
            </a:r>
          </a:p>
        </p:txBody>
      </p:sp>
    </p:spTree>
    <p:extLst>
      <p:ext uri="{BB962C8B-B14F-4D97-AF65-F5344CB8AC3E}">
        <p14:creationId xmlns:p14="http://schemas.microsoft.com/office/powerpoint/2010/main" val="4050617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B5C4BA-5203-4184-A9D5-2D8EAB8FC0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96943DAE-28CB-4320-825C-816E909812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1FEAE0F4-593F-4614-9B48-149CA18C6BE2}"/>
              </a:ext>
            </a:extLst>
          </p:cNvPr>
          <p:cNvSpPr txBox="1"/>
          <p:nvPr/>
        </p:nvSpPr>
        <p:spPr>
          <a:xfrm>
            <a:off x="1448499" y="192947"/>
            <a:ext cx="9295002" cy="769441"/>
          </a:xfrm>
          <a:prstGeom prst="rect">
            <a:avLst/>
          </a:prstGeom>
          <a:noFill/>
        </p:spPr>
        <p:txBody>
          <a:bodyPr wrap="square" rtlCol="0">
            <a:spAutoFit/>
          </a:bodyPr>
          <a:lstStyle/>
          <a:p>
            <a:pPr algn="ctr"/>
            <a:r>
              <a:rPr lang="en-US" sz="4400" b="1" dirty="0">
                <a:latin typeface="+mj-lt"/>
              </a:rPr>
              <a:t>Sample SCOPE: Pt 1</a:t>
            </a:r>
          </a:p>
        </p:txBody>
      </p:sp>
      <p:graphicFrame>
        <p:nvGraphicFramePr>
          <p:cNvPr id="18" name="Table 17">
            <a:extLst>
              <a:ext uri="{FF2B5EF4-FFF2-40B4-BE49-F238E27FC236}">
                <a16:creationId xmlns:a16="http://schemas.microsoft.com/office/drawing/2014/main" id="{4AF45D41-B410-4D74-B857-A27B6236C53D}"/>
              </a:ext>
            </a:extLst>
          </p:cNvPr>
          <p:cNvGraphicFramePr>
            <a:graphicFrameLocks noGrp="1"/>
          </p:cNvGraphicFramePr>
          <p:nvPr/>
        </p:nvGraphicFramePr>
        <p:xfrm>
          <a:off x="1448499" y="3123146"/>
          <a:ext cx="7904480" cy="3552972"/>
        </p:xfrm>
        <a:graphic>
          <a:graphicData uri="http://schemas.openxmlformats.org/drawingml/2006/table">
            <a:tbl>
              <a:tblPr firstRow="1" firstCol="1" bandRow="1"/>
              <a:tblGrid>
                <a:gridCol w="3952240">
                  <a:extLst>
                    <a:ext uri="{9D8B030D-6E8A-4147-A177-3AD203B41FA5}">
                      <a16:colId xmlns:a16="http://schemas.microsoft.com/office/drawing/2014/main" val="1736540251"/>
                    </a:ext>
                  </a:extLst>
                </a:gridCol>
                <a:gridCol w="3952240">
                  <a:extLst>
                    <a:ext uri="{9D8B030D-6E8A-4147-A177-3AD203B41FA5}">
                      <a16:colId xmlns:a16="http://schemas.microsoft.com/office/drawing/2014/main" val="2488730224"/>
                    </a:ext>
                  </a:extLst>
                </a:gridCol>
              </a:tblGrid>
              <a:tr h="587772">
                <a:tc>
                  <a:txBody>
                    <a:bodyPr/>
                    <a:lstStyle/>
                    <a:p>
                      <a:pPr algn="ctr">
                        <a:lnSpc>
                          <a:spcPct val="107000"/>
                        </a:lnSpc>
                        <a:spcBef>
                          <a:spcPts val="600"/>
                        </a:spcBef>
                        <a:spcAft>
                          <a:spcPts val="600"/>
                        </a:spcAft>
                      </a:pPr>
                      <a:r>
                        <a:rPr lang="en-NZ" sz="1000" b="1">
                          <a:effectLst/>
                          <a:latin typeface="Times New Roman" panose="02020603050405020304" pitchFamily="18" charset="0"/>
                          <a:ea typeface="SimSun" panose="02010600030101010101" pitchFamily="2" charset="-122"/>
                          <a:cs typeface="Times New Roman" panose="02020603050405020304" pitchFamily="18" charset="0"/>
                        </a:rPr>
                        <a:t>Tangible Deliverables:</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p>
                      <a:pPr algn="ctr">
                        <a:lnSpc>
                          <a:spcPct val="107000"/>
                        </a:lnSpc>
                        <a:spcBef>
                          <a:spcPts val="600"/>
                        </a:spcBef>
                        <a:spcAft>
                          <a:spcPts val="600"/>
                        </a:spcAft>
                      </a:pPr>
                      <a:r>
                        <a:rPr lang="en-NZ" sz="1000" b="1">
                          <a:effectLst/>
                          <a:latin typeface="Times New Roman" panose="02020603050405020304" pitchFamily="18" charset="0"/>
                          <a:ea typeface="SimSun" panose="02010600030101010101" pitchFamily="2" charset="-122"/>
                          <a:cs typeface="Times New Roman" panose="02020603050405020304" pitchFamily="18" charset="0"/>
                        </a:rPr>
                        <a:t>A 150 m</a:t>
                      </a:r>
                      <a:r>
                        <a:rPr lang="en-NZ" sz="1000" b="1" baseline="30000">
                          <a:effectLst/>
                          <a:latin typeface="Times New Roman" panose="02020603050405020304" pitchFamily="18" charset="0"/>
                          <a:ea typeface="SimSun" panose="02010600030101010101" pitchFamily="2" charset="-122"/>
                          <a:cs typeface="Times New Roman" panose="02020603050405020304" pitchFamily="18" charset="0"/>
                        </a:rPr>
                        <a:t>2</a:t>
                      </a:r>
                      <a:r>
                        <a:rPr lang="en-NZ" sz="1000" b="1">
                          <a:effectLst/>
                          <a:latin typeface="Times New Roman" panose="02020603050405020304" pitchFamily="18" charset="0"/>
                          <a:ea typeface="SimSun" panose="02010600030101010101" pitchFamily="2" charset="-122"/>
                          <a:cs typeface="Times New Roman" panose="02020603050405020304" pitchFamily="18" charset="0"/>
                        </a:rPr>
                        <a:t> stylish Cafe with capacity up to 60 customers, including:</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b="1">
                          <a:effectLst/>
                          <a:latin typeface="Times New Roman" panose="02020603050405020304" pitchFamily="18" charset="0"/>
                          <a:ea typeface="SimSun" panose="02010600030101010101" pitchFamily="2" charset="-122"/>
                          <a:cs typeface="Times New Roman" panose="02020603050405020304" pitchFamily="18" charset="0"/>
                        </a:rPr>
                        <a:t>Intangible Deliverables:</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p>
                      <a:pPr algn="ctr">
                        <a:lnSpc>
                          <a:spcPct val="107000"/>
                        </a:lnSpc>
                        <a:spcBef>
                          <a:spcPts val="600"/>
                        </a:spcBef>
                        <a:spcAft>
                          <a:spcPts val="600"/>
                        </a:spcAft>
                      </a:pPr>
                      <a:r>
                        <a:rPr lang="en-NZ" sz="1000" b="1">
                          <a:effectLst/>
                          <a:latin typeface="Times New Roman" panose="02020603050405020304" pitchFamily="18" charset="0"/>
                          <a:ea typeface="SimSun" panose="02010600030101010101" pitchFamily="2" charset="-122"/>
                          <a:cs typeface="Times New Roman" panose="02020603050405020304" pitchFamily="18" charset="0"/>
                        </a:rPr>
                        <a:t>Business license and building inspection report and others including:</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402509946"/>
                  </a:ext>
                </a:extLst>
              </a:tr>
              <a:tr h="193650">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150 m</a:t>
                      </a:r>
                      <a:r>
                        <a:rPr lang="en-NZ" sz="1000" baseline="30000">
                          <a:effectLst/>
                          <a:latin typeface="Times New Roman" panose="02020603050405020304" pitchFamily="18" charset="0"/>
                          <a:ea typeface="SimSun" panose="02010600030101010101" pitchFamily="2" charset="-122"/>
                          <a:cs typeface="Times New Roman" panose="02020603050405020304" pitchFamily="18" charset="0"/>
                        </a:rPr>
                        <a:t>2</a:t>
                      </a:r>
                      <a:r>
                        <a:rPr lang="en-NZ" sz="1000">
                          <a:effectLst/>
                          <a:latin typeface="Times New Roman" panose="02020603050405020304" pitchFamily="18" charset="0"/>
                          <a:ea typeface="SimSun" panose="02010600030101010101" pitchFamily="2" charset="-122"/>
                          <a:cs typeface="Times New Roman" panose="02020603050405020304" pitchFamily="18" charset="0"/>
                        </a:rPr>
                        <a:t> reinforced and waterproofed rooftop floor</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Food licence</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627102149"/>
                  </a:ext>
                </a:extLst>
              </a:tr>
              <a:tr h="193650">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Tempered glass fence around the rooftop area (1.6m H x 50m L)</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Full Alcohol on-licence</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958164144"/>
                  </a:ext>
                </a:extLst>
              </a:tr>
              <a:tr h="397375">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Electricity supplies to kitchen and each table for table lamps and both cold and hot water supply to kitchen water tap</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Outdoor dining licence</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3174134313"/>
                  </a:ext>
                </a:extLst>
              </a:tr>
              <a:tr h="804825">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Fully equipped modern cafe kitchen with 5m x 1m x 1.3m bar for business use (commercial grade multi-headed automatic coffee machine, commercial glass door bar fridge, commercial microwave oven, blender, dishwasher, sink)</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Building consent report</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2337879178"/>
                  </a:ext>
                </a:extLst>
              </a:tr>
              <a:tr h="397375">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Cafe furniture (wood deck, 10 big tables for 4, 10 small tables for 2, 40 chairs, 20 single sofas, 20 umbrellas) for up to 60 customers</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Resource consent report</a:t>
                      </a:r>
                      <a:endParaRPr lang="en-NZ"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3570624058"/>
                  </a:ext>
                </a:extLst>
              </a:tr>
              <a:tr h="193650">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Decorated stairs from level 8 to rooftop</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Health and safety consent report</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2701880625"/>
                  </a:ext>
                </a:extLst>
              </a:tr>
              <a:tr h="193650">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A glass door at level 8 to access to the stairs (1.2 m W x 2.2 m H)</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Project complete audition report</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173300502"/>
                  </a:ext>
                </a:extLst>
              </a:tr>
              <a:tr h="193650">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One computer with cashier and order system</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Wi-Fi coverage of the entire rooftop</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3582138437"/>
                  </a:ext>
                </a:extLst>
              </a:tr>
              <a:tr h="397375">
                <a:tc>
                  <a:txBody>
                    <a:bodyPr/>
                    <a:lstStyle/>
                    <a:p>
                      <a:pPr algn="ctr">
                        <a:lnSpc>
                          <a:spcPct val="107000"/>
                        </a:lnSpc>
                        <a:spcBef>
                          <a:spcPts val="600"/>
                        </a:spcBef>
                        <a:spcAft>
                          <a:spcPts val="600"/>
                        </a:spcAft>
                      </a:pPr>
                      <a:r>
                        <a:rPr lang="en-NZ" sz="1000">
                          <a:effectLst/>
                          <a:latin typeface="Times New Roman" panose="02020603050405020304" pitchFamily="18" charset="0"/>
                          <a:ea typeface="SimSun" panose="02010600030101010101" pitchFamily="2" charset="-122"/>
                          <a:cs typeface="Times New Roman" panose="02020603050405020304" pitchFamily="18" charset="0"/>
                        </a:rPr>
                        <a:t>Solar panel system with full capacity of electricity consumption of the Cafe. (15k kwh)</a:t>
                      </a:r>
                      <a:endParaRPr lang="en-NZ" sz="11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tc>
                  <a:txBody>
                    <a:bodyPr/>
                    <a:lstStyle/>
                    <a:p>
                      <a:pPr algn="ctr">
                        <a:lnSpc>
                          <a:spcPct val="107000"/>
                        </a:lnSpc>
                        <a:spcBef>
                          <a:spcPts val="600"/>
                        </a:spcBef>
                        <a:spcAft>
                          <a:spcPts val="600"/>
                        </a:spcAft>
                      </a:pPr>
                      <a:r>
                        <a:rPr lang="en-NZ" sz="10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NZ" sz="11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tcPr>
                </a:tc>
                <a:extLst>
                  <a:ext uri="{0D108BD9-81ED-4DB2-BD59-A6C34878D82A}">
                    <a16:rowId xmlns:a16="http://schemas.microsoft.com/office/drawing/2014/main" val="3793519288"/>
                  </a:ext>
                </a:extLst>
              </a:tr>
            </a:tbl>
          </a:graphicData>
        </a:graphic>
      </p:graphicFrame>
      <p:sp>
        <p:nvSpPr>
          <p:cNvPr id="19" name="Rectangle 18">
            <a:extLst>
              <a:ext uri="{FF2B5EF4-FFF2-40B4-BE49-F238E27FC236}">
                <a16:creationId xmlns:a16="http://schemas.microsoft.com/office/drawing/2014/main" id="{5B24968B-0158-4523-A04A-CC516D9EECC4}"/>
              </a:ext>
            </a:extLst>
          </p:cNvPr>
          <p:cNvSpPr/>
          <p:nvPr/>
        </p:nvSpPr>
        <p:spPr>
          <a:xfrm>
            <a:off x="1076960" y="922396"/>
            <a:ext cx="11115040" cy="2186432"/>
          </a:xfrm>
          <a:prstGeom prst="rect">
            <a:avLst/>
          </a:prstGeom>
        </p:spPr>
        <p:txBody>
          <a:bodyPr wrap="square">
            <a:spAutoFit/>
          </a:bodyPr>
          <a:lstStyle/>
          <a:p>
            <a:pPr lvl="1" algn="just">
              <a:lnSpc>
                <a:spcPct val="150000"/>
              </a:lnSpc>
              <a:spcBef>
                <a:spcPts val="600"/>
              </a:spcBef>
              <a:spcAft>
                <a:spcPts val="600"/>
              </a:spcAft>
            </a:pPr>
            <a:r>
              <a:rPr lang="en-NZ" sz="1200" dirty="0">
                <a:latin typeface="Times New Roman" panose="02020603050405020304" pitchFamily="18" charset="0"/>
                <a:ea typeface="SimSun" panose="02010600030101010101" pitchFamily="2" charset="-122"/>
                <a:cs typeface="Times New Roman" panose="02020603050405020304" pitchFamily="18" charset="0"/>
              </a:rPr>
              <a:t>Objectives</a:t>
            </a:r>
          </a:p>
          <a:p>
            <a:pPr lvl="1" algn="just">
              <a:lnSpc>
                <a:spcPct val="150000"/>
              </a:lnSpc>
              <a:spcBef>
                <a:spcPts val="600"/>
              </a:spcBef>
              <a:spcAft>
                <a:spcPts val="600"/>
              </a:spcAft>
            </a:pPr>
            <a:r>
              <a:rPr lang="en-NZ" sz="1200" dirty="0">
                <a:latin typeface="Times New Roman" panose="02020603050405020304" pitchFamily="18" charset="0"/>
                <a:ea typeface="SimSun" panose="02010600030101010101" pitchFamily="2" charset="-122"/>
                <a:cs typeface="Times New Roman" panose="02020603050405020304" pitchFamily="18" charset="0"/>
              </a:rPr>
              <a:t>It is required that a rooftop cafe needs to be built and ready to run for both business and service purpose. The Cafe should have the ability to run all year around and the construction should consider sustainable practice as well as green building principle. The construction work is only allowed to be executed during the study breaks. There is no fix budget set for this project, but the total budget of this project should be reasonable and align with the current financial status and investing capability of OPAIC.</a:t>
            </a:r>
            <a:endParaRPr lang="en-NZ" sz="1200" dirty="0">
              <a:latin typeface="Calibri" panose="020F0502020204030204" pitchFamily="34" charset="0"/>
              <a:ea typeface="SimSun" panose="02010600030101010101" pitchFamily="2" charset="-122"/>
              <a:cs typeface="Times New Roman" panose="02020603050405020304" pitchFamily="18" charset="0"/>
            </a:endParaRPr>
          </a:p>
          <a:p>
            <a:pPr lvl="1" algn="just">
              <a:lnSpc>
                <a:spcPct val="150000"/>
              </a:lnSpc>
              <a:spcBef>
                <a:spcPts val="600"/>
              </a:spcBef>
              <a:spcAft>
                <a:spcPts val="600"/>
              </a:spcAft>
            </a:pPr>
            <a:r>
              <a:rPr lang="en-NZ" sz="1200" dirty="0">
                <a:latin typeface="Times New Roman" panose="02020603050405020304" pitchFamily="18" charset="0"/>
                <a:ea typeface="SimSun" panose="02010600030101010101" pitchFamily="2" charset="-122"/>
                <a:cs typeface="Times New Roman" panose="02020603050405020304" pitchFamily="18" charset="0"/>
              </a:rPr>
              <a:t>Deliverables</a:t>
            </a:r>
          </a:p>
          <a:p>
            <a:pPr lvl="1" algn="just">
              <a:lnSpc>
                <a:spcPct val="150000"/>
              </a:lnSpc>
              <a:spcBef>
                <a:spcPts val="600"/>
              </a:spcBef>
              <a:spcAft>
                <a:spcPts val="600"/>
              </a:spcAft>
            </a:pPr>
            <a:r>
              <a:rPr lang="en-NZ" sz="1200" dirty="0">
                <a:latin typeface="Times New Roman" panose="02020603050405020304" pitchFamily="18" charset="0"/>
                <a:ea typeface="SimSun" panose="02010600030101010101" pitchFamily="2" charset="-122"/>
                <a:cs typeface="Times New Roman" panose="02020603050405020304" pitchFamily="18" charset="0"/>
              </a:rPr>
              <a:t>The deliverables will include two main parts, tangible and intangible, which are the rooftop cafe and the licences respectively. They are described in Table 1.</a:t>
            </a:r>
            <a:endParaRPr lang="en-NZ" sz="12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65562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B5C4BA-5203-4184-A9D5-2D8EAB8FC0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96943DAE-28CB-4320-825C-816E909812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1FEAE0F4-593F-4614-9B48-149CA18C6BE2}"/>
              </a:ext>
            </a:extLst>
          </p:cNvPr>
          <p:cNvSpPr txBox="1"/>
          <p:nvPr/>
        </p:nvSpPr>
        <p:spPr>
          <a:xfrm>
            <a:off x="1448499" y="192947"/>
            <a:ext cx="9295002" cy="769441"/>
          </a:xfrm>
          <a:prstGeom prst="rect">
            <a:avLst/>
          </a:prstGeom>
          <a:noFill/>
        </p:spPr>
        <p:txBody>
          <a:bodyPr wrap="square" rtlCol="0">
            <a:spAutoFit/>
          </a:bodyPr>
          <a:lstStyle/>
          <a:p>
            <a:pPr algn="ctr"/>
            <a:r>
              <a:rPr lang="en-US" sz="4400" b="1" dirty="0">
                <a:latin typeface="+mj-lt"/>
              </a:rPr>
              <a:t>Sample SCOPE: Pt 2</a:t>
            </a:r>
          </a:p>
        </p:txBody>
      </p:sp>
      <p:sp>
        <p:nvSpPr>
          <p:cNvPr id="2" name="Rectangle 1">
            <a:extLst>
              <a:ext uri="{FF2B5EF4-FFF2-40B4-BE49-F238E27FC236}">
                <a16:creationId xmlns:a16="http://schemas.microsoft.com/office/drawing/2014/main" id="{EA719218-68D3-4196-9F54-E41065D5AE5F}"/>
              </a:ext>
            </a:extLst>
          </p:cNvPr>
          <p:cNvSpPr/>
          <p:nvPr/>
        </p:nvSpPr>
        <p:spPr>
          <a:xfrm>
            <a:off x="995680" y="926400"/>
            <a:ext cx="11196320" cy="2912144"/>
          </a:xfrm>
          <a:prstGeom prst="rect">
            <a:avLst/>
          </a:prstGeom>
        </p:spPr>
        <p:txBody>
          <a:bodyPr wrap="square">
            <a:spAutoFit/>
          </a:bodyPr>
          <a:lstStyle/>
          <a:p>
            <a:pPr lvl="1" algn="just">
              <a:lnSpc>
                <a:spcPct val="150000"/>
              </a:lnSpc>
              <a:spcBef>
                <a:spcPts val="600"/>
              </a:spcBef>
              <a:spcAft>
                <a:spcPts val="600"/>
              </a:spcAft>
            </a:pPr>
            <a:r>
              <a:rPr lang="en-NZ" sz="1100" b="1" dirty="0">
                <a:latin typeface="Times New Roman" panose="02020603050405020304" pitchFamily="18" charset="0"/>
                <a:ea typeface="SimSun" panose="02010600030101010101" pitchFamily="2" charset="-122"/>
                <a:cs typeface="Times New Roman" panose="02020603050405020304" pitchFamily="18" charset="0"/>
              </a:rPr>
              <a:t>Limitations and Exclusions: </a:t>
            </a:r>
            <a:r>
              <a:rPr lang="en-NZ" sz="1100" dirty="0">
                <a:latin typeface="Times New Roman" panose="02020603050405020304" pitchFamily="18" charset="0"/>
                <a:ea typeface="SimSun" panose="02010600030101010101" pitchFamily="2" charset="-122"/>
                <a:cs typeface="Times New Roman" panose="02020603050405020304" pitchFamily="18" charset="0"/>
              </a:rPr>
              <a:t>Due to the constrains of this project, namely limited budget and non-flexible time frame, the final deliverables of this project will not cover the follows:</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Aft>
                <a:spcPts val="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Operation team of the cafe, except the Cafe General Manager</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Aft>
                <a:spcPts val="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Any additional frame structure or roof except the glass fence around the area</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Aft>
                <a:spcPts val="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Kitchen utensils</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Aft>
                <a:spcPts val="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Tableware or any other soft decoration</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Aft>
                <a:spcPts val="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Toilets </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Aft>
                <a:spcPts val="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Food or drink supply</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lvl="0" algn="just">
              <a:lnSpc>
                <a:spcPct val="150000"/>
              </a:lnSpc>
              <a:spcBef>
                <a:spcPts val="600"/>
              </a:spcBef>
              <a:spcAft>
                <a:spcPts val="600"/>
              </a:spcAft>
            </a:pPr>
            <a:r>
              <a:rPr lang="en-NZ" sz="1100" b="1" dirty="0">
                <a:latin typeface="Times New Roman" panose="02020603050405020304" pitchFamily="18" charset="0"/>
                <a:ea typeface="SimSun" panose="02010600030101010101" pitchFamily="2" charset="-122"/>
                <a:cs typeface="Times New Roman" panose="02020603050405020304" pitchFamily="18" charset="0"/>
              </a:rPr>
              <a:t>Project Assumptions: </a:t>
            </a:r>
            <a:r>
              <a:rPr lang="en-NZ" sz="1100" dirty="0">
                <a:latin typeface="Times New Roman" panose="02020603050405020304" pitchFamily="18" charset="0"/>
                <a:ea typeface="SimSun" panose="02010600030101010101" pitchFamily="2" charset="-122"/>
                <a:cs typeface="Times New Roman" panose="02020603050405020304" pitchFamily="18" charset="0"/>
              </a:rPr>
              <a:t>After the on-the-spot investigation of the rooftop and research from internet such as Google Map, we came up with the following assumptions of this project:</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lvl="0" algn="just">
              <a:lnSpc>
                <a:spcPct val="150000"/>
              </a:lnSpc>
              <a:spcBef>
                <a:spcPts val="600"/>
              </a:spcBef>
              <a:spcAft>
                <a:spcPts val="600"/>
              </a:spcAft>
            </a:pPr>
            <a:r>
              <a:rPr lang="en-NZ" sz="1100" dirty="0">
                <a:latin typeface="Times New Roman" panose="02020603050405020304" pitchFamily="18" charset="0"/>
                <a:ea typeface="SimSun" panose="02010600030101010101" pitchFamily="2" charset="-122"/>
                <a:cs typeface="Times New Roman" panose="02020603050405020304" pitchFamily="18" charset="0"/>
              </a:rPr>
              <a:t>a)The rooftop cafe will be built on the flat roof of current 8</a:t>
            </a:r>
            <a:r>
              <a:rPr lang="en-NZ" sz="1100" baseline="30000" dirty="0">
                <a:latin typeface="Times New Roman" panose="02020603050405020304" pitchFamily="18" charset="0"/>
                <a:ea typeface="SimSun" panose="02010600030101010101" pitchFamily="2" charset="-122"/>
                <a:cs typeface="Times New Roman" panose="02020603050405020304" pitchFamily="18" charset="0"/>
              </a:rPr>
              <a:t>th</a:t>
            </a:r>
            <a:r>
              <a:rPr lang="en-NZ" sz="1100" dirty="0">
                <a:latin typeface="Times New Roman" panose="02020603050405020304" pitchFamily="18" charset="0"/>
                <a:ea typeface="SimSun" panose="02010600030101010101" pitchFamily="2" charset="-122"/>
                <a:cs typeface="Times New Roman" panose="02020603050405020304" pitchFamily="18" charset="0"/>
              </a:rPr>
              <a:t> floor (as shown in Figure 1 within the red circle) because the other parts of the building roof are built with metal and already occupied by the ventilation systems, electrical devices and other equipment. Relocating them will cause unexpected turbulence of the routine in the building and raise serious safety issues. </a:t>
            </a:r>
            <a:endParaRPr lang="en-NZ" sz="1100" dirty="0">
              <a:effectLst/>
              <a:latin typeface="Calibri" panose="020F0502020204030204" pitchFamily="34" charset="0"/>
              <a:ea typeface="SimSun" panose="0201060003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A63FB400-9FEF-4045-8D99-0F9BB3A83DD1}"/>
              </a:ext>
            </a:extLst>
          </p:cNvPr>
          <p:cNvSpPr/>
          <p:nvPr/>
        </p:nvSpPr>
        <p:spPr>
          <a:xfrm>
            <a:off x="995680" y="3838544"/>
            <a:ext cx="11196320" cy="3066032"/>
          </a:xfrm>
          <a:prstGeom prst="rect">
            <a:avLst/>
          </a:prstGeom>
        </p:spPr>
        <p:txBody>
          <a:bodyPr wrap="square">
            <a:spAutoFit/>
          </a:bodyPr>
          <a:lstStyle/>
          <a:p>
            <a:pPr lvl="0" algn="just">
              <a:lnSpc>
                <a:spcPct val="150000"/>
              </a:lnSpc>
              <a:spcBef>
                <a:spcPts val="600"/>
              </a:spcBef>
              <a:spcAft>
                <a:spcPts val="600"/>
              </a:spcAft>
            </a:pPr>
            <a:r>
              <a:rPr lang="en-NZ" sz="1100" dirty="0">
                <a:latin typeface="Times New Roman" panose="02020603050405020304" pitchFamily="18" charset="0"/>
                <a:ea typeface="SimSun" panose="02010600030101010101" pitchFamily="2" charset="-122"/>
                <a:cs typeface="Times New Roman" panose="02020603050405020304" pitchFamily="18" charset="0"/>
              </a:rPr>
              <a:t>b) The measure of the area of the flat roof is 150 m</a:t>
            </a:r>
            <a:r>
              <a:rPr lang="en-NZ" sz="1100" baseline="30000" dirty="0">
                <a:latin typeface="Times New Roman" panose="02020603050405020304" pitchFamily="18" charset="0"/>
                <a:ea typeface="SimSun" panose="02010600030101010101" pitchFamily="2" charset="-122"/>
                <a:cs typeface="Times New Roman" panose="02020603050405020304" pitchFamily="18" charset="0"/>
              </a:rPr>
              <a:t>2</a:t>
            </a:r>
            <a:r>
              <a:rPr lang="en-NZ" sz="1100" dirty="0">
                <a:latin typeface="Times New Roman" panose="02020603050405020304" pitchFamily="18" charset="0"/>
                <a:ea typeface="SimSun" panose="02010600030101010101" pitchFamily="2" charset="-122"/>
                <a:cs typeface="Times New Roman" panose="02020603050405020304" pitchFamily="18" charset="0"/>
              </a:rPr>
              <a:t>, which has the maximum capacity of 60 customers(Adkins, 2018). The plan and execution of this project, namely the license/consent application, construction design and execution as well as the kitchen equipment and furniture procumbent will all be based on the capacity of this area.</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lvl="0" algn="just">
              <a:lnSpc>
                <a:spcPct val="150000"/>
              </a:lnSpc>
              <a:spcBef>
                <a:spcPts val="600"/>
              </a:spcBef>
              <a:spcAft>
                <a:spcPts val="600"/>
              </a:spcAft>
            </a:pPr>
            <a:r>
              <a:rPr lang="en-NZ" sz="1100" dirty="0">
                <a:latin typeface="Times New Roman" panose="02020603050405020304" pitchFamily="18" charset="0"/>
                <a:ea typeface="SimSun" panose="02010600030101010101" pitchFamily="2" charset="-122"/>
                <a:cs typeface="Times New Roman" panose="02020603050405020304" pitchFamily="18" charset="0"/>
              </a:rPr>
              <a:t>c) Due to the not-for-profit nature of the OPAIC and the limitation of the construction work availability of this building due to its location and function, the project will select the lowest possible construction workload to realize the scope of the project. Therefore, the rooftop cafe will be an outdoor cafe without any additional frame structure on the roof, considering the request of opening all year around, commercial umbrellas will be used for raining days and outdoor electrical heaters will be used for low temperature days.</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lvl="0" algn="just">
              <a:lnSpc>
                <a:spcPct val="150000"/>
              </a:lnSpc>
              <a:spcBef>
                <a:spcPts val="600"/>
              </a:spcBef>
              <a:spcAft>
                <a:spcPts val="600"/>
              </a:spcAft>
            </a:pPr>
            <a:r>
              <a:rPr lang="en-NZ" sz="1100" dirty="0">
                <a:latin typeface="Calibri" panose="020F0502020204030204" pitchFamily="34" charset="0"/>
                <a:ea typeface="SimSun" panose="02010600030101010101" pitchFamily="2" charset="-122"/>
                <a:cs typeface="Times New Roman" panose="02020603050405020304" pitchFamily="18" charset="0"/>
              </a:rPr>
              <a:t>d) </a:t>
            </a:r>
            <a:r>
              <a:rPr lang="en-NZ" sz="1100" dirty="0">
                <a:latin typeface="Times New Roman" panose="02020603050405020304" pitchFamily="18" charset="0"/>
                <a:ea typeface="SimSun" panose="02010600030101010101" pitchFamily="2" charset="-122"/>
                <a:cs typeface="Times New Roman" panose="02020603050405020304" pitchFamily="18" charset="0"/>
              </a:rPr>
              <a:t>To minimize the turbulence of the routine of the institution, the construction work and accessory installation works will only be executed during study breaks, in this case (Project start date: 1</a:t>
            </a:r>
            <a:r>
              <a:rPr lang="en-NZ" sz="1100" baseline="30000" dirty="0">
                <a:latin typeface="Times New Roman" panose="02020603050405020304" pitchFamily="18" charset="0"/>
                <a:ea typeface="SimSun" panose="02010600030101010101" pitchFamily="2" charset="-122"/>
                <a:cs typeface="Times New Roman" panose="02020603050405020304" pitchFamily="18" charset="0"/>
              </a:rPr>
              <a:t>st</a:t>
            </a:r>
            <a:r>
              <a:rPr lang="en-NZ" sz="1100" dirty="0">
                <a:latin typeface="Times New Roman" panose="02020603050405020304" pitchFamily="18" charset="0"/>
                <a:ea typeface="SimSun" panose="02010600030101010101" pitchFamily="2" charset="-122"/>
                <a:cs typeface="Times New Roman" panose="02020603050405020304" pitchFamily="18" charset="0"/>
              </a:rPr>
              <a:t> Aug 2018) it will be 6</a:t>
            </a:r>
            <a:r>
              <a:rPr lang="en-NZ" sz="1100" baseline="30000" dirty="0">
                <a:latin typeface="Times New Roman" panose="02020603050405020304" pitchFamily="18" charset="0"/>
                <a:ea typeface="SimSun" panose="02010600030101010101" pitchFamily="2" charset="-122"/>
                <a:cs typeface="Times New Roman" panose="02020603050405020304" pitchFamily="18" charset="0"/>
              </a:rPr>
              <a:t>th</a:t>
            </a:r>
            <a:r>
              <a:rPr lang="en-NZ" sz="1100" dirty="0">
                <a:latin typeface="Times New Roman" panose="02020603050405020304" pitchFamily="18" charset="0"/>
                <a:ea typeface="SimSun" panose="02010600030101010101" pitchFamily="2" charset="-122"/>
                <a:cs typeface="Times New Roman" panose="02020603050405020304" pitchFamily="18" charset="0"/>
              </a:rPr>
              <a:t> October to 22</a:t>
            </a:r>
            <a:r>
              <a:rPr lang="en-NZ" sz="1100" baseline="30000" dirty="0">
                <a:latin typeface="Times New Roman" panose="02020603050405020304" pitchFamily="18" charset="0"/>
                <a:ea typeface="SimSun" panose="02010600030101010101" pitchFamily="2" charset="-122"/>
                <a:cs typeface="Times New Roman" panose="02020603050405020304" pitchFamily="18" charset="0"/>
              </a:rPr>
              <a:t>rd</a:t>
            </a:r>
            <a:r>
              <a:rPr lang="en-NZ" sz="1100" dirty="0">
                <a:latin typeface="Times New Roman" panose="02020603050405020304" pitchFamily="18" charset="0"/>
                <a:ea typeface="SimSun" panose="02010600030101010101" pitchFamily="2" charset="-122"/>
                <a:cs typeface="Times New Roman" panose="02020603050405020304" pitchFamily="18" charset="0"/>
              </a:rPr>
              <a:t> October(Auckland, 2018). Other tasks such as design, consent application and building inspection will be scheduled outside the breaks to prioritize the resource to the tasks that produce noises. </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lvl="0" algn="just">
              <a:lnSpc>
                <a:spcPct val="150000"/>
              </a:lnSpc>
              <a:spcBef>
                <a:spcPts val="600"/>
              </a:spcBef>
              <a:spcAft>
                <a:spcPts val="600"/>
              </a:spcAft>
            </a:pPr>
            <a:r>
              <a:rPr lang="en-NZ" sz="1100" dirty="0">
                <a:latin typeface="Times New Roman" panose="02020603050405020304" pitchFamily="18" charset="0"/>
                <a:ea typeface="SimSun" panose="02010600030101010101" pitchFamily="2" charset="-122"/>
                <a:cs typeface="Times New Roman" panose="02020603050405020304" pitchFamily="18" charset="0"/>
              </a:rPr>
              <a:t>e) Food license application, building and resource consent application, cafe layout design and construction work will be outsourced to professional organizations. The construction and business project on the existing rooftop require certain level of safety consideration, such as roof capacity, resource consumption and waste disposal as well as human health and safety.</a:t>
            </a:r>
            <a:endParaRPr lang="en-NZ" sz="1100" dirty="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12493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B5C4BA-5203-4184-A9D5-2D8EAB8FC0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96943DAE-28CB-4320-825C-816E909812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1FEAE0F4-593F-4614-9B48-149CA18C6BE2}"/>
              </a:ext>
            </a:extLst>
          </p:cNvPr>
          <p:cNvSpPr txBox="1"/>
          <p:nvPr/>
        </p:nvSpPr>
        <p:spPr>
          <a:xfrm>
            <a:off x="1448499" y="192947"/>
            <a:ext cx="9295002" cy="769441"/>
          </a:xfrm>
          <a:prstGeom prst="rect">
            <a:avLst/>
          </a:prstGeom>
          <a:noFill/>
        </p:spPr>
        <p:txBody>
          <a:bodyPr wrap="square" rtlCol="0">
            <a:spAutoFit/>
          </a:bodyPr>
          <a:lstStyle/>
          <a:p>
            <a:pPr algn="ctr"/>
            <a:r>
              <a:rPr lang="en-US" sz="4400" b="1" dirty="0">
                <a:latin typeface="+mj-lt"/>
              </a:rPr>
              <a:t>Sample SCOPE: Pt 3</a:t>
            </a:r>
          </a:p>
        </p:txBody>
      </p:sp>
      <p:sp>
        <p:nvSpPr>
          <p:cNvPr id="4" name="Rectangle 3">
            <a:extLst>
              <a:ext uri="{FF2B5EF4-FFF2-40B4-BE49-F238E27FC236}">
                <a16:creationId xmlns:a16="http://schemas.microsoft.com/office/drawing/2014/main" id="{B1894E5C-8FE9-4E6A-8026-F30CCA15B83A}"/>
              </a:ext>
            </a:extLst>
          </p:cNvPr>
          <p:cNvSpPr/>
          <p:nvPr/>
        </p:nvSpPr>
        <p:spPr>
          <a:xfrm>
            <a:off x="975360" y="978474"/>
            <a:ext cx="5120640" cy="5097357"/>
          </a:xfrm>
          <a:prstGeom prst="rect">
            <a:avLst/>
          </a:prstGeom>
        </p:spPr>
        <p:txBody>
          <a:bodyPr wrap="square">
            <a:spAutoFit/>
          </a:bodyPr>
          <a:lstStyle/>
          <a:p>
            <a:pPr lvl="1" algn="just">
              <a:lnSpc>
                <a:spcPct val="150000"/>
              </a:lnSpc>
              <a:spcBef>
                <a:spcPts val="600"/>
              </a:spcBef>
              <a:spcAft>
                <a:spcPts val="600"/>
              </a:spcAft>
            </a:pPr>
            <a:r>
              <a:rPr lang="en-NZ" sz="1100" b="1" dirty="0">
                <a:latin typeface="Times New Roman" panose="02020603050405020304" pitchFamily="18" charset="0"/>
                <a:ea typeface="SimSun" panose="02010600030101010101" pitchFamily="2" charset="-122"/>
                <a:cs typeface="Times New Roman" panose="02020603050405020304" pitchFamily="18" charset="0"/>
              </a:rPr>
              <a:t>Project risks:</a:t>
            </a:r>
            <a:endParaRPr lang="en-NZ" sz="1100" b="1"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Bef>
                <a:spcPts val="600"/>
              </a:spcBef>
              <a:spcAft>
                <a:spcPts val="60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Our first risk is achieving building consent. It is crucial for our project since we are constructing on existing building, if we could not achieve the consent due to technical or safety reasons, our project need to be re-scoped.</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Bef>
                <a:spcPts val="600"/>
              </a:spcBef>
              <a:spcAft>
                <a:spcPts val="60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Finding professional builders who could finish all construction tasks within the fixed and tight time frame is another risk. As construction is required to be executed only during study holidays, to maximize the possibility of have all task accomplished within this short period (2 weeks), weekends need to be utilized as well. Moreover, different specialised builders need to fit in our tight schedule perfectly, any delay or incidence of the any work package might result in a significant delay of the whole project.</a:t>
            </a:r>
            <a:endParaRPr lang="en-NZ" sz="1100" dirty="0">
              <a:latin typeface="Calibri" panose="020F0502020204030204" pitchFamily="34" charset="0"/>
              <a:ea typeface="SimSun" panose="02010600030101010101" pitchFamily="2" charset="-122"/>
              <a:cs typeface="Times New Roman" panose="02020603050405020304" pitchFamily="18" charset="0"/>
            </a:endParaRPr>
          </a:p>
          <a:p>
            <a:pPr marL="342900" lvl="0" indent="-342900" algn="just">
              <a:lnSpc>
                <a:spcPct val="150000"/>
              </a:lnSpc>
              <a:spcBef>
                <a:spcPts val="600"/>
              </a:spcBef>
              <a:spcAft>
                <a:spcPts val="600"/>
              </a:spcAft>
              <a:buFont typeface="+mj-lt"/>
              <a:buAutoNum type="alphaLcParenR"/>
            </a:pPr>
            <a:r>
              <a:rPr lang="en-NZ" sz="1100" dirty="0">
                <a:latin typeface="Times New Roman" panose="02020603050405020304" pitchFamily="18" charset="0"/>
                <a:ea typeface="SimSun" panose="02010600030101010101" pitchFamily="2" charset="-122"/>
                <a:cs typeface="Times New Roman" panose="02020603050405020304" pitchFamily="18" charset="0"/>
              </a:rPr>
              <a:t>Weather is also a big risk which may bring turbulence to our project, especially the construction tasks relating to the rooftop reinforcement and waterproofing. Although we will take this risk into consideration and plan to protect the working site with PVC screen which can ensure the rain will not stop the construction, however once it is raining during the drying of concrete for reinforcing or if the rain caused linkage before the waterproofing starts, these finishing time of these tasks will be delayed.</a:t>
            </a:r>
            <a:endParaRPr lang="en-NZ" sz="1100" dirty="0">
              <a:effectLst/>
              <a:latin typeface="Calibri" panose="020F0502020204030204" pitchFamily="34" charset="0"/>
              <a:ea typeface="SimSun" panose="02010600030101010101" pitchFamily="2" charset="-122"/>
              <a:cs typeface="Times New Roman" panose="02020603050405020304" pitchFamily="18" charset="0"/>
            </a:endParaRPr>
          </a:p>
        </p:txBody>
      </p:sp>
      <p:grpSp>
        <p:nvGrpSpPr>
          <p:cNvPr id="8" name="Group 7">
            <a:extLst>
              <a:ext uri="{FF2B5EF4-FFF2-40B4-BE49-F238E27FC236}">
                <a16:creationId xmlns:a16="http://schemas.microsoft.com/office/drawing/2014/main" id="{5F8179B8-B9BE-4F59-BB51-988A351360F3}"/>
              </a:ext>
            </a:extLst>
          </p:cNvPr>
          <p:cNvGrpSpPr/>
          <p:nvPr/>
        </p:nvGrpSpPr>
        <p:grpSpPr>
          <a:xfrm>
            <a:off x="6460490" y="1536976"/>
            <a:ext cx="5731510" cy="3498850"/>
            <a:chOff x="8627" y="-17253"/>
            <a:chExt cx="5731510" cy="3498850"/>
          </a:xfrm>
        </p:grpSpPr>
        <p:pic>
          <p:nvPicPr>
            <p:cNvPr id="9" name="Picture 8">
              <a:extLst>
                <a:ext uri="{FF2B5EF4-FFF2-40B4-BE49-F238E27FC236}">
                  <a16:creationId xmlns:a16="http://schemas.microsoft.com/office/drawing/2014/main" id="{041F11D4-D3C5-4006-8A91-2AB385CBE0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27" y="-17253"/>
              <a:ext cx="5731510" cy="3498850"/>
            </a:xfrm>
            <a:prstGeom prst="rect">
              <a:avLst/>
            </a:prstGeom>
          </p:spPr>
        </p:pic>
        <p:sp>
          <p:nvSpPr>
            <p:cNvPr id="12" name="Oval 11">
              <a:extLst>
                <a:ext uri="{FF2B5EF4-FFF2-40B4-BE49-F238E27FC236}">
                  <a16:creationId xmlns:a16="http://schemas.microsoft.com/office/drawing/2014/main" id="{3732AAA7-A254-4DD3-8342-46C4823C2121}"/>
                </a:ext>
              </a:extLst>
            </p:cNvPr>
            <p:cNvSpPr/>
            <p:nvPr/>
          </p:nvSpPr>
          <p:spPr>
            <a:xfrm>
              <a:off x="1966822" y="86264"/>
              <a:ext cx="1743075" cy="16764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NZ"/>
            </a:p>
          </p:txBody>
        </p:sp>
      </p:grpSp>
    </p:spTree>
    <p:extLst>
      <p:ext uri="{BB962C8B-B14F-4D97-AF65-F5344CB8AC3E}">
        <p14:creationId xmlns:p14="http://schemas.microsoft.com/office/powerpoint/2010/main" val="2238408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5C01-56B2-4701-B160-1FA83D081561}"/>
              </a:ext>
            </a:extLst>
          </p:cNvPr>
          <p:cNvSpPr>
            <a:spLocks noGrp="1"/>
          </p:cNvSpPr>
          <p:nvPr>
            <p:ph type="title"/>
          </p:nvPr>
        </p:nvSpPr>
        <p:spPr>
          <a:xfrm>
            <a:off x="838200" y="-84841"/>
            <a:ext cx="10515600" cy="1325563"/>
          </a:xfrm>
        </p:spPr>
        <p:txBody>
          <a:bodyPr/>
          <a:lstStyle/>
          <a:p>
            <a:r>
              <a:rPr lang="en-NZ" dirty="0"/>
              <a:t>Methodology Applied to a project: Examples</a:t>
            </a:r>
          </a:p>
        </p:txBody>
      </p:sp>
      <p:sp>
        <p:nvSpPr>
          <p:cNvPr id="5" name="Content Placeholder 4">
            <a:extLst>
              <a:ext uri="{FF2B5EF4-FFF2-40B4-BE49-F238E27FC236}">
                <a16:creationId xmlns:a16="http://schemas.microsoft.com/office/drawing/2014/main" id="{75D0A0D8-F2A5-4C84-9702-087D9C94A12D}"/>
              </a:ext>
            </a:extLst>
          </p:cNvPr>
          <p:cNvSpPr>
            <a:spLocks noGrp="1"/>
          </p:cNvSpPr>
          <p:nvPr>
            <p:ph idx="1"/>
          </p:nvPr>
        </p:nvSpPr>
        <p:spPr>
          <a:xfrm>
            <a:off x="838200" y="898071"/>
            <a:ext cx="10515600" cy="5715000"/>
          </a:xfrm>
        </p:spPr>
        <p:txBody>
          <a:bodyPr>
            <a:normAutofit fontScale="62500" lnSpcReduction="20000"/>
          </a:bodyPr>
          <a:lstStyle/>
          <a:p>
            <a:pPr lvl="0"/>
            <a:r>
              <a:rPr lang="en-NZ" b="1" dirty="0"/>
              <a:t>1.2. Waterfall's Process</a:t>
            </a:r>
          </a:p>
          <a:p>
            <a:pPr lvl="0"/>
            <a:r>
              <a:rPr lang="en-NZ" b="1" dirty="0"/>
              <a:t>Waterfall has five stages which are analysis, design stage, execution or implementation stage, testing  stage and the maintenance stage.</a:t>
            </a:r>
          </a:p>
          <a:p>
            <a:pPr lvl="0"/>
            <a:r>
              <a:rPr lang="en-NZ" b="1" dirty="0"/>
              <a:t>The Analysis stage. This stage which is also known as the system requirement specification (SRS) phase (</a:t>
            </a:r>
            <a:r>
              <a:rPr lang="en-NZ" b="1" dirty="0" err="1"/>
              <a:t>Bassil</a:t>
            </a:r>
            <a:r>
              <a:rPr lang="en-NZ" b="1" dirty="0"/>
              <a:t>, 2015) can be described in two ways in the context of IT. These are the system requirement and the software requirement. The system requirement deals with the establishment of the components for building the system. Examples are the hardware components, the software tools among others while the software requirements deal with the establishment of the functionality of the software. An example is a good user interface (</a:t>
            </a:r>
            <a:r>
              <a:rPr lang="en-NZ" b="1" dirty="0" err="1"/>
              <a:t>Munassar</a:t>
            </a:r>
            <a:r>
              <a:rPr lang="en-NZ" b="1" dirty="0"/>
              <a:t> &amp;</a:t>
            </a:r>
            <a:r>
              <a:rPr lang="en-NZ" b="1" dirty="0" err="1"/>
              <a:t>Govardhan</a:t>
            </a:r>
            <a:r>
              <a:rPr lang="en-NZ" b="1" dirty="0"/>
              <a:t>, 2010).</a:t>
            </a:r>
          </a:p>
          <a:p>
            <a:pPr lvl="0"/>
            <a:r>
              <a:rPr lang="en-NZ" b="1" dirty="0"/>
              <a:t>The Design stage. The design stage also can be described in two ways in this context. That is the architectural design and the detailed design. The architectural design deals more with the framework of the software, their major components and how they interact with each other. The detailed design deals more with the specification of how each of the components defined in the architectural stage is implemented (</a:t>
            </a:r>
            <a:r>
              <a:rPr lang="en-NZ" b="1" dirty="0" err="1"/>
              <a:t>Bassil</a:t>
            </a:r>
            <a:r>
              <a:rPr lang="en-NZ" b="1" dirty="0"/>
              <a:t>, 2012). Again, the designing stage in IT deals with the choosing of the right design, logical diagram design, definition of data structure among others (</a:t>
            </a:r>
            <a:r>
              <a:rPr lang="en-NZ" b="1" dirty="0" err="1"/>
              <a:t>Alshamrani</a:t>
            </a:r>
            <a:r>
              <a:rPr lang="en-NZ" b="1" dirty="0"/>
              <a:t> &amp; </a:t>
            </a:r>
            <a:r>
              <a:rPr lang="en-NZ" b="1" dirty="0" err="1"/>
              <a:t>Bahattab</a:t>
            </a:r>
            <a:r>
              <a:rPr lang="en-NZ" b="1" dirty="0"/>
              <a:t>, 2015).</a:t>
            </a:r>
          </a:p>
          <a:p>
            <a:pPr lvl="0"/>
            <a:r>
              <a:rPr lang="en-NZ" b="1" dirty="0"/>
              <a:t>The Execution stage. This stage talks about the conversion of the whole requirements into production (</a:t>
            </a:r>
            <a:r>
              <a:rPr lang="en-NZ" b="1" dirty="0" err="1"/>
              <a:t>Alshamrani</a:t>
            </a:r>
            <a:r>
              <a:rPr lang="en-NZ" b="1" dirty="0"/>
              <a:t> &amp; </a:t>
            </a:r>
            <a:r>
              <a:rPr lang="en-NZ" b="1" dirty="0" err="1"/>
              <a:t>Bahattab</a:t>
            </a:r>
            <a:r>
              <a:rPr lang="en-NZ" b="1" dirty="0"/>
              <a:t> 2015). According to </a:t>
            </a:r>
            <a:r>
              <a:rPr lang="en-NZ" b="1" dirty="0" err="1"/>
              <a:t>Munassar</a:t>
            </a:r>
            <a:r>
              <a:rPr lang="en-NZ" b="1" dirty="0"/>
              <a:t> &amp; </a:t>
            </a:r>
            <a:r>
              <a:rPr lang="en-NZ" b="1" dirty="0" err="1"/>
              <a:t>Govardhan</a:t>
            </a:r>
            <a:r>
              <a:rPr lang="en-NZ" b="1" dirty="0"/>
              <a:t> (2010), this stage is also called the coding and development stage where the detailed design is implemented. Again, It can be referred to as the implementation stage where the business requirements and specification is realised (</a:t>
            </a:r>
            <a:r>
              <a:rPr lang="en-NZ" b="1" dirty="0" err="1"/>
              <a:t>Bassil</a:t>
            </a:r>
            <a:r>
              <a:rPr lang="en-NZ" b="1" dirty="0"/>
              <a:t>, 2012).</a:t>
            </a:r>
          </a:p>
          <a:p>
            <a:pPr lvl="0"/>
            <a:r>
              <a:rPr lang="en-NZ" b="1" dirty="0"/>
              <a:t>The Testing stage. This stage is also known as verification and validation stage where the system is evaluated to determine if it satisfies the requirements that was specified. This can be done during or at the end of a development process of the software. (</a:t>
            </a:r>
            <a:r>
              <a:rPr lang="en-NZ" b="1" dirty="0" err="1"/>
              <a:t>Bassil</a:t>
            </a:r>
            <a:r>
              <a:rPr lang="en-NZ" b="1" dirty="0"/>
              <a:t>, 2012).</a:t>
            </a:r>
          </a:p>
          <a:p>
            <a:pPr lvl="0"/>
            <a:r>
              <a:rPr lang="en-NZ" b="1" dirty="0"/>
              <a:t>The Maintenance stage deals with the modification of the software solution with the purpose of refining output, error correction and some maintenance activities to improve performance and enhance quality. (</a:t>
            </a:r>
            <a:r>
              <a:rPr lang="en-NZ" b="1" dirty="0" err="1"/>
              <a:t>Bassil</a:t>
            </a:r>
            <a:r>
              <a:rPr lang="en-NZ" b="1" dirty="0"/>
              <a:t>, 2012).</a:t>
            </a:r>
            <a:endParaRPr lang="en-NZ" dirty="0"/>
          </a:p>
        </p:txBody>
      </p:sp>
    </p:spTree>
    <p:extLst>
      <p:ext uri="{BB962C8B-B14F-4D97-AF65-F5344CB8AC3E}">
        <p14:creationId xmlns:p14="http://schemas.microsoft.com/office/powerpoint/2010/main" val="64535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5C01-56B2-4701-B160-1FA83D081561}"/>
              </a:ext>
            </a:extLst>
          </p:cNvPr>
          <p:cNvSpPr>
            <a:spLocks noGrp="1"/>
          </p:cNvSpPr>
          <p:nvPr>
            <p:ph type="title"/>
          </p:nvPr>
        </p:nvSpPr>
        <p:spPr/>
        <p:txBody>
          <a:bodyPr/>
          <a:lstStyle/>
          <a:p>
            <a:r>
              <a:rPr lang="en-NZ" dirty="0"/>
              <a:t>Methodology Applied to a project: Examples</a:t>
            </a:r>
          </a:p>
        </p:txBody>
      </p:sp>
      <p:sp>
        <p:nvSpPr>
          <p:cNvPr id="5" name="Content Placeholder 4">
            <a:extLst>
              <a:ext uri="{FF2B5EF4-FFF2-40B4-BE49-F238E27FC236}">
                <a16:creationId xmlns:a16="http://schemas.microsoft.com/office/drawing/2014/main" id="{75D0A0D8-F2A5-4C84-9702-087D9C94A12D}"/>
              </a:ext>
            </a:extLst>
          </p:cNvPr>
          <p:cNvSpPr>
            <a:spLocks noGrp="1"/>
          </p:cNvSpPr>
          <p:nvPr>
            <p:ph idx="1"/>
          </p:nvPr>
        </p:nvSpPr>
        <p:spPr>
          <a:xfrm>
            <a:off x="838200" y="1576873"/>
            <a:ext cx="10515600" cy="4805363"/>
          </a:xfrm>
        </p:spPr>
        <p:txBody>
          <a:bodyPr>
            <a:normAutofit fontScale="70000" lnSpcReduction="20000"/>
          </a:bodyPr>
          <a:lstStyle/>
          <a:p>
            <a:pPr lvl="0"/>
            <a:r>
              <a:rPr lang="en-US" b="1" dirty="0"/>
              <a:t>Main aspects of event management</a:t>
            </a:r>
            <a:endParaRPr lang="en-NZ" dirty="0"/>
          </a:p>
          <a:p>
            <a:r>
              <a:rPr lang="en-US" dirty="0"/>
              <a:t>Nowadays, the number of events carrying out around the world has been increasing year by year. Event industry has developed significantly, and an event itself has been becoming more complicated that result in more complicated event management (Allen, Harris, </a:t>
            </a:r>
            <a:r>
              <a:rPr lang="en-US" dirty="0" err="1"/>
              <a:t>Jago</a:t>
            </a:r>
            <a:r>
              <a:rPr lang="en-US" dirty="0"/>
              <a:t>, &amp; Veal, 2000). Therefore, before to </a:t>
            </a:r>
            <a:r>
              <a:rPr lang="en-US" dirty="0" err="1"/>
              <a:t>analyse</a:t>
            </a:r>
            <a:r>
              <a:rPr lang="en-US" dirty="0"/>
              <a:t> the suitability of CCPM for the particular event, it is necessary to determine the main aspects of the modern event management.</a:t>
            </a:r>
            <a:endParaRPr lang="en-NZ" dirty="0"/>
          </a:p>
          <a:p>
            <a:r>
              <a:rPr lang="en-US" dirty="0"/>
              <a:t>As it was stated by </a:t>
            </a:r>
            <a:r>
              <a:rPr lang="en-US" dirty="0" err="1"/>
              <a:t>Artem</a:t>
            </a:r>
            <a:r>
              <a:rPr lang="en-US" dirty="0"/>
              <a:t> Voynov (one of the team member) in his individual report,</a:t>
            </a:r>
            <a:r>
              <a:rPr lang="en-US" b="1" dirty="0"/>
              <a:t> </a:t>
            </a:r>
            <a:r>
              <a:rPr lang="en-US" dirty="0"/>
              <a:t>according to O'Toole (2000) event project management has three main features: </a:t>
            </a:r>
            <a:endParaRPr lang="en-NZ" dirty="0"/>
          </a:p>
          <a:p>
            <a:pPr lvl="0"/>
            <a:r>
              <a:rPr lang="en-US" dirty="0"/>
              <a:t>The deadline, which undoubtedly defines the difference between event management and PM in different areas. Indeed, the event must start at a particular time even if something went wrong. </a:t>
            </a:r>
            <a:endParaRPr lang="en-NZ" dirty="0"/>
          </a:p>
          <a:p>
            <a:pPr lvl="0"/>
            <a:r>
              <a:rPr lang="en-US" dirty="0"/>
              <a:t>Widespread use of volunteers which points out the importance of </a:t>
            </a:r>
            <a:r>
              <a:rPr lang="en-US" dirty="0" err="1"/>
              <a:t>behavioural</a:t>
            </a:r>
            <a:r>
              <a:rPr lang="en-US" dirty="0"/>
              <a:t> issues and complicates the estimations of resources and tasks.</a:t>
            </a:r>
            <a:endParaRPr lang="en-NZ" dirty="0"/>
          </a:p>
          <a:p>
            <a:pPr lvl="0"/>
            <a:r>
              <a:rPr lang="en-US" dirty="0"/>
              <a:t>The changing and chaotic environment which requires to make decisions quickly, communicate them and carry them out.</a:t>
            </a:r>
            <a:endParaRPr lang="en-NZ" dirty="0"/>
          </a:p>
          <a:p>
            <a:r>
              <a:rPr lang="en-US" dirty="0"/>
              <a:t>The identification of the essential aspects of event project management creates a basis for critical analysis of CCPM which will be carried out in section 5.</a:t>
            </a:r>
            <a:endParaRPr lang="en-NZ" dirty="0"/>
          </a:p>
        </p:txBody>
      </p:sp>
    </p:spTree>
    <p:extLst>
      <p:ext uri="{BB962C8B-B14F-4D97-AF65-F5344CB8AC3E}">
        <p14:creationId xmlns:p14="http://schemas.microsoft.com/office/powerpoint/2010/main" val="3653884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F5FD467-F5E3-416D-816E-6970C2B92AB8}"/>
              </a:ext>
            </a:extLst>
          </p:cNvPr>
          <p:cNvSpPr/>
          <p:nvPr/>
        </p:nvSpPr>
        <p:spPr>
          <a:xfrm>
            <a:off x="630315" y="1469714"/>
            <a:ext cx="10431262" cy="3970318"/>
          </a:xfrm>
          <a:prstGeom prst="rect">
            <a:avLst/>
          </a:prstGeom>
        </p:spPr>
        <p:txBody>
          <a:bodyPr wrap="square">
            <a:spAutoFit/>
          </a:bodyPr>
          <a:lstStyle/>
          <a:p>
            <a:pPr lvl="0"/>
            <a:r>
              <a:rPr lang="en-US" b="1" dirty="0"/>
              <a:t>Conclusion </a:t>
            </a:r>
            <a:endParaRPr lang="en-NZ" dirty="0"/>
          </a:p>
          <a:p>
            <a:r>
              <a:rPr lang="en-US" dirty="0"/>
              <a:t>This research was aimed to determine the role of project management in achieving successful project outcomes and to </a:t>
            </a:r>
            <a:r>
              <a:rPr lang="en-US" dirty="0" err="1"/>
              <a:t>analyse</a:t>
            </a:r>
            <a:r>
              <a:rPr lang="en-US" dirty="0"/>
              <a:t> Critical Chain Project Management method which was chosen as the most appropriate method for event project management during the teamwork activities. </a:t>
            </a:r>
            <a:endParaRPr lang="en-NZ" dirty="0"/>
          </a:p>
          <a:p>
            <a:r>
              <a:rPr lang="en-US" dirty="0"/>
              <a:t>The research determined that that project management </a:t>
            </a:r>
            <a:r>
              <a:rPr lang="en-US" dirty="0">
                <a:hlinkClick r:id="rId2"/>
              </a:rPr>
              <a:t>plays an indispensable role</a:t>
            </a:r>
            <a:r>
              <a:rPr lang="en-US" dirty="0"/>
              <a:t> in successful outcomes for major projects. However, in order to implement all project management tools, it is crucial to understand the main features of a particular project. This study investigated, that event project management has three most crucial aspects, namely deadline, use of volunteers and changing environment. CCPM, having some disadvantages, such as aggressive management of the duration of tasks or complicated process of task </a:t>
            </a:r>
            <a:r>
              <a:rPr lang="en-US" dirty="0" err="1"/>
              <a:t>prioritising</a:t>
            </a:r>
            <a:r>
              <a:rPr lang="en-US" dirty="0"/>
              <a:t>, may undoubtedly help to mitigate mentioned problematic aspects of event management. As also stated above, CCPM is based on proper teamwork. Therefore, it is relevant to a wide range of Maori values, such as </a:t>
            </a:r>
            <a:r>
              <a:rPr lang="en-US" b="1" dirty="0" err="1"/>
              <a:t>Whanaungtanga</a:t>
            </a:r>
            <a:r>
              <a:rPr lang="en-US" b="1" dirty="0"/>
              <a:t> and </a:t>
            </a:r>
            <a:r>
              <a:rPr lang="en-US" b="1" dirty="0" err="1"/>
              <a:t>Mohiotanga</a:t>
            </a:r>
            <a:r>
              <a:rPr lang="en-US" b="1" dirty="0"/>
              <a:t>. </a:t>
            </a:r>
            <a:endParaRPr lang="en-NZ" dirty="0"/>
          </a:p>
          <a:p>
            <a:r>
              <a:rPr lang="en-US" dirty="0"/>
              <a:t>The finding of this study might be useful in the future execution of the mentioned case study and leave room for new research.</a:t>
            </a:r>
            <a:endParaRPr lang="en-NZ" dirty="0"/>
          </a:p>
        </p:txBody>
      </p:sp>
      <p:sp>
        <p:nvSpPr>
          <p:cNvPr id="3" name="Title 1">
            <a:extLst>
              <a:ext uri="{FF2B5EF4-FFF2-40B4-BE49-F238E27FC236}">
                <a16:creationId xmlns:a16="http://schemas.microsoft.com/office/drawing/2014/main" id="{F9524B32-6D81-432F-FCE1-90D153BD7E7E}"/>
              </a:ext>
            </a:extLst>
          </p:cNvPr>
          <p:cNvSpPr>
            <a:spLocks noGrp="1"/>
          </p:cNvSpPr>
          <p:nvPr>
            <p:ph type="title"/>
          </p:nvPr>
        </p:nvSpPr>
        <p:spPr>
          <a:xfrm>
            <a:off x="715651" y="365125"/>
            <a:ext cx="10515600" cy="1325563"/>
          </a:xfrm>
        </p:spPr>
        <p:txBody>
          <a:bodyPr/>
          <a:lstStyle/>
          <a:p>
            <a:r>
              <a:rPr lang="en-NZ" dirty="0"/>
              <a:t>Methodology Applied to a project: Examples</a:t>
            </a:r>
          </a:p>
        </p:txBody>
      </p:sp>
    </p:spTree>
    <p:extLst>
      <p:ext uri="{BB962C8B-B14F-4D97-AF65-F5344CB8AC3E}">
        <p14:creationId xmlns:p14="http://schemas.microsoft.com/office/powerpoint/2010/main" val="229170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8FB1B9-0ABB-4F75-8C1D-7F9B53B619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87DF8233-248E-4D05-8CEE-4F7A22B470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A1931E8A-C69D-4B92-8A6F-96D6AD7DB4BC}"/>
              </a:ext>
            </a:extLst>
          </p:cNvPr>
          <p:cNvSpPr txBox="1"/>
          <p:nvPr/>
        </p:nvSpPr>
        <p:spPr>
          <a:xfrm>
            <a:off x="1439779" y="184486"/>
            <a:ext cx="9312442" cy="769441"/>
          </a:xfrm>
          <a:prstGeom prst="rect">
            <a:avLst/>
          </a:prstGeom>
          <a:noFill/>
        </p:spPr>
        <p:txBody>
          <a:bodyPr wrap="square" rtlCol="0">
            <a:spAutoFit/>
          </a:bodyPr>
          <a:lstStyle/>
          <a:p>
            <a:pPr algn="ctr"/>
            <a:r>
              <a:rPr lang="en-NZ" sz="4400" b="1" dirty="0" err="1">
                <a:latin typeface="+mj-lt"/>
              </a:rPr>
              <a:t>Maori</a:t>
            </a:r>
            <a:r>
              <a:rPr lang="en-NZ" sz="4400" b="1" dirty="0">
                <a:latin typeface="+mj-lt"/>
              </a:rPr>
              <a:t> Applied to a project: An example</a:t>
            </a:r>
          </a:p>
        </p:txBody>
      </p:sp>
      <p:sp>
        <p:nvSpPr>
          <p:cNvPr id="2" name="TextBox 1">
            <a:extLst>
              <a:ext uri="{FF2B5EF4-FFF2-40B4-BE49-F238E27FC236}">
                <a16:creationId xmlns:a16="http://schemas.microsoft.com/office/drawing/2014/main" id="{41A3087E-93A4-406C-8310-4AB2CB1AA152}"/>
              </a:ext>
            </a:extLst>
          </p:cNvPr>
          <p:cNvSpPr txBox="1"/>
          <p:nvPr/>
        </p:nvSpPr>
        <p:spPr>
          <a:xfrm>
            <a:off x="1045192" y="1251034"/>
            <a:ext cx="10401137" cy="5262979"/>
          </a:xfrm>
          <a:prstGeom prst="rect">
            <a:avLst/>
          </a:prstGeom>
          <a:noFill/>
        </p:spPr>
        <p:txBody>
          <a:bodyPr wrap="square" rtlCol="0">
            <a:spAutoFit/>
          </a:bodyPr>
          <a:lstStyle/>
          <a:p>
            <a:r>
              <a:rPr lang="en-NZ" sz="1600" dirty="0"/>
              <a:t>A prototyping methodology</a:t>
            </a:r>
          </a:p>
          <a:p>
            <a:r>
              <a:rPr lang="en-NZ" sz="1600" dirty="0"/>
              <a:t>Providing constant interaction with users, in relation to Maori values, there is a strong connection, because one of the Iwi values is strong community relations: </a:t>
            </a:r>
            <a:r>
              <a:rPr lang="en-NZ" sz="1600" dirty="0" err="1"/>
              <a:t>whanaugatanga</a:t>
            </a:r>
            <a:r>
              <a:rPr lang="en-NZ" sz="1600" dirty="0"/>
              <a:t> means community relationship and family connections and </a:t>
            </a:r>
            <a:r>
              <a:rPr lang="en-NZ" sz="1600" dirty="0" err="1"/>
              <a:t>awhinatanga</a:t>
            </a:r>
            <a:r>
              <a:rPr lang="en-NZ" sz="1600" dirty="0"/>
              <a:t>  means to give assistance and care for.  </a:t>
            </a:r>
          </a:p>
          <a:p>
            <a:r>
              <a:rPr lang="en-NZ" sz="1600" dirty="0"/>
              <a:t>According to (Harmsworth, 2005), a number of good practices have been implemented by local authorities to develop effective relationships with Maori people. We extract some of the guidelines:</a:t>
            </a:r>
          </a:p>
          <a:p>
            <a:r>
              <a:rPr lang="en-NZ" sz="1600" dirty="0"/>
              <a:t>Recognise the importance of iwi/</a:t>
            </a:r>
            <a:r>
              <a:rPr lang="en-NZ" sz="1600" dirty="0" err="1"/>
              <a:t>hapu</a:t>
            </a:r>
            <a:r>
              <a:rPr lang="en-NZ" sz="1600" dirty="0"/>
              <a:t>̄ participation in projects </a:t>
            </a:r>
          </a:p>
          <a:p>
            <a:r>
              <a:rPr lang="en-NZ" sz="1600" dirty="0"/>
              <a:t>Help build capacity and resources for iwi/</a:t>
            </a:r>
            <a:r>
              <a:rPr lang="en-NZ" sz="1600" dirty="0" err="1"/>
              <a:t>hapu</a:t>
            </a:r>
            <a:r>
              <a:rPr lang="en-NZ" sz="1600" dirty="0"/>
              <a:t>̄ </a:t>
            </a:r>
          </a:p>
          <a:p>
            <a:r>
              <a:rPr lang="en-NZ" sz="1600" dirty="0"/>
              <a:t>Help develop mutually beneficial projects (e.g., council and </a:t>
            </a:r>
            <a:r>
              <a:rPr lang="en-NZ" sz="1600" dirty="0" err="1"/>
              <a:t>Māori</a:t>
            </a:r>
            <a:r>
              <a:rPr lang="en-NZ" sz="1600" dirty="0"/>
              <a:t>) – the development of projects that include stakeholders and community groups working together towards defined, measured and collective goals</a:t>
            </a:r>
          </a:p>
          <a:p>
            <a:r>
              <a:rPr lang="en-NZ" sz="1600" dirty="0"/>
              <a:t>A website approach</a:t>
            </a:r>
          </a:p>
          <a:p>
            <a:r>
              <a:rPr lang="en-NZ" sz="1600" dirty="0"/>
              <a:t>In website design, incorporate Maori symbols and greetings into the cover page, widgets and any places that can fit those graphics on the website. </a:t>
            </a:r>
          </a:p>
          <a:p>
            <a:r>
              <a:rPr lang="en-NZ" sz="1600" dirty="0"/>
              <a:t>Bilingual website platform: English and Maori. The website must be able to display Maori wordings in the English platform, as most of names in New Zealand are written in Maori language, such as locations, organizations, people and subjects that can only be explained in Maori words. </a:t>
            </a:r>
          </a:p>
          <a:p>
            <a:r>
              <a:rPr lang="en-NZ" sz="1600" dirty="0"/>
              <a:t>For project diversity, we seek opportunities for our OPAIC students to participate in project management with Maori organizations. This will bring a cultural diversity exposing our students to new knowledge, experience and relationships with iwi organizations.</a:t>
            </a:r>
          </a:p>
          <a:p>
            <a:r>
              <a:rPr lang="en-NZ" sz="1600" dirty="0"/>
              <a:t>Contribution to Maori community. We look for projects that contribute effort to iwi tribes, such as environmental reserve project and Maori community development.</a:t>
            </a:r>
          </a:p>
        </p:txBody>
      </p:sp>
    </p:spTree>
    <p:extLst>
      <p:ext uri="{BB962C8B-B14F-4D97-AF65-F5344CB8AC3E}">
        <p14:creationId xmlns:p14="http://schemas.microsoft.com/office/powerpoint/2010/main" val="2309454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2AC4B2-517D-4E18-8CE3-202A5ED25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14E3449B-F166-42D8-80A7-7F5F396321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63BBBAB-492B-480A-98C5-CFCA61501266}"/>
              </a:ext>
            </a:extLst>
          </p:cNvPr>
          <p:cNvSpPr txBox="1"/>
          <p:nvPr/>
        </p:nvSpPr>
        <p:spPr>
          <a:xfrm>
            <a:off x="1351547" y="200525"/>
            <a:ext cx="9488906" cy="769441"/>
          </a:xfrm>
          <a:prstGeom prst="rect">
            <a:avLst/>
          </a:prstGeom>
          <a:noFill/>
        </p:spPr>
        <p:txBody>
          <a:bodyPr wrap="square" rtlCol="0">
            <a:spAutoFit/>
          </a:bodyPr>
          <a:lstStyle/>
          <a:p>
            <a:pPr algn="ctr"/>
            <a:r>
              <a:rPr lang="en-NZ" sz="4400" b="1" dirty="0" err="1">
                <a:latin typeface="+mj-lt"/>
              </a:rPr>
              <a:t>Maori</a:t>
            </a:r>
            <a:r>
              <a:rPr lang="en-NZ" sz="4400" b="1" dirty="0">
                <a:latin typeface="+mj-lt"/>
              </a:rPr>
              <a:t> Applied to a project: Examples</a:t>
            </a:r>
          </a:p>
        </p:txBody>
      </p:sp>
      <p:sp>
        <p:nvSpPr>
          <p:cNvPr id="2" name="TextBox 1">
            <a:extLst>
              <a:ext uri="{FF2B5EF4-FFF2-40B4-BE49-F238E27FC236}">
                <a16:creationId xmlns:a16="http://schemas.microsoft.com/office/drawing/2014/main" id="{09A59487-FAE0-4331-8DFE-1C09A4828F59}"/>
              </a:ext>
            </a:extLst>
          </p:cNvPr>
          <p:cNvSpPr txBox="1"/>
          <p:nvPr/>
        </p:nvSpPr>
        <p:spPr>
          <a:xfrm>
            <a:off x="1118937" y="1170491"/>
            <a:ext cx="9721516" cy="5262979"/>
          </a:xfrm>
          <a:prstGeom prst="rect">
            <a:avLst/>
          </a:prstGeom>
          <a:noFill/>
        </p:spPr>
        <p:txBody>
          <a:bodyPr wrap="square" rtlCol="0">
            <a:spAutoFit/>
          </a:bodyPr>
          <a:lstStyle/>
          <a:p>
            <a:pPr marL="285750" indent="-285750">
              <a:buFont typeface="Arial" panose="020B0604020202020204" pitchFamily="34" charset="0"/>
              <a:buChar char="•"/>
            </a:pPr>
            <a:r>
              <a:rPr lang="en-NZ" sz="2400" dirty="0"/>
              <a:t>A phased approach to a roof top café</a:t>
            </a:r>
          </a:p>
          <a:p>
            <a:pPr marL="285750" indent="-285750">
              <a:buFont typeface="Arial" panose="020B0604020202020204" pitchFamily="34" charset="0"/>
              <a:buChar char="•"/>
            </a:pPr>
            <a:r>
              <a:rPr lang="en-NZ" sz="2400" dirty="0"/>
              <a:t>Project Initiation: where the project objective is set with the sponsors, which is the additional floor above level eight for a rooftop café with fully functional kitchen and bar with outdoor garden ambience as the implementation of Maori </a:t>
            </a:r>
            <a:r>
              <a:rPr lang="en-NZ" sz="2400" dirty="0" err="1"/>
              <a:t>Kitanga</a:t>
            </a:r>
            <a:r>
              <a:rPr lang="en-NZ" sz="2400" dirty="0"/>
              <a:t> of Kaitiakitanga or guardian of nature conservation. </a:t>
            </a:r>
          </a:p>
          <a:p>
            <a:pPr marL="285750" indent="-285750">
              <a:buFont typeface="Arial" panose="020B0604020202020204" pitchFamily="34" charset="0"/>
              <a:buChar char="•"/>
            </a:pPr>
            <a:r>
              <a:rPr lang="en-NZ" sz="2400" dirty="0"/>
              <a:t>Project Planning: Since the interior incorporates Maori artworks, the need to consult each artwork to the </a:t>
            </a:r>
            <a:r>
              <a:rPr lang="en-NZ" sz="2400" dirty="0" err="1"/>
              <a:t>Hapus</a:t>
            </a:r>
            <a:r>
              <a:rPr lang="en-NZ" sz="2400" dirty="0"/>
              <a:t> inside the Iwi is considered critical and requires approval from the </a:t>
            </a:r>
            <a:r>
              <a:rPr lang="en-NZ" sz="2400" dirty="0" err="1"/>
              <a:t>hapus</a:t>
            </a:r>
            <a:r>
              <a:rPr lang="en-NZ" sz="2400" dirty="0"/>
              <a:t>.</a:t>
            </a:r>
          </a:p>
          <a:p>
            <a:pPr marL="285750" indent="-285750">
              <a:buFont typeface="Arial" panose="020B0604020202020204" pitchFamily="34" charset="0"/>
              <a:buChar char="•"/>
            </a:pPr>
            <a:r>
              <a:rPr lang="en-NZ" sz="2400" dirty="0"/>
              <a:t>Project Execution: Critical path methodology is implemented in planning using the Maori principle </a:t>
            </a:r>
            <a:r>
              <a:rPr lang="en-NZ" sz="2400" dirty="0" err="1"/>
              <a:t>Manakitanga</a:t>
            </a:r>
            <a:r>
              <a:rPr lang="en-NZ" sz="2400" dirty="0"/>
              <a:t> to include participation and collaboration amongst all parties. </a:t>
            </a:r>
          </a:p>
          <a:p>
            <a:pPr marL="285750" indent="-285750">
              <a:buFont typeface="Arial" panose="020B0604020202020204" pitchFamily="34" charset="0"/>
              <a:buChar char="•"/>
            </a:pPr>
            <a:r>
              <a:rPr lang="en-NZ" sz="2400" dirty="0"/>
              <a:t>Project Closure: Rangatiratanga will be observed when closing the project, and only those authorised to sign off the final project will do so. </a:t>
            </a:r>
          </a:p>
        </p:txBody>
      </p:sp>
    </p:spTree>
    <p:extLst>
      <p:ext uri="{BB962C8B-B14F-4D97-AF65-F5344CB8AC3E}">
        <p14:creationId xmlns:p14="http://schemas.microsoft.com/office/powerpoint/2010/main" val="4095288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C8B817-7D27-4576-B511-5BBB8D05F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8B139375-3577-4F79-8370-F54D66A956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6A0C1414-8379-41CF-B66E-1E06F4E40094}"/>
              </a:ext>
            </a:extLst>
          </p:cNvPr>
          <p:cNvPicPr>
            <a:picLocks noChangeAspect="1"/>
          </p:cNvPicPr>
          <p:nvPr/>
        </p:nvPicPr>
        <p:blipFill>
          <a:blip r:embed="rId5"/>
          <a:stretch>
            <a:fillRect/>
          </a:stretch>
        </p:blipFill>
        <p:spPr>
          <a:xfrm>
            <a:off x="453663" y="925888"/>
            <a:ext cx="10076077" cy="5688547"/>
          </a:xfrm>
          <a:prstGeom prst="rect">
            <a:avLst/>
          </a:prstGeom>
        </p:spPr>
      </p:pic>
      <p:sp>
        <p:nvSpPr>
          <p:cNvPr id="3" name="TextBox 2">
            <a:extLst>
              <a:ext uri="{FF2B5EF4-FFF2-40B4-BE49-F238E27FC236}">
                <a16:creationId xmlns:a16="http://schemas.microsoft.com/office/drawing/2014/main" id="{627F0815-7A50-ECB9-4349-38CAA7A43AE4}"/>
              </a:ext>
            </a:extLst>
          </p:cNvPr>
          <p:cNvSpPr txBox="1"/>
          <p:nvPr/>
        </p:nvSpPr>
        <p:spPr>
          <a:xfrm>
            <a:off x="1351547" y="200525"/>
            <a:ext cx="9488906" cy="769441"/>
          </a:xfrm>
          <a:prstGeom prst="rect">
            <a:avLst/>
          </a:prstGeom>
          <a:noFill/>
        </p:spPr>
        <p:txBody>
          <a:bodyPr wrap="square" rtlCol="0">
            <a:spAutoFit/>
          </a:bodyPr>
          <a:lstStyle/>
          <a:p>
            <a:pPr algn="ctr"/>
            <a:r>
              <a:rPr lang="en-NZ" sz="4400" b="1" dirty="0" err="1">
                <a:latin typeface="+mj-lt"/>
              </a:rPr>
              <a:t>Maori</a:t>
            </a:r>
            <a:r>
              <a:rPr lang="en-NZ" sz="4400" b="1" dirty="0">
                <a:latin typeface="+mj-lt"/>
              </a:rPr>
              <a:t> Applied to a project: Examples</a:t>
            </a:r>
          </a:p>
        </p:txBody>
      </p:sp>
    </p:spTree>
    <p:extLst>
      <p:ext uri="{BB962C8B-B14F-4D97-AF65-F5344CB8AC3E}">
        <p14:creationId xmlns:p14="http://schemas.microsoft.com/office/powerpoint/2010/main" val="451427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9C6032-034C-40F9-8AAD-A83E79250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01619812-0E43-4E62-8002-FA647B971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B3AD3988-E6CD-418C-BD6C-769491D03EB3}"/>
              </a:ext>
            </a:extLst>
          </p:cNvPr>
          <p:cNvSpPr txBox="1"/>
          <p:nvPr/>
        </p:nvSpPr>
        <p:spPr>
          <a:xfrm>
            <a:off x="3228473" y="184484"/>
            <a:ext cx="5735053" cy="1446550"/>
          </a:xfrm>
          <a:prstGeom prst="rect">
            <a:avLst/>
          </a:prstGeom>
          <a:noFill/>
        </p:spPr>
        <p:txBody>
          <a:bodyPr wrap="square" rtlCol="0">
            <a:spAutoFit/>
          </a:bodyPr>
          <a:lstStyle/>
          <a:p>
            <a:pPr algn="ctr"/>
            <a:r>
              <a:rPr lang="en-NZ" sz="4400" b="1" dirty="0">
                <a:latin typeface="+mj-lt"/>
              </a:rPr>
              <a:t>Types of Costs in a project</a:t>
            </a:r>
          </a:p>
        </p:txBody>
      </p:sp>
      <p:sp>
        <p:nvSpPr>
          <p:cNvPr id="2" name="TextBox 1">
            <a:extLst>
              <a:ext uri="{FF2B5EF4-FFF2-40B4-BE49-F238E27FC236}">
                <a16:creationId xmlns:a16="http://schemas.microsoft.com/office/drawing/2014/main" id="{37B46921-F363-4267-87C9-057F7DBE89EF}"/>
              </a:ext>
            </a:extLst>
          </p:cNvPr>
          <p:cNvSpPr txBox="1"/>
          <p:nvPr/>
        </p:nvSpPr>
        <p:spPr>
          <a:xfrm>
            <a:off x="1475709" y="1291554"/>
            <a:ext cx="10242885" cy="3816429"/>
          </a:xfrm>
          <a:prstGeom prst="rect">
            <a:avLst/>
          </a:prstGeom>
          <a:noFill/>
        </p:spPr>
        <p:txBody>
          <a:bodyPr wrap="square" rtlCol="0">
            <a:spAutoFit/>
          </a:bodyPr>
          <a:lstStyle/>
          <a:p>
            <a:r>
              <a:rPr lang="en-NZ" sz="2800" b="1" dirty="0"/>
              <a:t>Direct Costs: </a:t>
            </a:r>
            <a:r>
              <a:rPr lang="en-NZ" sz="2800" dirty="0"/>
              <a:t>Costs that are clearly changeable to a specific work package (labour, materials, equipment and other)</a:t>
            </a:r>
          </a:p>
          <a:p>
            <a:r>
              <a:rPr lang="en-NZ" sz="2800" b="1" dirty="0"/>
              <a:t>Direct (Project) Overhead Costs: </a:t>
            </a:r>
            <a:r>
              <a:rPr lang="en-NZ" sz="2800" dirty="0"/>
              <a:t>Costs incurred that are directly tied to an identifiable project deliverable or work package (Salary, rents, supplies, specialised machinery)</a:t>
            </a:r>
          </a:p>
          <a:p>
            <a:r>
              <a:rPr lang="en-NZ" sz="2800" b="1" dirty="0"/>
              <a:t>General and Administrative Overhead Costs: </a:t>
            </a:r>
            <a:r>
              <a:rPr lang="en-NZ" sz="2800" dirty="0"/>
              <a:t>Organisation costs indirectly linked to a specific package that are apportioned to the project</a:t>
            </a:r>
            <a:endParaRPr lang="en-NZ" sz="2800" b="1" dirty="0"/>
          </a:p>
          <a:p>
            <a:endParaRPr lang="en-NZ" b="1" dirty="0"/>
          </a:p>
        </p:txBody>
      </p:sp>
    </p:spTree>
    <p:extLst>
      <p:ext uri="{BB962C8B-B14F-4D97-AF65-F5344CB8AC3E}">
        <p14:creationId xmlns:p14="http://schemas.microsoft.com/office/powerpoint/2010/main" val="180889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pPr eaLnBrk="1" hangingPunct="1"/>
            <a:r>
              <a:rPr lang="en-NZ" sz="3600" b="1" dirty="0"/>
              <a:t>Types of control for a project: EV and basic PM questions</a:t>
            </a:r>
            <a:endParaRPr lang="en-GB" sz="3600" b="1" dirty="0"/>
          </a:p>
        </p:txBody>
      </p:sp>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1517651"/>
            <a:ext cx="8362950"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5"/>
          <p:cNvSpPr>
            <a:spLocks noChangeArrowheads="1"/>
          </p:cNvSpPr>
          <p:nvPr/>
        </p:nvSpPr>
        <p:spPr bwMode="auto">
          <a:xfrm>
            <a:off x="1524000" y="6629400"/>
            <a:ext cx="1905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p>
            <a:pPr algn="ctr"/>
            <a:r>
              <a:rPr lang="en-NZ" sz="1200"/>
              <a:t>@PMBOK, 2000</a:t>
            </a:r>
            <a:endParaRPr lang="en-GB" sz="1200"/>
          </a:p>
        </p:txBody>
      </p:sp>
    </p:spTree>
    <p:extLst>
      <p:ext uri="{BB962C8B-B14F-4D97-AF65-F5344CB8AC3E}">
        <p14:creationId xmlns:p14="http://schemas.microsoft.com/office/powerpoint/2010/main" val="5275072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E8F88E-ED2B-47D6-A218-85389DF57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74C76520-90D3-4278-8CFF-7D8FB98E0D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B38E74B-772A-460B-AD40-430BFFA3D231}"/>
              </a:ext>
            </a:extLst>
          </p:cNvPr>
          <p:cNvSpPr txBox="1"/>
          <p:nvPr/>
        </p:nvSpPr>
        <p:spPr>
          <a:xfrm>
            <a:off x="2414337" y="176463"/>
            <a:ext cx="7363326" cy="769441"/>
          </a:xfrm>
          <a:prstGeom prst="rect">
            <a:avLst/>
          </a:prstGeom>
          <a:noFill/>
        </p:spPr>
        <p:txBody>
          <a:bodyPr wrap="square" rtlCol="0">
            <a:spAutoFit/>
          </a:bodyPr>
          <a:lstStyle/>
          <a:p>
            <a:pPr algn="ctr"/>
            <a:r>
              <a:rPr lang="en-NZ" sz="4400" b="1" dirty="0">
                <a:latin typeface="+mj-lt"/>
              </a:rPr>
              <a:t>Project Organization Examples</a:t>
            </a:r>
          </a:p>
        </p:txBody>
      </p:sp>
      <p:pic>
        <p:nvPicPr>
          <p:cNvPr id="11" name="Picture 6">
            <a:extLst>
              <a:ext uri="{FF2B5EF4-FFF2-40B4-BE49-F238E27FC236}">
                <a16:creationId xmlns:a16="http://schemas.microsoft.com/office/drawing/2014/main" id="{8B1F4004-84A1-4423-AAA0-7C97501126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2563" y="1692067"/>
            <a:ext cx="6402936" cy="347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1">
            <a:extLst>
              <a:ext uri="{FF2B5EF4-FFF2-40B4-BE49-F238E27FC236}">
                <a16:creationId xmlns:a16="http://schemas.microsoft.com/office/drawing/2014/main" id="{93EC89D9-C1AB-45F9-B742-2D002820EEAE}"/>
              </a:ext>
            </a:extLst>
          </p:cNvPr>
          <p:cNvPicPr>
            <a:picLocks noChangeAspect="1"/>
          </p:cNvPicPr>
          <p:nvPr/>
        </p:nvPicPr>
        <p:blipFill rotWithShape="1">
          <a:blip r:embed="rId6"/>
          <a:srcRect l="754" r="1989" b="1390"/>
          <a:stretch/>
        </p:blipFill>
        <p:spPr>
          <a:xfrm>
            <a:off x="649704" y="1055982"/>
            <a:ext cx="3946359" cy="5691939"/>
          </a:xfrm>
          <a:prstGeom prst="rect">
            <a:avLst/>
          </a:prstGeom>
        </p:spPr>
      </p:pic>
    </p:spTree>
    <p:extLst>
      <p:ext uri="{BB962C8B-B14F-4D97-AF65-F5344CB8AC3E}">
        <p14:creationId xmlns:p14="http://schemas.microsoft.com/office/powerpoint/2010/main" val="783518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E8F88E-ED2B-47D6-A218-85389DF576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74C76520-90D3-4278-8CFF-7D8FB98E0D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B38E74B-772A-460B-AD40-430BFFA3D231}"/>
              </a:ext>
            </a:extLst>
          </p:cNvPr>
          <p:cNvSpPr txBox="1"/>
          <p:nvPr/>
        </p:nvSpPr>
        <p:spPr>
          <a:xfrm>
            <a:off x="2414337" y="176463"/>
            <a:ext cx="7363326" cy="769441"/>
          </a:xfrm>
          <a:prstGeom prst="rect">
            <a:avLst/>
          </a:prstGeom>
          <a:noFill/>
        </p:spPr>
        <p:txBody>
          <a:bodyPr wrap="square" rtlCol="0">
            <a:spAutoFit/>
          </a:bodyPr>
          <a:lstStyle/>
          <a:p>
            <a:pPr algn="ctr"/>
            <a:r>
              <a:rPr lang="en-NZ" sz="4400" b="1" dirty="0">
                <a:latin typeface="+mj-lt"/>
              </a:rPr>
              <a:t>Communication plan Example</a:t>
            </a:r>
          </a:p>
        </p:txBody>
      </p:sp>
      <p:pic>
        <p:nvPicPr>
          <p:cNvPr id="2" name="Picture 1">
            <a:extLst>
              <a:ext uri="{FF2B5EF4-FFF2-40B4-BE49-F238E27FC236}">
                <a16:creationId xmlns:a16="http://schemas.microsoft.com/office/drawing/2014/main" id="{E02FEDED-B892-E7D5-828F-D5ED0A645A8E}"/>
              </a:ext>
            </a:extLst>
          </p:cNvPr>
          <p:cNvPicPr>
            <a:picLocks noChangeAspect="1"/>
          </p:cNvPicPr>
          <p:nvPr/>
        </p:nvPicPr>
        <p:blipFill>
          <a:blip r:embed="rId5"/>
          <a:stretch>
            <a:fillRect/>
          </a:stretch>
        </p:blipFill>
        <p:spPr>
          <a:xfrm>
            <a:off x="0" y="1930259"/>
            <a:ext cx="12192000" cy="2997481"/>
          </a:xfrm>
          <a:prstGeom prst="rect">
            <a:avLst/>
          </a:prstGeom>
        </p:spPr>
      </p:pic>
    </p:spTree>
    <p:extLst>
      <p:ext uri="{BB962C8B-B14F-4D97-AF65-F5344CB8AC3E}">
        <p14:creationId xmlns:p14="http://schemas.microsoft.com/office/powerpoint/2010/main" val="226939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DD7FF6-3BD7-4DB9-9222-20B22EF8FB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1F75EC2E-F931-4FA2-A993-44CA629EE3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FC580FD-A2FA-4917-933C-A6410D176DC6}"/>
              </a:ext>
            </a:extLst>
          </p:cNvPr>
          <p:cNvSpPr txBox="1"/>
          <p:nvPr/>
        </p:nvSpPr>
        <p:spPr>
          <a:xfrm>
            <a:off x="1299411" y="144379"/>
            <a:ext cx="9208168" cy="769441"/>
          </a:xfrm>
          <a:prstGeom prst="rect">
            <a:avLst/>
          </a:prstGeom>
          <a:noFill/>
        </p:spPr>
        <p:txBody>
          <a:bodyPr wrap="square" rtlCol="0">
            <a:spAutoFit/>
          </a:bodyPr>
          <a:lstStyle/>
          <a:p>
            <a:pPr algn="ctr"/>
            <a:r>
              <a:rPr lang="en-NZ" sz="4400" b="1" dirty="0">
                <a:latin typeface="+mj-lt"/>
              </a:rPr>
              <a:t>Risk severity matrix</a:t>
            </a:r>
          </a:p>
        </p:txBody>
      </p:sp>
      <p:pic>
        <p:nvPicPr>
          <p:cNvPr id="6" name="Picture 5">
            <a:extLst>
              <a:ext uri="{FF2B5EF4-FFF2-40B4-BE49-F238E27FC236}">
                <a16:creationId xmlns:a16="http://schemas.microsoft.com/office/drawing/2014/main" id="{513954D9-A0DB-4B21-A225-2A6BCF8179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37000" y="1387682"/>
            <a:ext cx="7791448" cy="4849630"/>
          </a:xfrm>
          <a:prstGeom prst="rect">
            <a:avLst/>
          </a:prstGeom>
        </p:spPr>
      </p:pic>
    </p:spTree>
    <p:extLst>
      <p:ext uri="{BB962C8B-B14F-4D97-AF65-F5344CB8AC3E}">
        <p14:creationId xmlns:p14="http://schemas.microsoft.com/office/powerpoint/2010/main" val="663653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41372C-A86E-4A86-80E7-FAEE7B870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20776CC0-00E4-4816-B732-ADDCE0626F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BFDA3C9D-3BC7-42D7-BCF2-6D7DF157FEB8}"/>
              </a:ext>
            </a:extLst>
          </p:cNvPr>
          <p:cNvSpPr txBox="1"/>
          <p:nvPr/>
        </p:nvSpPr>
        <p:spPr>
          <a:xfrm>
            <a:off x="589547" y="176462"/>
            <a:ext cx="11012905" cy="769441"/>
          </a:xfrm>
          <a:prstGeom prst="rect">
            <a:avLst/>
          </a:prstGeom>
          <a:noFill/>
        </p:spPr>
        <p:txBody>
          <a:bodyPr wrap="square" rtlCol="0">
            <a:spAutoFit/>
          </a:bodyPr>
          <a:lstStyle/>
          <a:p>
            <a:pPr algn="ctr"/>
            <a:r>
              <a:rPr lang="en-NZ" sz="4400" b="1" dirty="0">
                <a:latin typeface="+mj-lt"/>
              </a:rPr>
              <a:t>Risk assessment</a:t>
            </a:r>
          </a:p>
        </p:txBody>
      </p:sp>
      <p:pic>
        <p:nvPicPr>
          <p:cNvPr id="6" name="Picture 4">
            <a:extLst>
              <a:ext uri="{FF2B5EF4-FFF2-40B4-BE49-F238E27FC236}">
                <a16:creationId xmlns:a16="http://schemas.microsoft.com/office/drawing/2014/main" id="{77F45164-6822-48FA-A7E6-59A0887572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1" y="1752601"/>
            <a:ext cx="7312025"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a:extLst>
              <a:ext uri="{FF2B5EF4-FFF2-40B4-BE49-F238E27FC236}">
                <a16:creationId xmlns:a16="http://schemas.microsoft.com/office/drawing/2014/main" id="{86860398-91DA-47F5-B79C-4886A3CFC0C6}"/>
              </a:ext>
            </a:extLst>
          </p:cNvPr>
          <p:cNvSpPr>
            <a:spLocks noChangeArrowheads="1"/>
          </p:cNvSpPr>
          <p:nvPr/>
        </p:nvSpPr>
        <p:spPr bwMode="auto">
          <a:xfrm>
            <a:off x="2438400" y="5075239"/>
            <a:ext cx="73596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20000"/>
              </a:spcBef>
            </a:pPr>
            <a:r>
              <a:rPr lang="en-US" sz="2400" b="1" dirty="0"/>
              <a:t>Failure Mode and Effects Analysis (FMEA)</a:t>
            </a:r>
            <a:br>
              <a:rPr lang="en-US" sz="2400" b="1" dirty="0"/>
            </a:br>
            <a:r>
              <a:rPr lang="en-US" sz="2400" dirty="0"/>
              <a:t>Impact × Probability × Detection = Risk Value</a:t>
            </a:r>
          </a:p>
        </p:txBody>
      </p:sp>
    </p:spTree>
    <p:extLst>
      <p:ext uri="{BB962C8B-B14F-4D97-AF65-F5344CB8AC3E}">
        <p14:creationId xmlns:p14="http://schemas.microsoft.com/office/powerpoint/2010/main" val="2765466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32712A-47C1-45A1-8F76-28FF68A17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99987DF1-2A2C-4659-8C63-74706CD96C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Content Placeholder 8">
            <a:extLst>
              <a:ext uri="{FF2B5EF4-FFF2-40B4-BE49-F238E27FC236}">
                <a16:creationId xmlns:a16="http://schemas.microsoft.com/office/drawing/2014/main" id="{75913284-1585-4BD7-ADAF-E38F7340C49A}"/>
              </a:ext>
            </a:extLst>
          </p:cNvPr>
          <p:cNvPicPr>
            <a:picLocks noGrp="1" noChangeAspect="1"/>
          </p:cNvPicPr>
          <p:nvPr>
            <p:ph idx="1"/>
          </p:nvPr>
        </p:nvPicPr>
        <p:blipFill>
          <a:blip r:embed="rId7"/>
          <a:stretch>
            <a:fillRect/>
          </a:stretch>
        </p:blipFill>
        <p:spPr>
          <a:xfrm>
            <a:off x="1009122" y="1692621"/>
            <a:ext cx="10473013" cy="4351338"/>
          </a:xfrm>
          <a:prstGeom prst="rect">
            <a:avLst/>
          </a:prstGeom>
        </p:spPr>
      </p:pic>
      <p:pic>
        <p:nvPicPr>
          <p:cNvPr id="10" name="Picture 9">
            <a:extLst>
              <a:ext uri="{FF2B5EF4-FFF2-40B4-BE49-F238E27FC236}">
                <a16:creationId xmlns:a16="http://schemas.microsoft.com/office/drawing/2014/main" id="{81BF5912-3465-43A5-B566-CEA0299F777E}"/>
              </a:ext>
            </a:extLst>
          </p:cNvPr>
          <p:cNvPicPr>
            <a:picLocks noChangeAspect="1"/>
          </p:cNvPicPr>
          <p:nvPr/>
        </p:nvPicPr>
        <p:blipFill>
          <a:blip r:embed="rId8"/>
          <a:stretch>
            <a:fillRect/>
          </a:stretch>
        </p:blipFill>
        <p:spPr>
          <a:xfrm>
            <a:off x="1009122" y="-125304"/>
            <a:ext cx="10766469" cy="1322947"/>
          </a:xfrm>
          <a:prstGeom prst="rect">
            <a:avLst/>
          </a:prstGeom>
        </p:spPr>
      </p:pic>
      <p:pic>
        <p:nvPicPr>
          <p:cNvPr id="4" name="Audio 3">
            <a:hlinkClick r:id="" action="ppaction://media"/>
            <a:extLst>
              <a:ext uri="{FF2B5EF4-FFF2-40B4-BE49-F238E27FC236}">
                <a16:creationId xmlns:a16="http://schemas.microsoft.com/office/drawing/2014/main" id="{43215BC0-8272-4C65-8FDC-06207F18DAD5}"/>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488738" y="6154738"/>
            <a:ext cx="487362" cy="487362"/>
          </a:xfrm>
          <a:prstGeom prst="rect">
            <a:avLst/>
          </a:prstGeom>
        </p:spPr>
      </p:pic>
    </p:spTree>
    <p:extLst>
      <p:ext uri="{BB962C8B-B14F-4D97-AF65-F5344CB8AC3E}">
        <p14:creationId xmlns:p14="http://schemas.microsoft.com/office/powerpoint/2010/main" val="3779595913"/>
      </p:ext>
    </p:extLst>
  </p:cSld>
  <p:clrMapOvr>
    <a:masterClrMapping/>
  </p:clrMapOvr>
  <mc:AlternateContent xmlns:mc="http://schemas.openxmlformats.org/markup-compatibility/2006" xmlns:p14="http://schemas.microsoft.com/office/powerpoint/2010/main">
    <mc:Choice Requires="p14">
      <p:transition spd="slow" p14:dur="2000" advTm="68092"/>
    </mc:Choice>
    <mc:Fallback xmlns="">
      <p:transition spd="slow" advTm="680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55D095-534E-4C6E-B60B-08395939E5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F56E6052-2845-4DF8-BC9D-B238CE722A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CDEDC462-CDD6-4BA0-8E8B-6F33DEEFF4BB}"/>
              </a:ext>
            </a:extLst>
          </p:cNvPr>
          <p:cNvSpPr txBox="1"/>
          <p:nvPr/>
        </p:nvSpPr>
        <p:spPr>
          <a:xfrm>
            <a:off x="1091966" y="192947"/>
            <a:ext cx="10008067" cy="769441"/>
          </a:xfrm>
          <a:prstGeom prst="rect">
            <a:avLst/>
          </a:prstGeom>
          <a:noFill/>
        </p:spPr>
        <p:txBody>
          <a:bodyPr wrap="square" rtlCol="0">
            <a:spAutoFit/>
          </a:bodyPr>
          <a:lstStyle/>
          <a:p>
            <a:pPr algn="ctr"/>
            <a:r>
              <a:rPr lang="en-US" sz="4400" b="1" dirty="0">
                <a:latin typeface="+mj-lt"/>
              </a:rPr>
              <a:t>Sample Change control form</a:t>
            </a:r>
          </a:p>
        </p:txBody>
      </p:sp>
      <p:pic>
        <p:nvPicPr>
          <p:cNvPr id="6" name="Picture 5" descr="âchange request formâçå¾çæç´¢ç»æ">
            <a:extLst>
              <a:ext uri="{FF2B5EF4-FFF2-40B4-BE49-F238E27FC236}">
                <a16:creationId xmlns:a16="http://schemas.microsoft.com/office/drawing/2014/main" id="{DC7CA91A-F6D6-4A35-ABDE-143E4AA8ABA9}"/>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3379535" y="835660"/>
            <a:ext cx="5731510" cy="6022340"/>
          </a:xfrm>
          <a:prstGeom prst="rect">
            <a:avLst/>
          </a:prstGeom>
          <a:noFill/>
          <a:ln>
            <a:noFill/>
          </a:ln>
        </p:spPr>
      </p:pic>
    </p:spTree>
    <p:extLst>
      <p:ext uri="{BB962C8B-B14F-4D97-AF65-F5344CB8AC3E}">
        <p14:creationId xmlns:p14="http://schemas.microsoft.com/office/powerpoint/2010/main" val="2375642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a:xfrm>
            <a:off x="1672684" y="274638"/>
            <a:ext cx="8538118" cy="1143000"/>
          </a:xfrm>
        </p:spPr>
        <p:txBody>
          <a:bodyPr/>
          <a:lstStyle/>
          <a:p>
            <a:r>
              <a:rPr lang="en-NZ" sz="3600" dirty="0">
                <a:latin typeface="Arial" charset="0"/>
                <a:cs typeface="Arial" charset="0"/>
              </a:rPr>
              <a:t>Duties of the termination manager</a:t>
            </a:r>
          </a:p>
        </p:txBody>
      </p:sp>
      <p:sp>
        <p:nvSpPr>
          <p:cNvPr id="47106" name="Content Placeholder 2"/>
          <p:cNvSpPr>
            <a:spLocks noGrp="1"/>
          </p:cNvSpPr>
          <p:nvPr>
            <p:ph idx="1"/>
          </p:nvPr>
        </p:nvSpPr>
        <p:spPr>
          <a:xfrm>
            <a:off x="1672683" y="1417638"/>
            <a:ext cx="9344721" cy="5273094"/>
          </a:xfrm>
        </p:spPr>
        <p:txBody>
          <a:bodyPr>
            <a:normAutofit/>
          </a:bodyPr>
          <a:lstStyle/>
          <a:p>
            <a:r>
              <a:rPr lang="en-NZ" sz="2000" dirty="0">
                <a:latin typeface="Arial" charset="0"/>
                <a:cs typeface="Arial" charset="0"/>
              </a:rPr>
              <a:t>Ensure completion of the work, including tasks by subcontractors</a:t>
            </a:r>
          </a:p>
          <a:p>
            <a:r>
              <a:rPr lang="en-NZ" sz="2000" dirty="0">
                <a:latin typeface="Arial" charset="0"/>
                <a:cs typeface="Arial" charset="0"/>
              </a:rPr>
              <a:t>Notify the client of project completion and ensure delivery is accomplished. </a:t>
            </a:r>
          </a:p>
          <a:p>
            <a:r>
              <a:rPr lang="en-NZ" sz="2000" dirty="0">
                <a:latin typeface="Arial" charset="0"/>
                <a:cs typeface="Arial" charset="0"/>
              </a:rPr>
              <a:t>Gain acknowledgment by the client</a:t>
            </a:r>
          </a:p>
          <a:p>
            <a:r>
              <a:rPr lang="en-NZ" sz="2000" dirty="0">
                <a:latin typeface="Arial" charset="0"/>
                <a:cs typeface="Arial" charset="0"/>
              </a:rPr>
              <a:t>Ensure documentation is complete, prepare final report</a:t>
            </a:r>
          </a:p>
          <a:p>
            <a:r>
              <a:rPr lang="en-NZ" sz="2000" dirty="0">
                <a:latin typeface="Arial" charset="0"/>
                <a:cs typeface="Arial" charset="0"/>
              </a:rPr>
              <a:t>Clear final billings and send invoices to client</a:t>
            </a:r>
          </a:p>
          <a:p>
            <a:r>
              <a:rPr lang="en-NZ" sz="2000" dirty="0">
                <a:latin typeface="Arial" charset="0"/>
                <a:cs typeface="Arial" charset="0"/>
              </a:rPr>
              <a:t>Redistribute personnel, materials, equipment to appropriate places</a:t>
            </a:r>
          </a:p>
          <a:p>
            <a:r>
              <a:rPr lang="en-NZ" sz="2000" dirty="0">
                <a:latin typeface="Arial" charset="0"/>
                <a:cs typeface="Arial" charset="0"/>
              </a:rPr>
              <a:t>Clear project with legal counsel of consultant. Record and archive all documents</a:t>
            </a:r>
          </a:p>
          <a:p>
            <a:r>
              <a:rPr lang="en-NZ" sz="2000" dirty="0">
                <a:latin typeface="Arial" charset="0"/>
                <a:cs typeface="Arial" charset="0"/>
              </a:rPr>
              <a:t>Determine what records to keep, and store in the proper places</a:t>
            </a:r>
          </a:p>
          <a:p>
            <a:r>
              <a:rPr lang="en-NZ" sz="2000" dirty="0">
                <a:latin typeface="Arial" charset="0"/>
                <a:cs typeface="Arial" charset="0"/>
              </a:rPr>
              <a:t>Ascertain any product support requirements, decide how much support will be delivered, and assign ongoing responsibility</a:t>
            </a:r>
          </a:p>
          <a:p>
            <a:r>
              <a:rPr lang="en-NZ" sz="2000" dirty="0">
                <a:latin typeface="Arial" charset="0"/>
                <a:cs typeface="Arial" charset="0"/>
              </a:rPr>
              <a:t>Oversee the closing of the projects books</a:t>
            </a:r>
          </a:p>
          <a:p>
            <a:endParaRPr lang="en-NZ" sz="2000" dirty="0">
              <a:latin typeface="Arial" charset="0"/>
              <a:cs typeface="Arial" charset="0"/>
            </a:endParaRPr>
          </a:p>
        </p:txBody>
      </p:sp>
    </p:spTree>
    <p:extLst>
      <p:ext uri="{BB962C8B-B14F-4D97-AF65-F5344CB8AC3E}">
        <p14:creationId xmlns:p14="http://schemas.microsoft.com/office/powerpoint/2010/main" val="3931138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1B8D83-F6E0-4C03-B04C-E80A5EE3C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2D47611A-AA78-462B-A566-7628A5ED96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96D87DC8-E7F9-4DA0-B6A6-BCC040476500}"/>
              </a:ext>
            </a:extLst>
          </p:cNvPr>
          <p:cNvSpPr txBox="1"/>
          <p:nvPr/>
        </p:nvSpPr>
        <p:spPr>
          <a:xfrm>
            <a:off x="2290762" y="266700"/>
            <a:ext cx="7610475" cy="769441"/>
          </a:xfrm>
          <a:prstGeom prst="rect">
            <a:avLst/>
          </a:prstGeom>
          <a:noFill/>
        </p:spPr>
        <p:txBody>
          <a:bodyPr wrap="square" rtlCol="0">
            <a:spAutoFit/>
          </a:bodyPr>
          <a:lstStyle/>
          <a:p>
            <a:pPr algn="ctr"/>
            <a:r>
              <a:rPr lang="en-US" sz="4400" b="1" dirty="0">
                <a:latin typeface="+mj-lt"/>
              </a:rPr>
              <a:t>Gantt Chart:</a:t>
            </a:r>
          </a:p>
        </p:txBody>
      </p:sp>
      <p:pic>
        <p:nvPicPr>
          <p:cNvPr id="9" name="Picture 8">
            <a:extLst>
              <a:ext uri="{FF2B5EF4-FFF2-40B4-BE49-F238E27FC236}">
                <a16:creationId xmlns:a16="http://schemas.microsoft.com/office/drawing/2014/main" id="{AAD119F0-E40D-4F89-9C7D-478AAE55C9D7}"/>
              </a:ext>
            </a:extLst>
          </p:cNvPr>
          <p:cNvPicPr>
            <a:picLocks noChangeAspect="1"/>
          </p:cNvPicPr>
          <p:nvPr/>
        </p:nvPicPr>
        <p:blipFill>
          <a:blip r:embed="rId5"/>
          <a:stretch>
            <a:fillRect/>
          </a:stretch>
        </p:blipFill>
        <p:spPr>
          <a:xfrm>
            <a:off x="662470" y="959941"/>
            <a:ext cx="10867060" cy="5050334"/>
          </a:xfrm>
          <a:prstGeom prst="rect">
            <a:avLst/>
          </a:prstGeom>
        </p:spPr>
      </p:pic>
    </p:spTree>
    <p:extLst>
      <p:ext uri="{BB962C8B-B14F-4D97-AF65-F5344CB8AC3E}">
        <p14:creationId xmlns:p14="http://schemas.microsoft.com/office/powerpoint/2010/main" val="3118086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7E1FD0E-8754-4966-B50E-64A9188E9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21581CFA-612B-43E8-9BE4-FD2C743099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F51153AD-D5E4-4FB2-A29D-E5CEF2603A41}"/>
              </a:ext>
            </a:extLst>
          </p:cNvPr>
          <p:cNvSpPr txBox="1"/>
          <p:nvPr/>
        </p:nvSpPr>
        <p:spPr>
          <a:xfrm>
            <a:off x="0" y="447675"/>
            <a:ext cx="12191999" cy="461665"/>
          </a:xfrm>
          <a:prstGeom prst="rect">
            <a:avLst/>
          </a:prstGeom>
          <a:noFill/>
        </p:spPr>
        <p:txBody>
          <a:bodyPr wrap="square" rtlCol="0">
            <a:spAutoFit/>
          </a:bodyPr>
          <a:lstStyle/>
          <a:p>
            <a:pPr algn="ctr"/>
            <a:r>
              <a:rPr lang="en-US" sz="2400" dirty="0"/>
              <a:t>Work Breakdown Structure Example PERT style (Performance evaluation and review technique)</a:t>
            </a:r>
          </a:p>
        </p:txBody>
      </p:sp>
      <p:sp>
        <p:nvSpPr>
          <p:cNvPr id="15" name="object 3">
            <a:extLst>
              <a:ext uri="{FF2B5EF4-FFF2-40B4-BE49-F238E27FC236}">
                <a16:creationId xmlns:a16="http://schemas.microsoft.com/office/drawing/2014/main" id="{D8B46F97-0BA8-4C10-8D61-40A0F6C7538E}"/>
              </a:ext>
            </a:extLst>
          </p:cNvPr>
          <p:cNvSpPr/>
          <p:nvPr/>
        </p:nvSpPr>
        <p:spPr>
          <a:xfrm>
            <a:off x="2416301" y="1123896"/>
            <a:ext cx="7359396" cy="5519547"/>
          </a:xfrm>
          <a:prstGeom prst="rect">
            <a:avLst/>
          </a:prstGeom>
          <a:blipFill>
            <a:blip r:embed="rId5" cstate="print"/>
            <a:stretch>
              <a:fillRect/>
            </a:stretch>
          </a:blip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Tree>
    <p:extLst>
      <p:ext uri="{BB962C8B-B14F-4D97-AF65-F5344CB8AC3E}">
        <p14:creationId xmlns:p14="http://schemas.microsoft.com/office/powerpoint/2010/main" val="2021362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4673</Words>
  <Application>Microsoft Office PowerPoint</Application>
  <PresentationFormat>Widescreen</PresentationFormat>
  <Paragraphs>263</Paragraphs>
  <Slides>25</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Wingdings</vt:lpstr>
      <vt:lpstr>Office Theme</vt:lpstr>
      <vt:lpstr>An overview of project practice from the slides to guide the second assessment.</vt:lpstr>
      <vt:lpstr>Academic practice applied to a project: An example</vt:lpstr>
      <vt:lpstr>PowerPoint Presentation</vt:lpstr>
      <vt:lpstr>PowerPoint Presentation</vt:lpstr>
      <vt:lpstr>PowerPoint Presentation</vt:lpstr>
      <vt:lpstr>PowerPoint Presentation</vt:lpstr>
      <vt:lpstr>PowerPoint Presentation</vt:lpstr>
      <vt:lpstr>PowerPoint Presentation</vt:lpstr>
      <vt:lpstr>Methodology Applied to a project: Examples</vt:lpstr>
      <vt:lpstr>Methodology Applied to a project: Examples</vt:lpstr>
      <vt:lpstr>Methodology Applied to a project: Examples</vt:lpstr>
      <vt:lpstr>PowerPoint Presentation</vt:lpstr>
      <vt:lpstr>PowerPoint Presentation</vt:lpstr>
      <vt:lpstr>PowerPoint Presentation</vt:lpstr>
      <vt:lpstr>PowerPoint Presentation</vt:lpstr>
      <vt:lpstr>Types of control for a project: EV and basic PM questions</vt:lpstr>
      <vt:lpstr>PowerPoint Presentation</vt:lpstr>
      <vt:lpstr>PowerPoint Presentation</vt:lpstr>
      <vt:lpstr>PowerPoint Presentation</vt:lpstr>
      <vt:lpstr>PowerPoint Presentation</vt:lpstr>
      <vt:lpstr>PowerPoint Presentation</vt:lpstr>
      <vt:lpstr>PowerPoint Presentation</vt:lpstr>
      <vt:lpstr>Duties of the termination manager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Lorraine Skelton</dc:creator>
  <cp:lastModifiedBy>Lorraine Skelton</cp:lastModifiedBy>
  <cp:revision>5</cp:revision>
  <dcterms:created xsi:type="dcterms:W3CDTF">2023-03-21T00:41:25Z</dcterms:created>
  <dcterms:modified xsi:type="dcterms:W3CDTF">2023-03-21T01:03:56Z</dcterms:modified>
</cp:coreProperties>
</file>